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5143500" cx="9144000"/>
  <p:notesSz cx="6858000" cy="9144000"/>
  <p:embeddedFontLst>
    <p:embeddedFont>
      <p:font typeface="Montserrat"/>
      <p:regular r:id="rId20"/>
      <p:bold r:id="rId21"/>
      <p:italic r:id="rId22"/>
      <p:boldItalic r:id="rId23"/>
    </p:embeddedFont>
    <p:embeddedFont>
      <p:font typeface="La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Montserrat-regular.fntdata"/><Relationship Id="rId22" Type="http://schemas.openxmlformats.org/officeDocument/2006/relationships/font" Target="fonts/Montserrat-italic.fntdata"/><Relationship Id="rId21" Type="http://schemas.openxmlformats.org/officeDocument/2006/relationships/font" Target="fonts/Montserrat-bold.fntdata"/><Relationship Id="rId24" Type="http://schemas.openxmlformats.org/officeDocument/2006/relationships/font" Target="fonts/Lato-regular.fntdata"/><Relationship Id="rId23" Type="http://schemas.openxmlformats.org/officeDocument/2006/relationships/font" Target="fonts/Montserrat-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Lato-italic.fntdata"/><Relationship Id="rId25" Type="http://schemas.openxmlformats.org/officeDocument/2006/relationships/font" Target="fonts/Lato-bold.fntdata"/><Relationship Id="rId27" Type="http://schemas.openxmlformats.org/officeDocument/2006/relationships/font" Target="fonts/Lato-boldItalic.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5" name="Google Shape;135;p1:notes"/>
          <p:cNvSpPr txBox="1"/>
          <p:nvPr>
            <p:ph idx="1" type="body"/>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br>
              <a:rPr b="0" i="0" lang="en" sz="1200" u="none" cap="none" strike="noStrike">
                <a:solidFill>
                  <a:schemeClr val="dk1"/>
                </a:solidFill>
                <a:latin typeface="Arial"/>
                <a:ea typeface="Arial"/>
                <a:cs typeface="Arial"/>
                <a:sym typeface="Arial"/>
              </a:rPr>
            </a:br>
            <a:r>
              <a:rPr b="0" i="0" lang="en" sz="1200" u="none" cap="none" strike="noStrike">
                <a:solidFill>
                  <a:schemeClr val="dk1"/>
                </a:solidFill>
                <a:latin typeface="Arial"/>
                <a:ea typeface="Arial"/>
                <a:cs typeface="Arial"/>
                <a:sym typeface="Arial"/>
              </a:rPr>
              <a:t>Today I</a:t>
            </a:r>
            <a:r>
              <a:rPr lang="en" sz="1200">
                <a:solidFill>
                  <a:schemeClr val="dk1"/>
                </a:solidFill>
              </a:rPr>
              <a:t>’m happy to present Automated</a:t>
            </a:r>
            <a:r>
              <a:rPr lang="en" sz="1200">
                <a:solidFill>
                  <a:schemeClr val="dk1"/>
                </a:solidFill>
              </a:rPr>
              <a:t> Customer Reviews</a:t>
            </a:r>
            <a:r>
              <a:rPr b="0" i="0" lang="en" sz="1200" u="none" cap="none" strike="noStrike">
                <a:solidFill>
                  <a:schemeClr val="dk1"/>
                </a:solidFill>
                <a:latin typeface="Arial"/>
                <a:ea typeface="Arial"/>
                <a:cs typeface="Arial"/>
                <a:sym typeface="Arial"/>
              </a:rPr>
              <a:t>, an AI-powered system that analyzes Amazon product reviews and generates </a:t>
            </a:r>
            <a:r>
              <a:rPr lang="en" sz="1200">
                <a:solidFill>
                  <a:schemeClr val="dk1"/>
                </a:solidFill>
              </a:rPr>
              <a:t>blogpost-like</a:t>
            </a:r>
            <a:r>
              <a:rPr b="0" i="0" lang="en" sz="1200" u="none" cap="none" strike="noStrike">
                <a:solidFill>
                  <a:schemeClr val="dk1"/>
                </a:solidFill>
                <a:latin typeface="Arial"/>
                <a:ea typeface="Arial"/>
                <a:cs typeface="Arial"/>
                <a:sym typeface="Arial"/>
              </a:rPr>
              <a:t> recommendations.</a:t>
            </a:r>
            <a:br>
              <a:rPr b="0" i="0" lang="en" sz="1200" u="none" cap="none" strike="noStrike">
                <a:solidFill>
                  <a:schemeClr val="dk1"/>
                </a:solidFill>
                <a:latin typeface="Arial"/>
                <a:ea typeface="Arial"/>
                <a:cs typeface="Arial"/>
                <a:sym typeface="Arial"/>
              </a:rPr>
            </a:br>
            <a:br>
              <a:rPr b="0" i="0" lang="en" sz="1200" u="none" cap="none" strike="noStrike">
                <a:solidFill>
                  <a:schemeClr val="dk1"/>
                </a:solidFill>
                <a:latin typeface="Arial"/>
                <a:ea typeface="Arial"/>
                <a:cs typeface="Arial"/>
                <a:sym typeface="Arial"/>
              </a:rPr>
            </a:br>
            <a:r>
              <a:rPr b="0" i="0" lang="en" sz="1200" u="none" cap="none" strike="noStrike">
                <a:solidFill>
                  <a:schemeClr val="dk1"/>
                </a:solidFill>
                <a:latin typeface="Arial"/>
                <a:ea typeface="Arial"/>
                <a:cs typeface="Arial"/>
                <a:sym typeface="Arial"/>
              </a:rPr>
              <a:t>This project tackles three NLP challenges: </a:t>
            </a:r>
            <a:endParaRPr b="0" i="0" sz="1200" u="none" cap="none" strike="noStrike">
              <a:solidFill>
                <a:schemeClr val="dk1"/>
              </a:solidFill>
              <a:latin typeface="Arial"/>
              <a:ea typeface="Arial"/>
              <a:cs typeface="Arial"/>
              <a:sym typeface="Arial"/>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sentiment classification</a:t>
            </a:r>
            <a:endParaRPr sz="1200">
              <a:solidFill>
                <a:schemeClr val="dk1"/>
              </a:solidFill>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product clustering </a:t>
            </a:r>
            <a:endParaRPr b="0" i="0" sz="1200" u="none" cap="none" strike="noStrike">
              <a:solidFill>
                <a:schemeClr val="dk1"/>
              </a:solidFill>
              <a:latin typeface="Arial"/>
              <a:ea typeface="Arial"/>
              <a:cs typeface="Arial"/>
              <a:sym typeface="Arial"/>
            </a:endParaRPr>
          </a:p>
          <a:p>
            <a:pPr indent="-304800" lvl="0" marL="457200" marR="0" rtl="0" algn="l">
              <a:lnSpc>
                <a:spcPct val="100000"/>
              </a:lnSpc>
              <a:spcBef>
                <a:spcPts val="0"/>
              </a:spcBef>
              <a:spcAft>
                <a:spcPts val="0"/>
              </a:spcAft>
              <a:buClr>
                <a:schemeClr val="dk1"/>
              </a:buClr>
              <a:buSzPts val="1200"/>
              <a:buFont typeface="Arial"/>
              <a:buChar char="-"/>
            </a:pPr>
            <a:r>
              <a:rPr b="0" i="0" lang="en" sz="1200" u="none" cap="none" strike="noStrike">
                <a:solidFill>
                  <a:schemeClr val="dk1"/>
                </a:solidFill>
                <a:latin typeface="Arial"/>
                <a:ea typeface="Arial"/>
                <a:cs typeface="Arial"/>
                <a:sym typeface="Arial"/>
              </a:rPr>
              <a:t>automated review summarization using large language models.</a:t>
            </a:r>
            <a:br>
              <a:rPr b="0" i="0" lang="en" sz="1200" u="none" cap="none" strike="noStrike">
                <a:solidFill>
                  <a:schemeClr val="dk1"/>
                </a:solidFill>
                <a:latin typeface="Arial"/>
                <a:ea typeface="Arial"/>
                <a:cs typeface="Arial"/>
                <a:sym typeface="Arial"/>
              </a:rPr>
            </a:br>
            <a:br>
              <a:rPr b="0" i="0" lang="en" sz="1200" u="none" cap="none" strike="noStrike">
                <a:solidFill>
                  <a:schemeClr val="dk1"/>
                </a:solidFill>
                <a:latin typeface="Arial"/>
                <a:ea typeface="Arial"/>
                <a:cs typeface="Arial"/>
                <a:sym typeface="Arial"/>
              </a:rPr>
            </a:br>
            <a:endParaRPr/>
          </a:p>
        </p:txBody>
      </p:sp>
      <p:sp>
        <p:nvSpPr>
          <p:cNvPr id="136" name="Google Shape;136;p1:notes"/>
          <p:cNvSpPr txBox="1"/>
          <p:nvPr>
            <p:ph idx="12" type="sldNum"/>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 sz="1800" u="none" cap="none" strike="noStrike">
                <a:solidFill>
                  <a:schemeClr val="dk1"/>
                </a:solidFill>
                <a:latin typeface="Arial"/>
                <a:ea typeface="Arial"/>
                <a:cs typeface="Arial"/>
                <a:sym typeface="Arial"/>
              </a:rPr>
              <a:t>‹#›</a:t>
            </a:fld>
            <a:endParaRPr b="0" i="0" sz="1800" u="none" cap="none" strike="noStrike">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Let’s dive in the final results</a:t>
            </a:r>
            <a:endParaRPr/>
          </a:p>
          <a:p>
            <a:pPr indent="0" lvl="0" marL="0" rtl="0" algn="l">
              <a:lnSpc>
                <a:spcPct val="100000"/>
              </a:lnSpc>
              <a:spcBef>
                <a:spcPts val="0"/>
              </a:spcBef>
              <a:spcAft>
                <a:spcPts val="0"/>
              </a:spcAft>
              <a:buSzPts val="1100"/>
              <a:buNone/>
            </a:pPr>
            <a:br>
              <a:rPr lang="en"/>
            </a:br>
            <a:r>
              <a:rPr lang="en"/>
              <a:t>For Sentiment Analysis: 73.5% accuracy with our fine-tuned RoBERTa model and an F1 macro of 0.724. This represents strong performance on a class-imbalanced dataset, with particular success in identifying neutral reviews - the hardest class.</a:t>
            </a:r>
            <a:br>
              <a:rPr lang="en"/>
            </a:br>
            <a:br>
              <a:rPr lang="en"/>
            </a:br>
            <a:r>
              <a:rPr lang="en"/>
              <a:t>For Product Clustering: We successfully organized 71 products into 5 meaningful semantic categories using embeddings and K-Means. An Adjusted Rand Index of 0.42 indicates moderate alignment with ground truth, showing our semantic approach captured meaningful product relationships.</a:t>
            </a:r>
            <a:br>
              <a:rPr lang="en"/>
            </a:br>
            <a:br>
              <a:rPr lang="en"/>
            </a:br>
            <a:r>
              <a:rPr lang="en"/>
              <a:t>For Text Generation: We produced 10 high-quality recommendation articles using LLaMA 3.2-3B - that's 5 product categories with 2 writing styles each. BERTScore of 0.81 confirms strong semantic alignment with source reviews.</a:t>
            </a:r>
            <a:br>
              <a:rPr lang="en"/>
            </a:br>
            <a:endParaRPr/>
          </a:p>
        </p:txBody>
      </p:sp>
      <p:sp>
        <p:nvSpPr>
          <p:cNvPr id="145" name="Google Shape;145;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3:notes"/>
          <p:cNvSpPr txBox="1"/>
          <p:nvPr>
            <p:ph idx="1" type="body"/>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r>
              <a:t/>
            </a:r>
            <a:endParaRPr sz="1200">
              <a:solidFill>
                <a:schemeClr val="dk1"/>
              </a:solidFill>
            </a:endParaRPr>
          </a:p>
          <a:p>
            <a:pPr indent="0" lvl="0" marL="0" marR="0" rtl="0" algn="l">
              <a:lnSpc>
                <a:spcPct val="100000"/>
              </a:lnSpc>
              <a:spcBef>
                <a:spcPts val="0"/>
              </a:spcBef>
              <a:spcAft>
                <a:spcPts val="0"/>
              </a:spcAft>
              <a:buSzPts val="1100"/>
              <a:buNone/>
            </a:pPr>
            <a:r>
              <a:rPr lang="en" sz="1200">
                <a:solidFill>
                  <a:schemeClr val="dk1"/>
                </a:solidFill>
              </a:rPr>
              <a:t>Early in the game a decision was made to combine the three .CSVs available from Kaggle.</a:t>
            </a:r>
            <a:endParaRPr sz="1200">
              <a:solidFill>
                <a:schemeClr val="dk1"/>
              </a:solidFill>
            </a:endParaRPr>
          </a:p>
          <a:p>
            <a:pPr indent="0" lvl="0" marL="0" marR="0" rtl="0" algn="l">
              <a:lnSpc>
                <a:spcPct val="100000"/>
              </a:lnSpc>
              <a:spcBef>
                <a:spcPts val="0"/>
              </a:spcBef>
              <a:spcAft>
                <a:spcPts val="0"/>
              </a:spcAft>
              <a:buSzPts val="1100"/>
              <a:buNone/>
            </a:pPr>
            <a:r>
              <a:t/>
            </a:r>
            <a:endParaRPr sz="1200">
              <a:solidFill>
                <a:schemeClr val="dk1"/>
              </a:solidFill>
            </a:endParaRPr>
          </a:p>
          <a:p>
            <a:pPr indent="0" lvl="0" marL="0" marR="0" rtl="0" algn="l">
              <a:lnSpc>
                <a:spcPct val="100000"/>
              </a:lnSpc>
              <a:spcBef>
                <a:spcPts val="0"/>
              </a:spcBef>
              <a:spcAft>
                <a:spcPts val="0"/>
              </a:spcAft>
              <a:buSzPts val="1100"/>
              <a:buNone/>
            </a:pPr>
            <a:r>
              <a:rPr lang="en" sz="1200">
                <a:solidFill>
                  <a:schemeClr val="dk1"/>
                </a:solidFill>
              </a:rPr>
              <a:t>After removing duplicates what resulted was almost</a:t>
            </a:r>
            <a:r>
              <a:rPr lang="en" sz="1200">
                <a:solidFill>
                  <a:schemeClr val="dk1"/>
                </a:solidFill>
                <a:latin typeface="Arial"/>
                <a:ea typeface="Arial"/>
                <a:cs typeface="Arial"/>
                <a:sym typeface="Arial"/>
              </a:rPr>
              <a:t> 40,000 Amazon reviews covering 71 products across 5 categories: Fire Tablets, Kindle E-Readers, Echo devi</a:t>
            </a:r>
            <a:r>
              <a:rPr lang="en" sz="1200">
                <a:solidFill>
                  <a:schemeClr val="dk1"/>
                </a:solidFill>
              </a:rPr>
              <a:t>ces</a:t>
            </a:r>
            <a:r>
              <a:rPr lang="en" sz="1200">
                <a:solidFill>
                  <a:schemeClr val="dk1"/>
                </a:solidFill>
                <a:latin typeface="Arial"/>
                <a:ea typeface="Arial"/>
                <a:cs typeface="Arial"/>
                <a:sym typeface="Arial"/>
              </a:rPr>
              <a:t>, Fire Kids Tab</a:t>
            </a:r>
            <a:r>
              <a:rPr lang="en" sz="1200">
                <a:solidFill>
                  <a:schemeClr val="dk1"/>
                </a:solidFill>
              </a:rPr>
              <a:t>lets</a:t>
            </a:r>
            <a:r>
              <a:rPr lang="en" sz="1200">
                <a:solidFill>
                  <a:schemeClr val="dk1"/>
                </a:solidFill>
                <a:latin typeface="Arial"/>
                <a:ea typeface="Arial"/>
                <a:cs typeface="Arial"/>
                <a:sym typeface="Arial"/>
              </a:rPr>
              <a:t>, and Fire TV</a:t>
            </a:r>
            <a:r>
              <a:rPr lang="en" sz="1200">
                <a:solidFill>
                  <a:schemeClr val="dk1"/>
                </a:solidFill>
              </a:rPr>
              <a:t> streamings</a:t>
            </a:r>
            <a:r>
              <a:rPr lang="en" sz="1200">
                <a:solidFill>
                  <a:schemeClr val="dk1"/>
                </a:solidFill>
                <a:latin typeface="Arial"/>
                <a:ea typeface="Arial"/>
                <a:cs typeface="Arial"/>
                <a:sym typeface="Arial"/>
              </a:rPr>
              <a:t>.</a:t>
            </a:r>
            <a:endParaRPr sz="1200">
              <a:solidFill>
                <a:schemeClr val="dk1"/>
              </a:solidFill>
              <a:latin typeface="Arial"/>
              <a:ea typeface="Arial"/>
              <a:cs typeface="Arial"/>
              <a:sym typeface="Arial"/>
            </a:endParaRPr>
          </a:p>
          <a:p>
            <a:pPr indent="0" lvl="0" marL="0" marR="0" rtl="0" algn="l">
              <a:lnSpc>
                <a:spcPct val="100000"/>
              </a:lnSpc>
              <a:spcBef>
                <a:spcPts val="0"/>
              </a:spcBef>
              <a:spcAft>
                <a:spcPts val="0"/>
              </a:spcAft>
              <a:buSzPts val="1100"/>
              <a:buNone/>
            </a:pPr>
            <a:r>
              <a:t/>
            </a:r>
            <a:endParaRPr sz="1200">
              <a:solidFill>
                <a:schemeClr val="dk1"/>
              </a:solidFill>
            </a:endParaRPr>
          </a:p>
          <a:p>
            <a:pPr indent="0" lvl="0" marL="0" marR="0" rtl="0" algn="l">
              <a:lnSpc>
                <a:spcPct val="100000"/>
              </a:lnSpc>
              <a:spcBef>
                <a:spcPts val="0"/>
              </a:spcBef>
              <a:spcAft>
                <a:spcPts val="0"/>
              </a:spcAft>
              <a:buSzPts val="1100"/>
              <a:buNone/>
            </a:pPr>
            <a:r>
              <a:rPr lang="en" sz="1200">
                <a:solidFill>
                  <a:schemeClr val="dk1"/>
                </a:solidFill>
              </a:rPr>
              <a:t>91% of our reviews are positive, which means we have a highly </a:t>
            </a:r>
            <a:r>
              <a:rPr lang="en" sz="1200">
                <a:solidFill>
                  <a:schemeClr val="dk1"/>
                </a:solidFill>
              </a:rPr>
              <a:t>imbalanced dataset but still realistic - Amazon products generally receive positive reviews</a:t>
            </a:r>
            <a:endParaRPr sz="1200">
              <a:solidFill>
                <a:schemeClr val="dk1"/>
              </a:solidFill>
            </a:endParaRPr>
          </a:p>
          <a:p>
            <a:pPr indent="0" lvl="0" marL="0" marR="0" rtl="0" algn="l">
              <a:lnSpc>
                <a:spcPct val="100000"/>
              </a:lnSpc>
              <a:spcBef>
                <a:spcPts val="0"/>
              </a:spcBef>
              <a:spcAft>
                <a:spcPts val="0"/>
              </a:spcAft>
              <a:buSzPts val="1100"/>
              <a:buNone/>
            </a:pPr>
            <a:r>
              <a:t/>
            </a:r>
            <a:endParaRPr sz="1200">
              <a:solidFill>
                <a:schemeClr val="dk1"/>
              </a:solidFill>
            </a:endParaRPr>
          </a:p>
          <a:p>
            <a:pPr indent="0" lvl="0" marL="0" marR="0" rtl="0" algn="l">
              <a:lnSpc>
                <a:spcPct val="100000"/>
              </a:lnSpc>
              <a:spcBef>
                <a:spcPts val="0"/>
              </a:spcBef>
              <a:spcAft>
                <a:spcPts val="0"/>
              </a:spcAft>
              <a:buSzPts val="1100"/>
              <a:buNone/>
            </a:pPr>
            <a:r>
              <a:rPr lang="en" sz="1200">
                <a:solidFill>
                  <a:schemeClr val="dk1"/>
                </a:solidFill>
              </a:rPr>
              <a:t>Meanwhile, neutral and negative reviews each represent less than 5% of the data.</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rPr>
              <a:t>Without intervention, models will simply predict 'positive' for everything and achieve very high accuracy while learning nothing useful about neutral or negative sentiment.</a:t>
            </a:r>
            <a:br>
              <a:rPr lang="en" sz="1200">
                <a:solidFill>
                  <a:schemeClr val="dk1"/>
                </a:solidFill>
              </a:rPr>
            </a:br>
            <a:br>
              <a:rPr lang="en" sz="1200">
                <a:solidFill>
                  <a:schemeClr val="dk1"/>
                </a:solidFill>
              </a:rPr>
            </a:br>
            <a:r>
              <a:rPr lang="en" sz="1200">
                <a:solidFill>
                  <a:schemeClr val="dk1"/>
                </a:solidFill>
              </a:rPr>
              <a:t>Our solution has three components: </a:t>
            </a:r>
            <a:endParaRPr sz="1200">
              <a:solidFill>
                <a:schemeClr val="dk1"/>
              </a:solidFill>
            </a:endParaRPr>
          </a:p>
          <a:p>
            <a:pPr indent="0" lvl="0" marL="0" marR="0" rtl="0" algn="l">
              <a:lnSpc>
                <a:spcPct val="100000"/>
              </a:lnSpc>
              <a:spcBef>
                <a:spcPts val="0"/>
              </a:spcBef>
              <a:spcAft>
                <a:spcPts val="0"/>
              </a:spcAft>
              <a:buSzPts val="1100"/>
              <a:buNone/>
            </a:pPr>
            <a:r>
              <a:t/>
            </a:r>
            <a:endParaRPr sz="1200">
              <a:solidFill>
                <a:schemeClr val="dk1"/>
              </a:solidFill>
            </a:endParaRPr>
          </a:p>
          <a:p>
            <a:pPr indent="-304800" lvl="0" marL="457200" marR="0" rtl="0" algn="l">
              <a:lnSpc>
                <a:spcPct val="100000"/>
              </a:lnSpc>
              <a:spcBef>
                <a:spcPts val="0"/>
              </a:spcBef>
              <a:spcAft>
                <a:spcPts val="0"/>
              </a:spcAft>
              <a:buClr>
                <a:schemeClr val="dk1"/>
              </a:buClr>
              <a:buSzPts val="1200"/>
              <a:buChar char="-"/>
            </a:pPr>
            <a:r>
              <a:rPr lang="en" sz="1200">
                <a:solidFill>
                  <a:schemeClr val="dk1"/>
                </a:solidFill>
              </a:rPr>
              <a:t>First, weighted loss during training, which penalizes misclassifications on minority classes more heavily. </a:t>
            </a:r>
            <a:endParaRPr sz="1200">
              <a:solidFill>
                <a:schemeClr val="dk1"/>
              </a:solidFill>
            </a:endParaRPr>
          </a:p>
          <a:p>
            <a:pPr indent="-304800" lvl="0" marL="457200" marR="0" rtl="0" algn="l">
              <a:lnSpc>
                <a:spcPct val="100000"/>
              </a:lnSpc>
              <a:spcBef>
                <a:spcPts val="0"/>
              </a:spcBef>
              <a:spcAft>
                <a:spcPts val="0"/>
              </a:spcAft>
              <a:buClr>
                <a:schemeClr val="dk1"/>
              </a:buClr>
              <a:buSzPts val="1200"/>
              <a:buChar char="-"/>
            </a:pPr>
            <a:r>
              <a:rPr lang="en" sz="1200">
                <a:solidFill>
                  <a:schemeClr val="dk1"/>
                </a:solidFill>
              </a:rPr>
              <a:t>Second, a balanced test set with equal representation from each class for fair evaluation. </a:t>
            </a:r>
            <a:endParaRPr sz="1200">
              <a:solidFill>
                <a:schemeClr val="dk1"/>
              </a:solidFill>
            </a:endParaRPr>
          </a:p>
          <a:p>
            <a:pPr indent="-304800" lvl="0" marL="457200" marR="0" rtl="0" algn="l">
              <a:lnSpc>
                <a:spcPct val="100000"/>
              </a:lnSpc>
              <a:spcBef>
                <a:spcPts val="0"/>
              </a:spcBef>
              <a:spcAft>
                <a:spcPts val="0"/>
              </a:spcAft>
              <a:buClr>
                <a:schemeClr val="dk1"/>
              </a:buClr>
              <a:buSzPts val="1200"/>
              <a:buChar char="-"/>
            </a:pPr>
            <a:r>
              <a:rPr lang="en" sz="1200">
                <a:solidFill>
                  <a:schemeClr val="dk1"/>
                </a:solidFill>
              </a:rPr>
              <a:t>Third, we chose not to undersample the majority class because that would throw away valuable data.</a:t>
            </a:r>
            <a:endParaRPr sz="1200">
              <a:solidFill>
                <a:schemeClr val="dk1"/>
              </a:solidFill>
            </a:endParaRPr>
          </a:p>
          <a:p>
            <a:pPr indent="0" lvl="0" marL="457200" marR="0" rtl="0" algn="l">
              <a:lnSpc>
                <a:spcPct val="100000"/>
              </a:lnSpc>
              <a:spcBef>
                <a:spcPts val="0"/>
              </a:spcBef>
              <a:spcAft>
                <a:spcPts val="0"/>
              </a:spcAft>
              <a:buNone/>
            </a:pPr>
            <a:r>
              <a:t/>
            </a:r>
            <a:endParaRPr sz="1200">
              <a:solidFill>
                <a:schemeClr val="dk1"/>
              </a:solidFill>
            </a:endParaRPr>
          </a:p>
          <a:p>
            <a:pPr indent="0" lvl="0" marL="457200" marR="0" rtl="0" algn="l">
              <a:lnSpc>
                <a:spcPct val="100000"/>
              </a:lnSpc>
              <a:spcBef>
                <a:spcPts val="0"/>
              </a:spcBef>
              <a:spcAft>
                <a:spcPts val="0"/>
              </a:spcAft>
              <a:buNone/>
            </a:pPr>
            <a:r>
              <a:rPr lang="en" sz="1200">
                <a:solidFill>
                  <a:schemeClr val="dk1"/>
                </a:solidFill>
              </a:rPr>
              <a:t>This approach allowed us to train on the full dataset while still learning to identify neutral and negative reviews effectively.</a:t>
            </a:r>
            <a:br>
              <a:rPr lang="en" sz="1200">
                <a:solidFill>
                  <a:schemeClr val="dk1"/>
                </a:solidFill>
                <a:latin typeface="Arial"/>
                <a:ea typeface="Arial"/>
                <a:cs typeface="Arial"/>
                <a:sym typeface="Arial"/>
              </a:rPr>
            </a:br>
            <a:endParaRPr/>
          </a:p>
        </p:txBody>
      </p:sp>
      <p:sp>
        <p:nvSpPr>
          <p:cNvPr id="170" name="Google Shape;170;p3:notes"/>
          <p:cNvSpPr txBox="1"/>
          <p:nvPr>
            <p:ph idx="12" type="sldNum"/>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 sz="1800" u="none" cap="none" strike="noStrike">
                <a:solidFill>
                  <a:schemeClr val="dk1"/>
                </a:solidFill>
                <a:latin typeface="Arial"/>
                <a:ea typeface="Arial"/>
                <a:cs typeface="Arial"/>
                <a:sym typeface="Arial"/>
              </a:rPr>
              <a:t>‹#›</a:t>
            </a:fld>
            <a:endParaRPr b="0" i="0" sz="1800" u="none" cap="none" strike="noStrike">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4:notes"/>
          <p:cNvSpPr txBox="1"/>
          <p:nvPr>
            <p:ph idx="1" type="body"/>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Our methodology combines classical ML and modern deep learning.</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For sentiment analysis, we compared three approaches: a Logistic Regression paired with TF-IDF </a:t>
            </a:r>
            <a:r>
              <a:rPr lang="en" sz="1200">
                <a:solidFill>
                  <a:schemeClr val="dk1"/>
                </a:solidFill>
              </a:rPr>
              <a:t>served as a</a:t>
            </a:r>
            <a:r>
              <a:rPr lang="en" sz="1200">
                <a:solidFill>
                  <a:schemeClr val="dk1"/>
                </a:solidFill>
                <a:latin typeface="Arial"/>
                <a:ea typeface="Arial"/>
                <a:cs typeface="Arial"/>
                <a:sym typeface="Arial"/>
              </a:rPr>
              <a:t> baseline, zero-shot</a:t>
            </a:r>
            <a:r>
              <a:rPr lang="en" sz="1200">
                <a:solidFill>
                  <a:schemeClr val="dk1"/>
                </a:solidFill>
              </a:rPr>
              <a:t> </a:t>
            </a:r>
            <a:r>
              <a:rPr lang="en" sz="1200">
                <a:solidFill>
                  <a:schemeClr val="dk1"/>
                </a:solidFill>
                <a:latin typeface="Arial"/>
                <a:ea typeface="Arial"/>
                <a:cs typeface="Arial"/>
                <a:sym typeface="Arial"/>
              </a:rPr>
              <a:t>RoBERTa, and fine-tuned RoBERTa. Fine-tuning was essential for domain adaptation from Twitter to Amazon reviews.</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For clustering, we used Sentence Transformers to generate semantic embeddings, then applied K-Means to group products into 5 categories.</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For text generation, we used LLaMA 3.2-3B with iterative prompt engineering, </a:t>
            </a:r>
            <a:r>
              <a:rPr lang="en" sz="1200">
                <a:solidFill>
                  <a:schemeClr val="dk1"/>
                </a:solidFill>
              </a:rPr>
              <a:t>generating three distinct outputs made possible</a:t>
            </a:r>
            <a:r>
              <a:rPr lang="en" sz="1200">
                <a:solidFill>
                  <a:schemeClr val="dk1"/>
                </a:solidFill>
                <a:latin typeface="Arial"/>
                <a:ea typeface="Arial"/>
                <a:cs typeface="Arial"/>
                <a:sym typeface="Arial"/>
              </a:rPr>
              <a:t> through systematic refinement.</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Key decisions included weighted loss for class imbalance, creating a custom grounding metric to detect hallucination, and using balanced test sets for fair evaluation.</a:t>
            </a:r>
            <a:br>
              <a:rPr lang="en" sz="1200">
                <a:solidFill>
                  <a:schemeClr val="dk1"/>
                </a:solidFill>
                <a:latin typeface="Arial"/>
                <a:ea typeface="Arial"/>
                <a:cs typeface="Arial"/>
                <a:sym typeface="Arial"/>
              </a:rPr>
            </a:br>
            <a:endParaRPr/>
          </a:p>
        </p:txBody>
      </p:sp>
      <p:sp>
        <p:nvSpPr>
          <p:cNvPr id="211" name="Google Shape;211;p4:notes"/>
          <p:cNvSpPr txBox="1"/>
          <p:nvPr>
            <p:ph idx="12" type="sldNum"/>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 sz="1800" u="none" cap="none" strike="noStrike">
                <a:solidFill>
                  <a:schemeClr val="dk1"/>
                </a:solidFill>
                <a:latin typeface="Arial"/>
                <a:ea typeface="Arial"/>
                <a:cs typeface="Arial"/>
                <a:sym typeface="Arial"/>
              </a:rPr>
              <a:t>‹#›</a:t>
            </a:fld>
            <a:endParaRPr b="0" i="0" sz="1800" u="none" cap="none" strike="noStrik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r>
              <a:rPr lang="en"/>
              <a:t>SENTIMENT RESULTS:</a:t>
            </a:r>
            <a:endParaRPr/>
          </a:p>
          <a:p>
            <a:pPr indent="0" lvl="0" marL="0" rtl="0" algn="l">
              <a:lnSpc>
                <a:spcPct val="100000"/>
              </a:lnSpc>
              <a:spcBef>
                <a:spcPts val="0"/>
              </a:spcBef>
              <a:spcAft>
                <a:spcPts val="0"/>
              </a:spcAft>
              <a:buSzPts val="1100"/>
              <a:buNone/>
            </a:pPr>
            <a:br>
              <a:rPr lang="en"/>
            </a:br>
            <a:r>
              <a:rPr lang="en"/>
              <a:t>The results clearly demonstrate the value of fine-tuning.</a:t>
            </a:r>
            <a:br>
              <a:rPr lang="en"/>
            </a:br>
            <a:br>
              <a:rPr lang="en"/>
            </a:br>
            <a:r>
              <a:rPr lang="en"/>
              <a:t>Looking at this comparison table, Logistic Regression achieved almost 70% accuracy - a respectable baseline. RoBERTa zero-shot actually performed WORSE at 63%, which was surprising but revealing.</a:t>
            </a:r>
            <a:br>
              <a:rPr lang="en"/>
            </a:br>
            <a:br>
              <a:rPr lang="en"/>
            </a:br>
            <a:r>
              <a:rPr lang="en"/>
              <a:t>The fine-tuned RoBERTa achieved 73.5% accuracy with an F1 macro of 0.724 - our best performer.</a:t>
            </a:r>
            <a:br>
              <a:rPr lang="en"/>
            </a:br>
            <a:br>
              <a:rPr lang="en"/>
            </a:br>
            <a:r>
              <a:rPr lang="en"/>
              <a:t>But the most important metric is F1 Neutral, shown in the last column. This reveals the domain mismatch problem: our zero-shot attempt could barely identify neutral reviews with an F1 of just 0.29. Only after fine-tuning could we double the results to 0.57, proving that domain adaptation is essential.</a:t>
            </a:r>
            <a:br>
              <a:rPr lang="en"/>
            </a:br>
            <a:br>
              <a:rPr lang="en"/>
            </a:br>
            <a:r>
              <a:rPr lang="en"/>
              <a:t>Why did this happen? The model was trained on Twitter sentiment - short, casual tweets with clear emotional signals. Amazon reviews are longer, more descriptive, and use different language patterns. Without fine-tuning, the model couldn't adapt.</a:t>
            </a:r>
            <a:br>
              <a:rPr lang="en"/>
            </a:br>
            <a:br>
              <a:rPr lang="en"/>
            </a:br>
            <a:endParaRPr/>
          </a:p>
        </p:txBody>
      </p:sp>
      <p:sp>
        <p:nvSpPr>
          <p:cNvPr id="238" name="Google Shape;238;p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 name="Google Shape;267;p6: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r>
              <a:rPr lang="en"/>
              <a:t>CLUSTERING APPROACH:</a:t>
            </a:r>
            <a:br>
              <a:rPr lang="en"/>
            </a:br>
            <a:endParaRPr/>
          </a:p>
          <a:p>
            <a:pPr indent="0" lvl="0" marL="0" rtl="0" algn="l">
              <a:lnSpc>
                <a:spcPct val="100000"/>
              </a:lnSpc>
              <a:spcBef>
                <a:spcPts val="0"/>
              </a:spcBef>
              <a:spcAft>
                <a:spcPts val="0"/>
              </a:spcAft>
              <a:buSzPts val="1100"/>
              <a:buNone/>
            </a:pPr>
            <a:r>
              <a:rPr lang="en"/>
              <a:t>For Task 2, we needed to group 71 individual products into 5 meaningful categories.</a:t>
            </a:r>
            <a:br>
              <a:rPr lang="en"/>
            </a:br>
            <a:br>
              <a:rPr lang="en"/>
            </a:br>
            <a:r>
              <a:rPr lang="en"/>
              <a:t>Our approach uses semantic embeddings rather than simple keyword matching. Here's the process:</a:t>
            </a:r>
            <a:br>
              <a:rPr lang="en"/>
            </a:br>
            <a:br>
              <a:rPr lang="en"/>
            </a:br>
            <a:r>
              <a:rPr lang="en"/>
              <a:t>- We start with product names - things like 'Fire HD 8 tablet' or 'Kindle Paperwhite'.</a:t>
            </a:r>
            <a:br>
              <a:rPr lang="en"/>
            </a:br>
            <a:br>
              <a:rPr lang="en"/>
            </a:br>
            <a:r>
              <a:rPr lang="en"/>
              <a:t>Then, we applied Sentence Transformers to convert each product name into a 384-dimensional vector that captures semantic meaning.</a:t>
            </a:r>
            <a:br>
              <a:rPr lang="en"/>
            </a:br>
            <a:br>
              <a:rPr lang="en"/>
            </a:br>
            <a:r>
              <a:rPr lang="en"/>
              <a:t>Next we were ready for the K-Means clustering with k=5 to group these vectors based on similarity.</a:t>
            </a:r>
            <a:br>
              <a:rPr lang="en"/>
            </a:br>
            <a:br>
              <a:rPr lang="en"/>
            </a:br>
            <a:r>
              <a:rPr lang="en"/>
              <a:t>This produced our five categories: Fire Tablets, Kindle E-Readers, Echo Speakers, Fire Kids Edition, and Fire TV.</a:t>
            </a:r>
            <a:br>
              <a:rPr lang="en"/>
            </a:br>
            <a:br>
              <a:rPr lang="en"/>
            </a:br>
            <a:r>
              <a:rPr lang="en"/>
              <a:t>Why semantic embeddings instead of TF-IDF? Because they capture meaning, not just keywords. For example, 'Fire HD 8' and 'Fire 7' are semantically similar even though they share few words. The embeddings understand they're both tablets in the Fire family.</a:t>
            </a:r>
            <a:br>
              <a:rPr lang="en"/>
            </a:br>
            <a:endParaRPr/>
          </a:p>
        </p:txBody>
      </p:sp>
      <p:sp>
        <p:nvSpPr>
          <p:cNvPr id="268" name="Google Shape;268;p6: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7: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br>
              <a:rPr lang="en"/>
            </a:br>
            <a:r>
              <a:rPr lang="en"/>
              <a:t>Here we can see our UMAP visualization</a:t>
            </a:r>
            <a:br>
              <a:rPr lang="en"/>
            </a:br>
            <a:br>
              <a:rPr lang="en"/>
            </a:br>
            <a:r>
              <a:rPr lang="en"/>
              <a:t>What you should see in the plot are distinct clusters representing our five categories. UMAP reduces the 384 dimensions down to 2 for visualization while preserving the semantic relationships.</a:t>
            </a:r>
            <a:br>
              <a:rPr lang="en"/>
            </a:br>
            <a:br>
              <a:rPr lang="en"/>
            </a:br>
            <a:r>
              <a:rPr lang="en"/>
              <a:t>The plot helps visualize semantic groupings learned by the embedding space. After clustering, we observe that products of the same type often occupy similar regions—for example, Fire Tablets tend to cluster together, Kindles concentrate in a separate region, and Echo devices form another group. Some overlap is expected where products share features, such as Fire Kids devices appearing close to standard Fire Tablets due to their shared tablet functionality.</a:t>
            </a:r>
            <a:endParaRPr/>
          </a:p>
          <a:p>
            <a:pPr indent="0" lvl="0" marL="0" rtl="0" algn="l">
              <a:lnSpc>
                <a:spcPct val="100000"/>
              </a:lnSpc>
              <a:spcBef>
                <a:spcPts val="0"/>
              </a:spcBef>
              <a:spcAft>
                <a:spcPts val="0"/>
              </a:spcAft>
              <a:buSzPts val="1100"/>
              <a:buNone/>
            </a:pPr>
            <a:br>
              <a:rPr lang="en"/>
            </a:br>
            <a:r>
              <a:rPr lang="en"/>
              <a:t>Our quantitative result is an Adjusted Rand Index of 0.42. ARI ranges from -1 to 1, where 1 is perfect agreement with ground truth and 0 is random assignment. Our score of 0.42 reflects moderate alignment - the semantic approach successfully captured meaningful product similarities, though not perfectly, given the overlapping product lines and shared features.</a:t>
            </a:r>
            <a:br>
              <a:rPr lang="en"/>
            </a:br>
            <a:br>
              <a:rPr lang="en"/>
            </a:br>
            <a:r>
              <a:rPr lang="en"/>
              <a:t>The visualization makes the semantic relationships intuitive and demonstrates that our clustering approach is working as intended."</a:t>
            </a:r>
            <a:br>
              <a:rPr lang="en"/>
            </a:br>
            <a:endParaRPr/>
          </a:p>
        </p:txBody>
      </p:sp>
      <p:sp>
        <p:nvSpPr>
          <p:cNvPr id="299" name="Google Shape;299;p7: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8" name="Google Shape;308;p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r>
              <a:rPr lang="en"/>
              <a:t>For text generation, we chose LLaMA 3.2-3B-Instruct - a 3 billion parameter model from Meta that's instruction-tuned and open source.</a:t>
            </a:r>
            <a:br>
              <a:rPr lang="en"/>
            </a:br>
            <a:br>
              <a:rPr lang="en"/>
            </a:br>
            <a:r>
              <a:rPr lang="en"/>
              <a:t>We tested two decoding strategies: Controlled with temperature 0.15, which produces stable, grounded, predictable outputs - minimizing hallucination risk. And Creative with temperature 0.35, which generates more natural, engaging, varied language while accepting slightly more randomness.</a:t>
            </a:r>
            <a:br>
              <a:rPr lang="en"/>
            </a:br>
            <a:br>
              <a:rPr lang="en"/>
            </a:br>
            <a:r>
              <a:rPr lang="en"/>
              <a:t>Both strategies use the same model and prompts, just different sampling parameters. This lets us compare whether controlled or creative generation better serves our use case of creating helpful product recommendations.</a:t>
            </a:r>
            <a:br>
              <a:rPr lang="en"/>
            </a:br>
            <a:endParaRPr/>
          </a:p>
        </p:txBody>
      </p:sp>
      <p:sp>
        <p:nvSpPr>
          <p:cNvPr id="309" name="Google Shape;309;p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2" name="Google Shape;332;p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endParaRPr/>
          </a:p>
          <a:p>
            <a:pPr indent="0" lvl="0" marL="0" rtl="0" algn="l">
              <a:lnSpc>
                <a:spcPct val="100000"/>
              </a:lnSpc>
              <a:spcBef>
                <a:spcPts val="0"/>
              </a:spcBef>
              <a:spcAft>
                <a:spcPts val="0"/>
              </a:spcAft>
              <a:buSzPts val="1100"/>
              <a:buNone/>
            </a:pPr>
            <a:r>
              <a:rPr lang="en"/>
              <a:t>We’re ready to dive in our Evaluation metrics</a:t>
            </a:r>
            <a:br>
              <a:rPr lang="en"/>
            </a:br>
            <a:br>
              <a:rPr lang="en"/>
            </a:br>
            <a:r>
              <a:rPr lang="en"/>
              <a:t>BERTScore at 0.811 measures semantic alignment using contextual embeddings. Does the generated text capture the meaning of source reviews, even when using different words? This score indicates strong semantic preservation.</a:t>
            </a:r>
            <a:br>
              <a:rPr lang="en"/>
            </a:br>
            <a:br>
              <a:rPr lang="en"/>
            </a:br>
            <a:r>
              <a:rPr lang="en"/>
              <a:t>Our custom grounding metric shows 60% vocabulary overlap between generated text and source reviews. This is our hallucination detector - when the model invents information not present in reviews, grounding drops. 60% is a healthy balance: enough grounding to ensure faithfulness, but not so high that we're just copying text.</a:t>
            </a:r>
            <a:br>
              <a:rPr lang="en"/>
            </a:br>
            <a:br>
              <a:rPr lang="en"/>
            </a:br>
            <a:r>
              <a:rPr lang="en"/>
              <a:t>ROUGE-1 at 0.306 measures lexical overlap. This might seem low, but it's actually appropriate for abstractive summarization. We're not trying to extract sentences verbatim; we're creating new text that captures review insights in blog form.</a:t>
            </a:r>
            <a:br>
              <a:rPr lang="en"/>
            </a:br>
            <a:br>
              <a:rPr lang="en"/>
            </a:br>
            <a:r>
              <a:rPr lang="en"/>
              <a:t>Compression ratio of 0.291 means generated articles are about 29% the length of source reviews - we're effectively condensing thousands of words into 400-word recommendations.</a:t>
            </a:r>
            <a:br>
              <a:rPr lang="en"/>
            </a:br>
            <a:br>
              <a:rPr lang="en"/>
            </a:br>
            <a:r>
              <a:rPr lang="en"/>
              <a:t>Together, these metrics confirm we're achieving our goal: semantically aligned, well-grounded, concise recommendations that don't just copy review text.</a:t>
            </a:r>
            <a:br>
              <a:rPr lang="en"/>
            </a:br>
            <a:endParaRPr/>
          </a:p>
        </p:txBody>
      </p:sp>
      <p:sp>
        <p:nvSpPr>
          <p:cNvPr id="333" name="Google Shape;333;p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c9c34271de_1_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g3c9c34271de_1_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br>
              <a:rPr lang="en"/>
            </a:br>
            <a:r>
              <a:rPr lang="en"/>
              <a:t>Let me walk you through our systematic approach to improving text generation quality.</a:t>
            </a:r>
            <a:br>
              <a:rPr lang="en"/>
            </a:br>
            <a:br>
              <a:rPr lang="en"/>
            </a:br>
            <a:r>
              <a:rPr lang="en"/>
              <a:t>V1 - We had a critical bug where the prompt template hardcoded 'Amazon Echo products' instead of using the category variable. This meant every article discussed Echo, regardless of category. Grounding was 0.53.</a:t>
            </a:r>
            <a:br>
              <a:rPr lang="en"/>
            </a:br>
            <a:br>
              <a:rPr lang="en"/>
            </a:br>
            <a:r>
              <a:rPr lang="en"/>
              <a:t>V2 - By removing the keyword of the prompt template we removed the </a:t>
            </a:r>
            <a:r>
              <a:rPr lang="en"/>
              <a:t>cross-contamination of categories.</a:t>
            </a:r>
            <a:r>
              <a:rPr lang="en"/>
              <a:t> But the recommendations were generic - phrases like 'great option for users' without specific guidance. Grounding didn’t improve.</a:t>
            </a:r>
            <a:br>
              <a:rPr lang="en"/>
            </a:br>
            <a:br>
              <a:rPr lang="en"/>
            </a:br>
            <a:r>
              <a:rPr lang="en"/>
              <a:t>V3 - Enhanced Prompts: We made two key changes. First, removed the noisy Accessories category which contaminated our data. Second, enhanced the prompt with explicit verdict structure - requiring 'Choose X if you...' and 'Look elsewhere if...' statements.</a:t>
            </a:r>
            <a:br>
              <a:rPr lang="en"/>
            </a:br>
            <a:br>
              <a:rPr lang="en"/>
            </a:br>
            <a:r>
              <a:rPr lang="en"/>
              <a:t>The impact was measurable: Grounding jumped to 0.60 - a 12.7% improvement. This means 60% of the generated vocabulary now comes directly from source reviews, reducing hallucination risk.</a:t>
            </a:r>
            <a:br>
              <a:rPr lang="en"/>
            </a:br>
            <a:br>
              <a:rPr lang="en"/>
            </a:br>
            <a:r>
              <a:rPr lang="en"/>
              <a:t>The takeaway: Prompt engineering isn't guesswork - it's engineering. Measure, iterate, improve.</a:t>
            </a:r>
            <a:br>
              <a:rPr lang="en"/>
            </a:br>
            <a:endParaRPr/>
          </a:p>
        </p:txBody>
      </p:sp>
      <p:sp>
        <p:nvSpPr>
          <p:cNvPr id="361" name="Google Shape;361;g3c9c34271de_1_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11:notes"/>
          <p:cNvSpPr txBox="1"/>
          <p:nvPr>
            <p:ph idx="1" type="body"/>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KEY TAKEAWAYS (25 seconds):</a:t>
            </a: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"To conclude, here are </a:t>
            </a:r>
            <a:r>
              <a:rPr lang="en" sz="1200">
                <a:solidFill>
                  <a:schemeClr val="dk1"/>
                </a:solidFill>
              </a:rPr>
              <a:t>four </a:t>
            </a:r>
            <a:r>
              <a:rPr lang="en" sz="1200">
                <a:solidFill>
                  <a:schemeClr val="dk1"/>
                </a:solidFill>
                <a:latin typeface="Arial"/>
                <a:ea typeface="Arial"/>
                <a:cs typeface="Arial"/>
                <a:sym typeface="Arial"/>
              </a:rPr>
              <a:t>key learnings from this project:</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First, data quality matters more than model size. Our improvements came from cleaning noisy categories and careful preprocessing, not just using bigger models.</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Second, prompt engineering is crucial for LLMs. Our iterative refinement from V1 to V3 had massive impact on output quality.</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latin typeface="Arial"/>
                <a:ea typeface="Arial"/>
                <a:cs typeface="Arial"/>
                <a:sym typeface="Arial"/>
              </a:rPr>
              <a:t>Third, domain adaptation is essential. The zero-shot model underperformed significantly; fine-tuning on Amazon reviews was necessary for good results.</a:t>
            </a:r>
            <a:br>
              <a:rPr lang="en" sz="1200">
                <a:solidFill>
                  <a:schemeClr val="dk1"/>
                </a:solidFill>
                <a:latin typeface="Arial"/>
                <a:ea typeface="Arial"/>
                <a:cs typeface="Arial"/>
                <a:sym typeface="Arial"/>
              </a:rPr>
            </a:br>
            <a:br>
              <a:rPr lang="en" sz="1200">
                <a:solidFill>
                  <a:schemeClr val="dk1"/>
                </a:solidFill>
                <a:latin typeface="Arial"/>
                <a:ea typeface="Arial"/>
                <a:cs typeface="Arial"/>
                <a:sym typeface="Arial"/>
              </a:rPr>
            </a:br>
            <a:r>
              <a:rPr lang="en" sz="1200">
                <a:solidFill>
                  <a:schemeClr val="dk1"/>
                </a:solidFill>
              </a:rPr>
              <a:t>Fin</a:t>
            </a:r>
            <a:r>
              <a:rPr lang="en" sz="1200">
                <a:solidFill>
                  <a:schemeClr val="dk1"/>
                </a:solidFill>
                <a:latin typeface="Arial"/>
                <a:ea typeface="Arial"/>
                <a:cs typeface="Arial"/>
                <a:sym typeface="Arial"/>
              </a:rPr>
              <a:t>ally, custom metrics help. Our grounding ratio provided valuable signal for detecting hallucination that standard metrics like ROUGE couldn't capture.</a:t>
            </a:r>
            <a:br>
              <a:rPr lang="en" sz="1200">
                <a:solidFill>
                  <a:schemeClr val="dk1"/>
                </a:solidFill>
                <a:latin typeface="Arial"/>
                <a:ea typeface="Arial"/>
                <a:cs typeface="Arial"/>
                <a:sym typeface="Arial"/>
              </a:rPr>
            </a:br>
            <a:endParaRPr/>
          </a:p>
        </p:txBody>
      </p:sp>
      <p:sp>
        <p:nvSpPr>
          <p:cNvPr id="399" name="Google Shape;399;p11:notes"/>
          <p:cNvSpPr txBox="1"/>
          <p:nvPr>
            <p:ph idx="12" type="sldNum"/>
          </p:nvPr>
        </p:nvSpPr>
        <p:spPr>
          <a:xfrm>
            <a:off x="0" y="0"/>
            <a:ext cx="4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fld id="{00000000-1234-1234-1234-123412341234}" type="slidenum">
              <a:rPr b="0" i="0" lang="en" sz="1800" u="none" cap="none" strike="noStrike">
                <a:solidFill>
                  <a:schemeClr val="dk1"/>
                </a:solidFill>
                <a:latin typeface="Arial"/>
                <a:ea typeface="Arial"/>
                <a:cs typeface="Arial"/>
                <a:sym typeface="Arial"/>
              </a:rPr>
              <a:t>‹#›</a:t>
            </a:fld>
            <a:endParaRPr b="0" i="0" sz="1800" u="none" cap="none" strike="noStrik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 name="Google Shape;425;p1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r>
              <a:rPr lang="en"/>
              <a:t>CLOSING (15 seconds):</a:t>
            </a:r>
            <a:br>
              <a:rPr lang="en"/>
            </a:br>
            <a:r>
              <a:rPr lang="en"/>
              <a:t>"Thank you for your attention.</a:t>
            </a:r>
            <a:br>
              <a:rPr lang="en"/>
            </a:br>
            <a:br>
              <a:rPr lang="en"/>
            </a:br>
            <a:r>
              <a:rPr lang="en"/>
              <a:t>I'm happy to take questions.</a:t>
            </a:r>
            <a:br>
              <a:rPr lang="en"/>
            </a:br>
            <a:br>
              <a:rPr lang="en"/>
            </a:br>
            <a:r>
              <a:rPr lang="en"/>
              <a:t>[BACKUP Q&amp;A]</a:t>
            </a:r>
            <a:br>
              <a:rPr lang="en"/>
            </a:br>
            <a:br>
              <a:rPr lang="en"/>
            </a:br>
            <a:r>
              <a:rPr lang="en"/>
              <a:t>Q: "Why LLaMA 3.2-3B and not GPT-4?"</a:t>
            </a:r>
            <a:br>
              <a:rPr lang="en"/>
            </a:br>
            <a:r>
              <a:rPr lang="en"/>
              <a:t>A: "We wanted to show that smaller, open-source models can deliver quality results with good engineering. Also: zero cost, full reproducibility, and can run locally for privacy."</a:t>
            </a:r>
            <a:br>
              <a:rPr lang="en"/>
            </a:br>
            <a:br>
              <a:rPr lang="en"/>
            </a:br>
            <a:r>
              <a:rPr lang="en"/>
              <a:t>Q: "How would you improve this further?"</a:t>
            </a:r>
            <a:br>
              <a:rPr lang="en"/>
            </a:br>
            <a:r>
              <a:rPr lang="en"/>
              <a:t>A: "Three priorities: fine-tune LLaMA specifically on product review summarization, implement product-level comparisons, and conduct user studies to validate the recommendations actually help purchase decisions."</a:t>
            </a:r>
            <a:br>
              <a:rPr lang="en"/>
            </a:br>
            <a:br>
              <a:rPr lang="en"/>
            </a:br>
            <a:r>
              <a:rPr lang="en"/>
              <a:t>Q: "Can this work for other product categories?"</a:t>
            </a:r>
            <a:br>
              <a:rPr lang="en"/>
            </a:br>
            <a:r>
              <a:rPr lang="en"/>
              <a:t>A: "Absolutely. The approach is generalizable - we'd need sufficient review data and category-appropriate prompts, but the pipeline architecture remains the same."</a:t>
            </a:r>
            <a:br>
              <a:rPr lang="en"/>
            </a:br>
            <a:br>
              <a:rPr lang="en"/>
            </a:br>
            <a:r>
              <a:rPr lang="en"/>
              <a:t>Q: "What about real-time deployment?"</a:t>
            </a:r>
            <a:br>
              <a:rPr lang="en"/>
            </a:br>
            <a:r>
              <a:rPr lang="en"/>
              <a:t>A: "We'd wrap this in a FastAPI backend, host the model on GPU infrastructure, implement caching for common queries, and add a React frontend. The core ML is done; deployment is engineering."</a:t>
            </a:r>
            <a:br>
              <a:rPr lang="en"/>
            </a:br>
            <a:endParaRPr/>
          </a:p>
        </p:txBody>
      </p:sp>
      <p:sp>
        <p:nvSpPr>
          <p:cNvPr id="426" name="Google Shape;426;p1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c9c34271de_1_5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 name="Google Shape;433;g3c9c34271de_1_5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br>
              <a:rPr lang="en"/>
            </a:br>
            <a:r>
              <a:rPr lang="en"/>
              <a:t>DEMO (2 minutes)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Show interactions;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Open reviews - controlled vs creative</a:t>
            </a:r>
            <a:br>
              <a:rPr lang="en"/>
            </a:br>
            <a:endParaRPr/>
          </a:p>
        </p:txBody>
      </p:sp>
      <p:sp>
        <p:nvSpPr>
          <p:cNvPr id="434" name="Google Shape;434;g3c9c34271de_1_5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5"/>
          <p:cNvSpPr/>
          <p:nvPr/>
        </p:nvSpPr>
        <p:spPr>
          <a:xfrm rot="5400000">
            <a:off x="7500300" y="505"/>
            <a:ext cx="1643700" cy="1643700"/>
          </a:xfrm>
          <a:prstGeom prst="diagStripe">
            <a:avLst>
              <a:gd fmla="val 0" name="adj"/>
            </a:avLst>
          </a:prstGeom>
          <a:solidFill>
            <a:schemeClr val="lt1">
              <a:alpha val="3137"/>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4" name="Google Shape;14;p5"/>
          <p:cNvGrpSpPr/>
          <p:nvPr/>
        </p:nvGrpSpPr>
        <p:grpSpPr>
          <a:xfrm>
            <a:off x="0" y="490"/>
            <a:ext cx="5153705" cy="5134399"/>
            <a:chOff x="0" y="75"/>
            <a:chExt cx="5153705" cy="5152950"/>
          </a:xfrm>
        </p:grpSpPr>
        <p:sp>
          <p:nvSpPr>
            <p:cNvPr id="15" name="Google Shape;15;p5"/>
            <p:cNvSpPr/>
            <p:nvPr/>
          </p:nvSpPr>
          <p:spPr>
            <a:xfrm rot="-5400000">
              <a:off x="455" y="-225"/>
              <a:ext cx="5152800" cy="5153700"/>
            </a:xfrm>
            <a:prstGeom prst="diagStripe">
              <a:avLst>
                <a:gd fmla="val 50000" name="adj"/>
              </a:avLst>
            </a:prstGeom>
            <a:solidFill>
              <a:schemeClr val="lt1">
                <a:alpha val="3137"/>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5"/>
            <p:cNvSpPr/>
            <p:nvPr/>
          </p:nvSpPr>
          <p:spPr>
            <a:xfrm rot="-5400000">
              <a:off x="150" y="1145825"/>
              <a:ext cx="3996600" cy="3996900"/>
            </a:xfrm>
            <a:prstGeom prst="diagStripe">
              <a:avLst>
                <a:gd fmla="val 58774" name="adj"/>
              </a:avLst>
            </a:prstGeom>
            <a:solidFill>
              <a:schemeClr val="lt1">
                <a:alpha val="3137"/>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5"/>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5"/>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9" name="Google Shape;19;p5"/>
          <p:cNvSpPr txBox="1"/>
          <p:nvPr>
            <p:ph type="ctrTitle"/>
          </p:nvPr>
        </p:nvSpPr>
        <p:spPr>
          <a:xfrm>
            <a:off x="3537150" y="1578400"/>
            <a:ext cx="5017500" cy="1578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000"/>
              <a:buNone/>
              <a:defRPr sz="4000"/>
            </a:lvl1pPr>
            <a:lvl2pPr lvl="1" algn="l">
              <a:lnSpc>
                <a:spcPct val="100000"/>
              </a:lnSpc>
              <a:spcBef>
                <a:spcPts val="0"/>
              </a:spcBef>
              <a:spcAft>
                <a:spcPts val="0"/>
              </a:spcAft>
              <a:buSzPts val="4000"/>
              <a:buNone/>
              <a:defRPr sz="4000"/>
            </a:lvl2pPr>
            <a:lvl3pPr lvl="2" algn="l">
              <a:lnSpc>
                <a:spcPct val="100000"/>
              </a:lnSpc>
              <a:spcBef>
                <a:spcPts val="0"/>
              </a:spcBef>
              <a:spcAft>
                <a:spcPts val="0"/>
              </a:spcAft>
              <a:buSzPts val="4000"/>
              <a:buNone/>
              <a:defRPr sz="4000"/>
            </a:lvl3pPr>
            <a:lvl4pPr lvl="3" algn="l">
              <a:lnSpc>
                <a:spcPct val="100000"/>
              </a:lnSpc>
              <a:spcBef>
                <a:spcPts val="0"/>
              </a:spcBef>
              <a:spcAft>
                <a:spcPts val="0"/>
              </a:spcAft>
              <a:buSzPts val="4000"/>
              <a:buNone/>
              <a:defRPr sz="4000"/>
            </a:lvl4pPr>
            <a:lvl5pPr lvl="4" algn="l">
              <a:lnSpc>
                <a:spcPct val="100000"/>
              </a:lnSpc>
              <a:spcBef>
                <a:spcPts val="0"/>
              </a:spcBef>
              <a:spcAft>
                <a:spcPts val="0"/>
              </a:spcAft>
              <a:buSzPts val="4000"/>
              <a:buNone/>
              <a:defRPr sz="4000"/>
            </a:lvl5pPr>
            <a:lvl6pPr lvl="5" algn="l">
              <a:lnSpc>
                <a:spcPct val="100000"/>
              </a:lnSpc>
              <a:spcBef>
                <a:spcPts val="0"/>
              </a:spcBef>
              <a:spcAft>
                <a:spcPts val="0"/>
              </a:spcAft>
              <a:buSzPts val="4000"/>
              <a:buNone/>
              <a:defRPr sz="4000"/>
            </a:lvl6pPr>
            <a:lvl7pPr lvl="6" algn="l">
              <a:lnSpc>
                <a:spcPct val="100000"/>
              </a:lnSpc>
              <a:spcBef>
                <a:spcPts val="0"/>
              </a:spcBef>
              <a:spcAft>
                <a:spcPts val="0"/>
              </a:spcAft>
              <a:buSzPts val="4000"/>
              <a:buNone/>
              <a:defRPr sz="4000"/>
            </a:lvl7pPr>
            <a:lvl8pPr lvl="7" algn="l">
              <a:lnSpc>
                <a:spcPct val="100000"/>
              </a:lnSpc>
              <a:spcBef>
                <a:spcPts val="0"/>
              </a:spcBef>
              <a:spcAft>
                <a:spcPts val="0"/>
              </a:spcAft>
              <a:buSzPts val="4000"/>
              <a:buNone/>
              <a:defRPr sz="4000"/>
            </a:lvl8pPr>
            <a:lvl9pPr lvl="8" algn="l">
              <a:lnSpc>
                <a:spcPct val="100000"/>
              </a:lnSpc>
              <a:spcBef>
                <a:spcPts val="0"/>
              </a:spcBef>
              <a:spcAft>
                <a:spcPts val="0"/>
              </a:spcAft>
              <a:buSzPts val="4000"/>
              <a:buNone/>
              <a:defRPr sz="4000"/>
            </a:lvl9pPr>
          </a:lstStyle>
          <a:p/>
        </p:txBody>
      </p:sp>
      <p:sp>
        <p:nvSpPr>
          <p:cNvPr id="20" name="Google Shape;20;p5"/>
          <p:cNvSpPr txBox="1"/>
          <p:nvPr>
            <p:ph idx="1" type="subTitle"/>
          </p:nvPr>
        </p:nvSpPr>
        <p:spPr>
          <a:xfrm>
            <a:off x="5083950" y="3924925"/>
            <a:ext cx="3470700" cy="506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300"/>
              <a:buNone/>
              <a:defRPr/>
            </a:lvl1pPr>
            <a:lvl2pPr lvl="1" algn="l">
              <a:lnSpc>
                <a:spcPct val="100000"/>
              </a:lnSpc>
              <a:spcBef>
                <a:spcPts val="0"/>
              </a:spcBef>
              <a:spcAft>
                <a:spcPts val="0"/>
              </a:spcAft>
              <a:buSzPts val="1300"/>
              <a:buNone/>
              <a:defRPr sz="1300"/>
            </a:lvl2pPr>
            <a:lvl3pPr lvl="2" algn="l">
              <a:lnSpc>
                <a:spcPct val="100000"/>
              </a:lnSpc>
              <a:spcBef>
                <a:spcPts val="0"/>
              </a:spcBef>
              <a:spcAft>
                <a:spcPts val="0"/>
              </a:spcAft>
              <a:buSzPts val="1300"/>
              <a:buNone/>
              <a:defRPr sz="1300"/>
            </a:lvl3pPr>
            <a:lvl4pPr lvl="3" algn="l">
              <a:lnSpc>
                <a:spcPct val="100000"/>
              </a:lnSpc>
              <a:spcBef>
                <a:spcPts val="0"/>
              </a:spcBef>
              <a:spcAft>
                <a:spcPts val="0"/>
              </a:spcAft>
              <a:buSzPts val="1300"/>
              <a:buNone/>
              <a:defRPr sz="1300"/>
            </a:lvl4pPr>
            <a:lvl5pPr lvl="4" algn="l">
              <a:lnSpc>
                <a:spcPct val="100000"/>
              </a:lnSpc>
              <a:spcBef>
                <a:spcPts val="0"/>
              </a:spcBef>
              <a:spcAft>
                <a:spcPts val="0"/>
              </a:spcAft>
              <a:buSzPts val="1300"/>
              <a:buNone/>
              <a:defRPr sz="1300"/>
            </a:lvl5pPr>
            <a:lvl6pPr lvl="5" algn="l">
              <a:lnSpc>
                <a:spcPct val="100000"/>
              </a:lnSpc>
              <a:spcBef>
                <a:spcPts val="0"/>
              </a:spcBef>
              <a:spcAft>
                <a:spcPts val="0"/>
              </a:spcAft>
              <a:buSzPts val="1300"/>
              <a:buNone/>
              <a:defRPr sz="1300"/>
            </a:lvl6pPr>
            <a:lvl7pPr lvl="6" algn="l">
              <a:lnSpc>
                <a:spcPct val="100000"/>
              </a:lnSpc>
              <a:spcBef>
                <a:spcPts val="0"/>
              </a:spcBef>
              <a:spcAft>
                <a:spcPts val="0"/>
              </a:spcAft>
              <a:buSzPts val="1300"/>
              <a:buNone/>
              <a:defRPr sz="1300"/>
            </a:lvl7pPr>
            <a:lvl8pPr lvl="7" algn="l">
              <a:lnSpc>
                <a:spcPct val="100000"/>
              </a:lnSpc>
              <a:spcBef>
                <a:spcPts val="0"/>
              </a:spcBef>
              <a:spcAft>
                <a:spcPts val="0"/>
              </a:spcAft>
              <a:buSzPts val="1300"/>
              <a:buNone/>
              <a:defRPr sz="1300"/>
            </a:lvl8pPr>
            <a:lvl9pPr lvl="8" algn="l">
              <a:lnSpc>
                <a:spcPct val="100000"/>
              </a:lnSpc>
              <a:spcBef>
                <a:spcPts val="0"/>
              </a:spcBef>
              <a:spcAft>
                <a:spcPts val="0"/>
              </a:spcAft>
              <a:buSzPts val="1300"/>
              <a:buNone/>
              <a:defRPr sz="1300"/>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2" name="Shape 22"/>
        <p:cNvGrpSpPr/>
        <p:nvPr/>
      </p:nvGrpSpPr>
      <p:grpSpPr>
        <a:xfrm>
          <a:off x="0" y="0"/>
          <a:ext cx="0" cy="0"/>
          <a:chOff x="0" y="0"/>
          <a:chExt cx="0" cy="0"/>
        </a:xfrm>
      </p:grpSpPr>
      <p:grpSp>
        <p:nvGrpSpPr>
          <p:cNvPr id="23" name="Google Shape;23;p6"/>
          <p:cNvGrpSpPr/>
          <p:nvPr/>
        </p:nvGrpSpPr>
        <p:grpSpPr>
          <a:xfrm>
            <a:off x="4406400" y="0"/>
            <a:ext cx="4737600" cy="5143065"/>
            <a:chOff x="4406400" y="0"/>
            <a:chExt cx="4737600" cy="5143065"/>
          </a:xfrm>
        </p:grpSpPr>
        <p:sp>
          <p:nvSpPr>
            <p:cNvPr id="24" name="Google Shape;24;p6"/>
            <p:cNvSpPr/>
            <p:nvPr/>
          </p:nvSpPr>
          <p:spPr>
            <a:xfrm rot="5400000">
              <a:off x="4408200" y="-1800"/>
              <a:ext cx="4734000" cy="4737600"/>
            </a:xfrm>
            <a:prstGeom prst="diagStripe">
              <a:avLst>
                <a:gd fmla="val 49469"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6"/>
            <p:cNvSpPr/>
            <p:nvPr/>
          </p:nvSpPr>
          <p:spPr>
            <a:xfrm rot="5400000">
              <a:off x="4841125" y="5700"/>
              <a:ext cx="4298100" cy="4286700"/>
            </a:xfrm>
            <a:prstGeom prst="diagStripe">
              <a:avLst>
                <a:gd fmla="val 0"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6"/>
            <p:cNvSpPr/>
            <p:nvPr/>
          </p:nvSpPr>
          <p:spPr>
            <a:xfrm rot="-5400000">
              <a:off x="5618399" y="123646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6"/>
            <p:cNvSpPr/>
            <p:nvPr/>
          </p:nvSpPr>
          <p:spPr>
            <a:xfrm flipH="1">
              <a:off x="5849857" y="1443956"/>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6"/>
            <p:cNvSpPr/>
            <p:nvPr/>
          </p:nvSpPr>
          <p:spPr>
            <a:xfrm rot="-5400000">
              <a:off x="5987081" y="246946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6"/>
            <p:cNvSpPr/>
            <p:nvPr/>
          </p:nvSpPr>
          <p:spPr>
            <a:xfrm flipH="1">
              <a:off x="6222115" y="267695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6"/>
            <p:cNvSpPr/>
            <p:nvPr/>
          </p:nvSpPr>
          <p:spPr>
            <a:xfrm rot="-5400000">
              <a:off x="6675341" y="186201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6"/>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6"/>
            <p:cNvSpPr/>
            <p:nvPr/>
          </p:nvSpPr>
          <p:spPr>
            <a:xfrm rot="-5400000">
              <a:off x="6861141" y="2477810"/>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6"/>
            <p:cNvSpPr/>
            <p:nvPr/>
          </p:nvSpPr>
          <p:spPr>
            <a:xfrm flipH="1">
              <a:off x="7965266" y="269296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6"/>
            <p:cNvSpPr/>
            <p:nvPr/>
          </p:nvSpPr>
          <p:spPr>
            <a:xfrm flipH="1">
              <a:off x="8145082" y="330875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6"/>
            <p:cNvSpPr/>
            <p:nvPr/>
          </p:nvSpPr>
          <p:spPr>
            <a:xfrm rot="-5400000">
              <a:off x="7047599" y="309501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6"/>
            <p:cNvSpPr/>
            <p:nvPr/>
          </p:nvSpPr>
          <p:spPr>
            <a:xfrm flipH="1">
              <a:off x="7276649" y="3302502"/>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6"/>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6"/>
            <p:cNvSpPr/>
            <p:nvPr/>
          </p:nvSpPr>
          <p:spPr>
            <a:xfrm flipH="1">
              <a:off x="7462448" y="3918294"/>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6"/>
            <p:cNvSpPr/>
            <p:nvPr/>
          </p:nvSpPr>
          <p:spPr>
            <a:xfrm rot="-5400000">
              <a:off x="8102491" y="371847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6"/>
            <p:cNvSpPr/>
            <p:nvPr/>
          </p:nvSpPr>
          <p:spPr>
            <a:xfrm flipH="1">
              <a:off x="8334533" y="3925960"/>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6"/>
            <p:cNvSpPr/>
            <p:nvPr/>
          </p:nvSpPr>
          <p:spPr>
            <a:xfrm rot="-5400000">
              <a:off x="8288290" y="433426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2" name="Google Shape;42;p6"/>
          <p:cNvSpPr txBox="1"/>
          <p:nvPr>
            <p:ph type="title"/>
          </p:nvPr>
        </p:nvSpPr>
        <p:spPr>
          <a:xfrm>
            <a:off x="823850" y="2053000"/>
            <a:ext cx="4587000" cy="11487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3" name="Google Shape;43;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4" name="Shape 44"/>
        <p:cNvGrpSpPr/>
        <p:nvPr/>
      </p:nvGrpSpPr>
      <p:grpSpPr>
        <a:xfrm>
          <a:off x="0" y="0"/>
          <a:ext cx="0" cy="0"/>
          <a:chOff x="0" y="0"/>
          <a:chExt cx="0" cy="0"/>
        </a:xfrm>
      </p:grpSpPr>
      <p:grpSp>
        <p:nvGrpSpPr>
          <p:cNvPr id="45" name="Google Shape;45;p7"/>
          <p:cNvGrpSpPr/>
          <p:nvPr/>
        </p:nvGrpSpPr>
        <p:grpSpPr>
          <a:xfrm>
            <a:off x="0" y="381001"/>
            <a:ext cx="1037850" cy="1016288"/>
            <a:chOff x="0" y="381001"/>
            <a:chExt cx="1037850" cy="1016288"/>
          </a:xfrm>
        </p:grpSpPr>
        <p:sp>
          <p:nvSpPr>
            <p:cNvPr id="46" name="Google Shape;46;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8" name="Google Shape;48;p7"/>
          <p:cNvSpPr txBox="1"/>
          <p:nvPr>
            <p:ph type="title"/>
          </p:nvPr>
        </p:nvSpPr>
        <p:spPr>
          <a:xfrm>
            <a:off x="1297500" y="393750"/>
            <a:ext cx="7038900" cy="914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49" name="Google Shape;49;p7"/>
          <p:cNvSpPr txBox="1"/>
          <p:nvPr>
            <p:ph idx="1" type="body"/>
          </p:nvPr>
        </p:nvSpPr>
        <p:spPr>
          <a:xfrm>
            <a:off x="1297500" y="1567550"/>
            <a:ext cx="7038900" cy="29112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50" name="Google Shape;50;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1" name="Shape 51"/>
        <p:cNvGrpSpPr/>
        <p:nvPr/>
      </p:nvGrpSpPr>
      <p:grpSpPr>
        <a:xfrm>
          <a:off x="0" y="0"/>
          <a:ext cx="0" cy="0"/>
          <a:chOff x="0" y="0"/>
          <a:chExt cx="0" cy="0"/>
        </a:xfrm>
      </p:grpSpPr>
      <p:grpSp>
        <p:nvGrpSpPr>
          <p:cNvPr id="52" name="Google Shape;52;p8"/>
          <p:cNvGrpSpPr/>
          <p:nvPr/>
        </p:nvGrpSpPr>
        <p:grpSpPr>
          <a:xfrm>
            <a:off x="0" y="381001"/>
            <a:ext cx="1037850" cy="1016288"/>
            <a:chOff x="0" y="381001"/>
            <a:chExt cx="1037850" cy="1016288"/>
          </a:xfrm>
        </p:grpSpPr>
        <p:sp>
          <p:nvSpPr>
            <p:cNvPr id="53" name="Google Shape;53;p8"/>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8"/>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 name="Google Shape;55;p8"/>
          <p:cNvSpPr txBox="1"/>
          <p:nvPr>
            <p:ph type="title"/>
          </p:nvPr>
        </p:nvSpPr>
        <p:spPr>
          <a:xfrm>
            <a:off x="1297500" y="393750"/>
            <a:ext cx="7038900" cy="914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56" name="Google Shape;56;p8"/>
          <p:cNvSpPr txBox="1"/>
          <p:nvPr>
            <p:ph idx="1" type="body"/>
          </p:nvPr>
        </p:nvSpPr>
        <p:spPr>
          <a:xfrm>
            <a:off x="1297500" y="1567550"/>
            <a:ext cx="3403200" cy="29112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57" name="Google Shape;57;p8"/>
          <p:cNvSpPr txBox="1"/>
          <p:nvPr>
            <p:ph idx="2" type="body"/>
          </p:nvPr>
        </p:nvSpPr>
        <p:spPr>
          <a:xfrm>
            <a:off x="4933221" y="1567550"/>
            <a:ext cx="3403200" cy="29112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58" name="Google Shape;5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9" name="Shape 59"/>
        <p:cNvGrpSpPr/>
        <p:nvPr/>
      </p:nvGrpSpPr>
      <p:grpSpPr>
        <a:xfrm>
          <a:off x="0" y="0"/>
          <a:ext cx="0" cy="0"/>
          <a:chOff x="0" y="0"/>
          <a:chExt cx="0" cy="0"/>
        </a:xfrm>
      </p:grpSpPr>
      <p:grpSp>
        <p:nvGrpSpPr>
          <p:cNvPr id="60" name="Google Shape;60;p9"/>
          <p:cNvGrpSpPr/>
          <p:nvPr/>
        </p:nvGrpSpPr>
        <p:grpSpPr>
          <a:xfrm>
            <a:off x="0" y="381001"/>
            <a:ext cx="1037850" cy="1016288"/>
            <a:chOff x="0" y="381001"/>
            <a:chExt cx="1037850" cy="1016288"/>
          </a:xfrm>
        </p:grpSpPr>
        <p:sp>
          <p:nvSpPr>
            <p:cNvPr id="61" name="Google Shape;61;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 name="Google Shape;63;p9"/>
          <p:cNvSpPr txBox="1"/>
          <p:nvPr>
            <p:ph type="title"/>
          </p:nvPr>
        </p:nvSpPr>
        <p:spPr>
          <a:xfrm>
            <a:off x="1297500" y="393750"/>
            <a:ext cx="7038900" cy="914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64" name="Google Shape;6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5" name="Shape 65"/>
        <p:cNvGrpSpPr/>
        <p:nvPr/>
      </p:nvGrpSpPr>
      <p:grpSpPr>
        <a:xfrm>
          <a:off x="0" y="0"/>
          <a:ext cx="0" cy="0"/>
          <a:chOff x="0" y="0"/>
          <a:chExt cx="0" cy="0"/>
        </a:xfrm>
      </p:grpSpPr>
      <p:grpSp>
        <p:nvGrpSpPr>
          <p:cNvPr id="66" name="Google Shape;66;p10"/>
          <p:cNvGrpSpPr/>
          <p:nvPr/>
        </p:nvGrpSpPr>
        <p:grpSpPr>
          <a:xfrm>
            <a:off x="0" y="381001"/>
            <a:ext cx="1037850" cy="1016288"/>
            <a:chOff x="0" y="381001"/>
            <a:chExt cx="1037850" cy="1016288"/>
          </a:xfrm>
        </p:grpSpPr>
        <p:sp>
          <p:nvSpPr>
            <p:cNvPr id="67" name="Google Shape;67;p10"/>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10"/>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9" name="Google Shape;69;p10"/>
          <p:cNvSpPr txBox="1"/>
          <p:nvPr>
            <p:ph type="title"/>
          </p:nvPr>
        </p:nvSpPr>
        <p:spPr>
          <a:xfrm>
            <a:off x="1297500" y="393750"/>
            <a:ext cx="3798900" cy="1493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0" name="Google Shape;70;p10"/>
          <p:cNvSpPr txBox="1"/>
          <p:nvPr>
            <p:ph idx="1" type="body"/>
          </p:nvPr>
        </p:nvSpPr>
        <p:spPr>
          <a:xfrm>
            <a:off x="1297500" y="1972550"/>
            <a:ext cx="3798900" cy="24159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71" name="Google Shape;71;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2" name="Shape 72"/>
        <p:cNvGrpSpPr/>
        <p:nvPr/>
      </p:nvGrpSpPr>
      <p:grpSpPr>
        <a:xfrm>
          <a:off x="0" y="0"/>
          <a:ext cx="0" cy="0"/>
          <a:chOff x="0" y="0"/>
          <a:chExt cx="0" cy="0"/>
        </a:xfrm>
      </p:grpSpPr>
      <p:grpSp>
        <p:nvGrpSpPr>
          <p:cNvPr id="73" name="Google Shape;73;p11"/>
          <p:cNvGrpSpPr/>
          <p:nvPr/>
        </p:nvGrpSpPr>
        <p:grpSpPr>
          <a:xfrm>
            <a:off x="4406400" y="0"/>
            <a:ext cx="4737600" cy="5143500"/>
            <a:chOff x="4406400" y="0"/>
            <a:chExt cx="4737600" cy="5143500"/>
          </a:xfrm>
        </p:grpSpPr>
        <p:sp>
          <p:nvSpPr>
            <p:cNvPr id="74" name="Google Shape;74;p11"/>
            <p:cNvSpPr/>
            <p:nvPr/>
          </p:nvSpPr>
          <p:spPr>
            <a:xfrm rot="5400000">
              <a:off x="4407900" y="-1500"/>
              <a:ext cx="4734600" cy="4737600"/>
            </a:xfrm>
            <a:prstGeom prst="diagStripe">
              <a:avLst>
                <a:gd fmla="val 49469"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11"/>
            <p:cNvSpPr/>
            <p:nvPr/>
          </p:nvSpPr>
          <p:spPr>
            <a:xfrm rot="5400000">
              <a:off x="4840825" y="6000"/>
              <a:ext cx="4298700" cy="4286700"/>
            </a:xfrm>
            <a:prstGeom prst="diagStripe">
              <a:avLst>
                <a:gd fmla="val 0"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p:nvPr/>
          </p:nvSpPr>
          <p:spPr>
            <a:xfrm rot="-5400000">
              <a:off x="5618399" y="1236641"/>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1"/>
            <p:cNvSpPr/>
            <p:nvPr/>
          </p:nvSpPr>
          <p:spPr>
            <a:xfrm flipH="1">
              <a:off x="5849857" y="144407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 name="Google Shape;78;p11"/>
            <p:cNvSpPr/>
            <p:nvPr/>
          </p:nvSpPr>
          <p:spPr>
            <a:xfrm rot="-5400000">
              <a:off x="5987081" y="246974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11"/>
            <p:cNvSpPr/>
            <p:nvPr/>
          </p:nvSpPr>
          <p:spPr>
            <a:xfrm flipH="1">
              <a:off x="6222115" y="2677179"/>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1"/>
            <p:cNvSpPr/>
            <p:nvPr/>
          </p:nvSpPr>
          <p:spPr>
            <a:xfrm rot="-5400000">
              <a:off x="6675341" y="1862244"/>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1"/>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11"/>
            <p:cNvSpPr/>
            <p:nvPr/>
          </p:nvSpPr>
          <p:spPr>
            <a:xfrm rot="-5400000">
              <a:off x="6861141" y="247808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11"/>
            <p:cNvSpPr/>
            <p:nvPr/>
          </p:nvSpPr>
          <p:spPr>
            <a:xfrm flipH="1">
              <a:off x="7965266" y="2693191"/>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11"/>
            <p:cNvSpPr/>
            <p:nvPr/>
          </p:nvSpPr>
          <p:spPr>
            <a:xfrm flipH="1">
              <a:off x="8145082" y="3309036"/>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1"/>
            <p:cNvSpPr/>
            <p:nvPr/>
          </p:nvSpPr>
          <p:spPr>
            <a:xfrm rot="-5400000">
              <a:off x="7047599" y="309534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1"/>
            <p:cNvSpPr/>
            <p:nvPr/>
          </p:nvSpPr>
          <p:spPr>
            <a:xfrm flipH="1">
              <a:off x="7276649" y="3302781"/>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1"/>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 name="Google Shape;88;p11"/>
            <p:cNvSpPr/>
            <p:nvPr/>
          </p:nvSpPr>
          <p:spPr>
            <a:xfrm flipH="1">
              <a:off x="7462448" y="391862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 name="Google Shape;89;p11"/>
            <p:cNvSpPr/>
            <p:nvPr/>
          </p:nvSpPr>
          <p:spPr>
            <a:xfrm rot="-5400000">
              <a:off x="8102491" y="3718856"/>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 name="Google Shape;90;p11"/>
            <p:cNvSpPr/>
            <p:nvPr/>
          </p:nvSpPr>
          <p:spPr>
            <a:xfrm flipH="1">
              <a:off x="8334533" y="3926292"/>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11"/>
            <p:cNvSpPr/>
            <p:nvPr/>
          </p:nvSpPr>
          <p:spPr>
            <a:xfrm rot="-5400000">
              <a:off x="8288290" y="4334700"/>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2" name="Google Shape;92;p11"/>
          <p:cNvSpPr txBox="1"/>
          <p:nvPr>
            <p:ph type="title"/>
          </p:nvPr>
        </p:nvSpPr>
        <p:spPr>
          <a:xfrm>
            <a:off x="823850" y="866775"/>
            <a:ext cx="4587000" cy="35211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93" name="Google Shape;93;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4" name="Shape 94"/>
        <p:cNvGrpSpPr/>
        <p:nvPr/>
      </p:nvGrpSpPr>
      <p:grpSpPr>
        <a:xfrm>
          <a:off x="0" y="0"/>
          <a:ext cx="0" cy="0"/>
          <a:chOff x="0" y="0"/>
          <a:chExt cx="0" cy="0"/>
        </a:xfrm>
      </p:grpSpPr>
      <p:grpSp>
        <p:nvGrpSpPr>
          <p:cNvPr id="95" name="Google Shape;95;p12"/>
          <p:cNvGrpSpPr/>
          <p:nvPr/>
        </p:nvGrpSpPr>
        <p:grpSpPr>
          <a:xfrm>
            <a:off x="0" y="381001"/>
            <a:ext cx="1037850" cy="1016288"/>
            <a:chOff x="0" y="381001"/>
            <a:chExt cx="1037850" cy="1016288"/>
          </a:xfrm>
        </p:grpSpPr>
        <p:sp>
          <p:nvSpPr>
            <p:cNvPr id="96" name="Google Shape;96;p12"/>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2"/>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8" name="Google Shape;98;p12"/>
          <p:cNvSpPr txBox="1"/>
          <p:nvPr>
            <p:ph type="title"/>
          </p:nvPr>
        </p:nvSpPr>
        <p:spPr>
          <a:xfrm>
            <a:off x="1297500" y="1658325"/>
            <a:ext cx="3036300" cy="1751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99" name="Google Shape;99;p12"/>
          <p:cNvSpPr txBox="1"/>
          <p:nvPr>
            <p:ph idx="1" type="subTitle"/>
          </p:nvPr>
        </p:nvSpPr>
        <p:spPr>
          <a:xfrm>
            <a:off x="1297500" y="3538000"/>
            <a:ext cx="3036300" cy="5061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1300"/>
              <a:buNone/>
              <a:defRPr/>
            </a:lvl1pPr>
            <a:lvl2pPr lvl="1" algn="l">
              <a:lnSpc>
                <a:spcPct val="100000"/>
              </a:lnSpc>
              <a:spcBef>
                <a:spcPts val="0"/>
              </a:spcBef>
              <a:spcAft>
                <a:spcPts val="0"/>
              </a:spcAft>
              <a:buSzPts val="1300"/>
              <a:buNone/>
              <a:defRPr sz="1300"/>
            </a:lvl2pPr>
            <a:lvl3pPr lvl="2" algn="l">
              <a:lnSpc>
                <a:spcPct val="100000"/>
              </a:lnSpc>
              <a:spcBef>
                <a:spcPts val="0"/>
              </a:spcBef>
              <a:spcAft>
                <a:spcPts val="0"/>
              </a:spcAft>
              <a:buSzPts val="1300"/>
              <a:buNone/>
              <a:defRPr sz="1300"/>
            </a:lvl3pPr>
            <a:lvl4pPr lvl="3" algn="l">
              <a:lnSpc>
                <a:spcPct val="100000"/>
              </a:lnSpc>
              <a:spcBef>
                <a:spcPts val="0"/>
              </a:spcBef>
              <a:spcAft>
                <a:spcPts val="0"/>
              </a:spcAft>
              <a:buSzPts val="1300"/>
              <a:buNone/>
              <a:defRPr sz="1300"/>
            </a:lvl4pPr>
            <a:lvl5pPr lvl="4" algn="l">
              <a:lnSpc>
                <a:spcPct val="100000"/>
              </a:lnSpc>
              <a:spcBef>
                <a:spcPts val="0"/>
              </a:spcBef>
              <a:spcAft>
                <a:spcPts val="0"/>
              </a:spcAft>
              <a:buSzPts val="1300"/>
              <a:buNone/>
              <a:defRPr sz="1300"/>
            </a:lvl5pPr>
            <a:lvl6pPr lvl="5" algn="l">
              <a:lnSpc>
                <a:spcPct val="100000"/>
              </a:lnSpc>
              <a:spcBef>
                <a:spcPts val="0"/>
              </a:spcBef>
              <a:spcAft>
                <a:spcPts val="0"/>
              </a:spcAft>
              <a:buSzPts val="1300"/>
              <a:buNone/>
              <a:defRPr sz="1300"/>
            </a:lvl6pPr>
            <a:lvl7pPr lvl="6" algn="l">
              <a:lnSpc>
                <a:spcPct val="100000"/>
              </a:lnSpc>
              <a:spcBef>
                <a:spcPts val="0"/>
              </a:spcBef>
              <a:spcAft>
                <a:spcPts val="0"/>
              </a:spcAft>
              <a:buSzPts val="1300"/>
              <a:buNone/>
              <a:defRPr sz="1300"/>
            </a:lvl7pPr>
            <a:lvl8pPr lvl="7" algn="l">
              <a:lnSpc>
                <a:spcPct val="100000"/>
              </a:lnSpc>
              <a:spcBef>
                <a:spcPts val="0"/>
              </a:spcBef>
              <a:spcAft>
                <a:spcPts val="0"/>
              </a:spcAft>
              <a:buSzPts val="1300"/>
              <a:buNone/>
              <a:defRPr sz="1300"/>
            </a:lvl8pPr>
            <a:lvl9pPr lvl="8" algn="l">
              <a:lnSpc>
                <a:spcPct val="100000"/>
              </a:lnSpc>
              <a:spcBef>
                <a:spcPts val="0"/>
              </a:spcBef>
              <a:spcAft>
                <a:spcPts val="0"/>
              </a:spcAft>
              <a:buSzPts val="1300"/>
              <a:buNone/>
              <a:defRPr sz="1300"/>
            </a:lvl9pPr>
          </a:lstStyle>
          <a:p/>
        </p:txBody>
      </p:sp>
      <p:sp>
        <p:nvSpPr>
          <p:cNvPr id="100" name="Google Shape;100;p12"/>
          <p:cNvSpPr txBox="1"/>
          <p:nvPr>
            <p:ph idx="2" type="body"/>
          </p:nvPr>
        </p:nvSpPr>
        <p:spPr>
          <a:xfrm>
            <a:off x="4648200" y="1696600"/>
            <a:ext cx="3676800" cy="23475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101" name="Google Shape;101;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2" name="Shape 102"/>
        <p:cNvGrpSpPr/>
        <p:nvPr/>
      </p:nvGrpSpPr>
      <p:grpSpPr>
        <a:xfrm>
          <a:off x="0" y="0"/>
          <a:ext cx="0" cy="0"/>
          <a:chOff x="0" y="0"/>
          <a:chExt cx="0" cy="0"/>
        </a:xfrm>
      </p:grpSpPr>
      <p:grpSp>
        <p:nvGrpSpPr>
          <p:cNvPr id="103" name="Google Shape;103;p13"/>
          <p:cNvGrpSpPr/>
          <p:nvPr/>
        </p:nvGrpSpPr>
        <p:grpSpPr>
          <a:xfrm>
            <a:off x="0" y="4128572"/>
            <a:ext cx="698925" cy="684657"/>
            <a:chOff x="0" y="3785672"/>
            <a:chExt cx="698925" cy="684657"/>
          </a:xfrm>
        </p:grpSpPr>
        <p:sp>
          <p:nvSpPr>
            <p:cNvPr id="104" name="Google Shape;104;p13"/>
            <p:cNvSpPr/>
            <p:nvPr/>
          </p:nvSpPr>
          <p:spPr>
            <a:xfrm rot="-5400000">
              <a:off x="0" y="3785672"/>
              <a:ext cx="544800" cy="544800"/>
            </a:xfrm>
            <a:prstGeom prst="diagStripe">
              <a:avLst>
                <a:gd fmla="val 50000" name="adj"/>
              </a:avLst>
            </a:prstGeom>
            <a:solidFill>
              <a:schemeClr val="lt1">
                <a:alpha val="9803"/>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13"/>
            <p:cNvSpPr/>
            <p:nvPr/>
          </p:nvSpPr>
          <p:spPr>
            <a:xfrm flipH="1">
              <a:off x="154125" y="3925529"/>
              <a:ext cx="544800" cy="544800"/>
            </a:xfrm>
            <a:prstGeom prst="diagStripe">
              <a:avLst>
                <a:gd fmla="val 50000" name="adj"/>
              </a:avLst>
            </a:prstGeom>
            <a:solidFill>
              <a:schemeClr val="lt1">
                <a:alpha val="9803"/>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6" name="Google Shape;106;p13"/>
          <p:cNvSpPr txBox="1"/>
          <p:nvPr>
            <p:ph idx="1" type="body"/>
          </p:nvPr>
        </p:nvSpPr>
        <p:spPr>
          <a:xfrm>
            <a:off x="812725" y="4305375"/>
            <a:ext cx="6936000" cy="523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300"/>
              <a:buNone/>
              <a:defRPr/>
            </a:lvl1pPr>
          </a:lstStyle>
          <a:p/>
        </p:txBody>
      </p:sp>
      <p:sp>
        <p:nvSpPr>
          <p:cNvPr id="107" name="Google Shape;10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8" name="Shape 108"/>
        <p:cNvGrpSpPr/>
        <p:nvPr/>
      </p:nvGrpSpPr>
      <p:grpSpPr>
        <a:xfrm>
          <a:off x="0" y="0"/>
          <a:ext cx="0" cy="0"/>
          <a:chOff x="0" y="0"/>
          <a:chExt cx="0" cy="0"/>
        </a:xfrm>
      </p:grpSpPr>
      <p:grpSp>
        <p:nvGrpSpPr>
          <p:cNvPr id="109" name="Google Shape;109;p14"/>
          <p:cNvGrpSpPr/>
          <p:nvPr/>
        </p:nvGrpSpPr>
        <p:grpSpPr>
          <a:xfrm>
            <a:off x="4406400" y="0"/>
            <a:ext cx="4737600" cy="5143065"/>
            <a:chOff x="4406400" y="0"/>
            <a:chExt cx="4737600" cy="5143065"/>
          </a:xfrm>
        </p:grpSpPr>
        <p:sp>
          <p:nvSpPr>
            <p:cNvPr id="110" name="Google Shape;110;p14"/>
            <p:cNvSpPr/>
            <p:nvPr/>
          </p:nvSpPr>
          <p:spPr>
            <a:xfrm rot="5400000">
              <a:off x="4408200" y="-1800"/>
              <a:ext cx="4734000" cy="4737600"/>
            </a:xfrm>
            <a:prstGeom prst="diagStripe">
              <a:avLst>
                <a:gd fmla="val 49469"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14"/>
            <p:cNvSpPr/>
            <p:nvPr/>
          </p:nvSpPr>
          <p:spPr>
            <a:xfrm rot="5400000">
              <a:off x="4841125" y="5700"/>
              <a:ext cx="4298100" cy="4286700"/>
            </a:xfrm>
            <a:prstGeom prst="diagStripe">
              <a:avLst>
                <a:gd fmla="val 0" name="adj"/>
              </a:avLst>
            </a:prstGeom>
            <a:solidFill>
              <a:schemeClr val="lt1">
                <a:alpha val="3529"/>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14"/>
            <p:cNvSpPr/>
            <p:nvPr/>
          </p:nvSpPr>
          <p:spPr>
            <a:xfrm rot="-5400000">
              <a:off x="5618399" y="123646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14"/>
            <p:cNvSpPr/>
            <p:nvPr/>
          </p:nvSpPr>
          <p:spPr>
            <a:xfrm flipH="1">
              <a:off x="5849857" y="1443956"/>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14"/>
            <p:cNvSpPr/>
            <p:nvPr/>
          </p:nvSpPr>
          <p:spPr>
            <a:xfrm rot="-5400000">
              <a:off x="5987081" y="246946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14"/>
            <p:cNvSpPr/>
            <p:nvPr/>
          </p:nvSpPr>
          <p:spPr>
            <a:xfrm flipH="1">
              <a:off x="6222115" y="267695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14"/>
            <p:cNvSpPr/>
            <p:nvPr/>
          </p:nvSpPr>
          <p:spPr>
            <a:xfrm rot="-5400000">
              <a:off x="6675341" y="1862018"/>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14"/>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14"/>
            <p:cNvSpPr/>
            <p:nvPr/>
          </p:nvSpPr>
          <p:spPr>
            <a:xfrm rot="-5400000">
              <a:off x="6861141" y="2477810"/>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14"/>
            <p:cNvSpPr/>
            <p:nvPr/>
          </p:nvSpPr>
          <p:spPr>
            <a:xfrm flipH="1">
              <a:off x="7965266" y="269296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14"/>
            <p:cNvSpPr/>
            <p:nvPr/>
          </p:nvSpPr>
          <p:spPr>
            <a:xfrm flipH="1">
              <a:off x="8145082" y="330875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 name="Google Shape;121;p14"/>
            <p:cNvSpPr/>
            <p:nvPr/>
          </p:nvSpPr>
          <p:spPr>
            <a:xfrm rot="-5400000">
              <a:off x="7047599" y="309501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p14"/>
            <p:cNvSpPr/>
            <p:nvPr/>
          </p:nvSpPr>
          <p:spPr>
            <a:xfrm flipH="1">
              <a:off x="7276649" y="3302502"/>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p14"/>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 name="Google Shape;124;p14"/>
            <p:cNvSpPr/>
            <p:nvPr/>
          </p:nvSpPr>
          <p:spPr>
            <a:xfrm flipH="1">
              <a:off x="7462448" y="3918294"/>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14"/>
            <p:cNvSpPr/>
            <p:nvPr/>
          </p:nvSpPr>
          <p:spPr>
            <a:xfrm rot="-5400000">
              <a:off x="8102491" y="3718473"/>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p14"/>
            <p:cNvSpPr/>
            <p:nvPr/>
          </p:nvSpPr>
          <p:spPr>
            <a:xfrm flipH="1">
              <a:off x="8334533" y="3925960"/>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p14"/>
            <p:cNvSpPr/>
            <p:nvPr/>
          </p:nvSpPr>
          <p:spPr>
            <a:xfrm rot="-5400000">
              <a:off x="8288290" y="4334265"/>
              <a:ext cx="808800" cy="808800"/>
            </a:xfrm>
            <a:prstGeom prst="diagStripe">
              <a:avLst>
                <a:gd fmla="val 50000" name="adj"/>
              </a:avLst>
            </a:prstGeom>
            <a:solidFill>
              <a:schemeClr val="lt1">
                <a:alpha val="745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8" name="Google Shape;128;p14"/>
          <p:cNvSpPr txBox="1"/>
          <p:nvPr>
            <p:ph hasCustomPrompt="1" type="title"/>
          </p:nvPr>
        </p:nvSpPr>
        <p:spPr>
          <a:xfrm>
            <a:off x="823850" y="1284675"/>
            <a:ext cx="4776000" cy="1300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8000"/>
              <a:buNone/>
              <a:defRPr sz="8000"/>
            </a:lvl1pPr>
            <a:lvl2pPr lvl="1" algn="l">
              <a:lnSpc>
                <a:spcPct val="100000"/>
              </a:lnSpc>
              <a:spcBef>
                <a:spcPts val="0"/>
              </a:spcBef>
              <a:spcAft>
                <a:spcPts val="0"/>
              </a:spcAft>
              <a:buSzPts val="8000"/>
              <a:buNone/>
              <a:defRPr sz="8000"/>
            </a:lvl2pPr>
            <a:lvl3pPr lvl="2" algn="l">
              <a:lnSpc>
                <a:spcPct val="100000"/>
              </a:lnSpc>
              <a:spcBef>
                <a:spcPts val="0"/>
              </a:spcBef>
              <a:spcAft>
                <a:spcPts val="0"/>
              </a:spcAft>
              <a:buSzPts val="8000"/>
              <a:buNone/>
              <a:defRPr sz="8000"/>
            </a:lvl3pPr>
            <a:lvl4pPr lvl="3" algn="l">
              <a:lnSpc>
                <a:spcPct val="100000"/>
              </a:lnSpc>
              <a:spcBef>
                <a:spcPts val="0"/>
              </a:spcBef>
              <a:spcAft>
                <a:spcPts val="0"/>
              </a:spcAft>
              <a:buSzPts val="8000"/>
              <a:buNone/>
              <a:defRPr sz="8000"/>
            </a:lvl4pPr>
            <a:lvl5pPr lvl="4" algn="l">
              <a:lnSpc>
                <a:spcPct val="100000"/>
              </a:lnSpc>
              <a:spcBef>
                <a:spcPts val="0"/>
              </a:spcBef>
              <a:spcAft>
                <a:spcPts val="0"/>
              </a:spcAft>
              <a:buSzPts val="8000"/>
              <a:buNone/>
              <a:defRPr sz="8000"/>
            </a:lvl5pPr>
            <a:lvl6pPr lvl="5" algn="l">
              <a:lnSpc>
                <a:spcPct val="100000"/>
              </a:lnSpc>
              <a:spcBef>
                <a:spcPts val="0"/>
              </a:spcBef>
              <a:spcAft>
                <a:spcPts val="0"/>
              </a:spcAft>
              <a:buSzPts val="8000"/>
              <a:buNone/>
              <a:defRPr sz="8000"/>
            </a:lvl6pPr>
            <a:lvl7pPr lvl="6" algn="l">
              <a:lnSpc>
                <a:spcPct val="100000"/>
              </a:lnSpc>
              <a:spcBef>
                <a:spcPts val="0"/>
              </a:spcBef>
              <a:spcAft>
                <a:spcPts val="0"/>
              </a:spcAft>
              <a:buSzPts val="8000"/>
              <a:buNone/>
              <a:defRPr sz="8000"/>
            </a:lvl7pPr>
            <a:lvl8pPr lvl="7" algn="l">
              <a:lnSpc>
                <a:spcPct val="100000"/>
              </a:lnSpc>
              <a:spcBef>
                <a:spcPts val="0"/>
              </a:spcBef>
              <a:spcAft>
                <a:spcPts val="0"/>
              </a:spcAft>
              <a:buSzPts val="8000"/>
              <a:buNone/>
              <a:defRPr sz="8000"/>
            </a:lvl8pPr>
            <a:lvl9pPr lvl="8" algn="l">
              <a:lnSpc>
                <a:spcPct val="100000"/>
              </a:lnSpc>
              <a:spcBef>
                <a:spcPts val="0"/>
              </a:spcBef>
              <a:spcAft>
                <a:spcPts val="0"/>
              </a:spcAft>
              <a:buSzPts val="8000"/>
              <a:buNone/>
              <a:defRPr sz="8000"/>
            </a:lvl9pPr>
          </a:lstStyle>
          <a:p>
            <a:r>
              <a:t>xx%</a:t>
            </a:r>
          </a:p>
        </p:txBody>
      </p:sp>
      <p:sp>
        <p:nvSpPr>
          <p:cNvPr id="129" name="Google Shape;129;p14"/>
          <p:cNvSpPr txBox="1"/>
          <p:nvPr>
            <p:ph idx="1" type="body"/>
          </p:nvPr>
        </p:nvSpPr>
        <p:spPr>
          <a:xfrm>
            <a:off x="823850" y="2643124"/>
            <a:ext cx="4776000" cy="1218900"/>
          </a:xfrm>
          <a:prstGeom prst="rect">
            <a:avLst/>
          </a:prstGeom>
          <a:noFill/>
          <a:ln>
            <a:noFill/>
          </a:ln>
        </p:spPr>
        <p:txBody>
          <a:bodyPr anchorCtr="0" anchor="t" bIns="91425" lIns="91425" spcFirstLastPara="1" rIns="91425" wrap="square" tIns="91425">
            <a:normAutofit/>
          </a:bodyPr>
          <a:lstStyle>
            <a:lvl1pPr indent="-311150" lvl="0" marL="457200" algn="l">
              <a:lnSpc>
                <a:spcPct val="115000"/>
              </a:lnSpc>
              <a:spcBef>
                <a:spcPts val="0"/>
              </a:spcBef>
              <a:spcAft>
                <a:spcPts val="0"/>
              </a:spcAft>
              <a:buSzPts val="1300"/>
              <a:buChar char="●"/>
              <a:defRPr/>
            </a:lvl1pPr>
            <a:lvl2pPr indent="-298450" lvl="1" marL="914400" algn="l">
              <a:lnSpc>
                <a:spcPct val="115000"/>
              </a:lnSpc>
              <a:spcBef>
                <a:spcPts val="0"/>
              </a:spcBef>
              <a:spcAft>
                <a:spcPts val="0"/>
              </a:spcAft>
              <a:buSzPts val="1100"/>
              <a:buChar char="○"/>
              <a:defRPr/>
            </a:lvl2pPr>
            <a:lvl3pPr indent="-298450" lvl="2" marL="1371600" algn="l">
              <a:lnSpc>
                <a:spcPct val="115000"/>
              </a:lnSpc>
              <a:spcBef>
                <a:spcPts val="0"/>
              </a:spcBef>
              <a:spcAft>
                <a:spcPts val="0"/>
              </a:spcAft>
              <a:buSzPts val="1100"/>
              <a:buChar char="■"/>
              <a:defRPr/>
            </a:lvl3pPr>
            <a:lvl4pPr indent="-298450" lvl="3" marL="1828800" algn="l">
              <a:lnSpc>
                <a:spcPct val="115000"/>
              </a:lnSpc>
              <a:spcBef>
                <a:spcPts val="0"/>
              </a:spcBef>
              <a:spcAft>
                <a:spcPts val="0"/>
              </a:spcAft>
              <a:buSzPts val="1100"/>
              <a:buChar char="●"/>
              <a:defRPr/>
            </a:lvl4pPr>
            <a:lvl5pPr indent="-298450" lvl="4" marL="2286000" algn="l">
              <a:lnSpc>
                <a:spcPct val="115000"/>
              </a:lnSpc>
              <a:spcBef>
                <a:spcPts val="0"/>
              </a:spcBef>
              <a:spcAft>
                <a:spcPts val="0"/>
              </a:spcAft>
              <a:buSzPts val="1100"/>
              <a:buChar char="○"/>
              <a:defRPr/>
            </a:lvl5pPr>
            <a:lvl6pPr indent="-298450" lvl="5" marL="2743200" algn="l">
              <a:lnSpc>
                <a:spcPct val="115000"/>
              </a:lnSpc>
              <a:spcBef>
                <a:spcPts val="0"/>
              </a:spcBef>
              <a:spcAft>
                <a:spcPts val="0"/>
              </a:spcAft>
              <a:buSzPts val="1100"/>
              <a:buChar char="■"/>
              <a:defRPr/>
            </a:lvl6pPr>
            <a:lvl7pPr indent="-298450" lvl="6" marL="3200400" algn="l">
              <a:lnSpc>
                <a:spcPct val="115000"/>
              </a:lnSpc>
              <a:spcBef>
                <a:spcPts val="0"/>
              </a:spcBef>
              <a:spcAft>
                <a:spcPts val="0"/>
              </a:spcAft>
              <a:buSzPts val="1100"/>
              <a:buChar char="●"/>
              <a:defRPr/>
            </a:lvl7pPr>
            <a:lvl8pPr indent="-298450" lvl="7" marL="3657600" algn="l">
              <a:lnSpc>
                <a:spcPct val="115000"/>
              </a:lnSpc>
              <a:spcBef>
                <a:spcPts val="0"/>
              </a:spcBef>
              <a:spcAft>
                <a:spcPts val="0"/>
              </a:spcAft>
              <a:buSzPts val="1100"/>
              <a:buChar char="○"/>
              <a:defRPr/>
            </a:lvl8pPr>
            <a:lvl9pPr indent="-298450" lvl="8" marL="4114800" algn="l">
              <a:lnSpc>
                <a:spcPct val="115000"/>
              </a:lnSpc>
              <a:spcBef>
                <a:spcPts val="0"/>
              </a:spcBef>
              <a:spcAft>
                <a:spcPts val="0"/>
              </a:spcAft>
              <a:buSzPts val="1100"/>
              <a:buChar char="■"/>
              <a:defRPr/>
            </a:lvl9pPr>
          </a:lstStyle>
          <a:p/>
        </p:txBody>
      </p:sp>
      <p:sp>
        <p:nvSpPr>
          <p:cNvPr id="130" name="Google Shape;130;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1" name="Shape 131"/>
        <p:cNvGrpSpPr/>
        <p:nvPr/>
      </p:nvGrpSpPr>
      <p:grpSpPr>
        <a:xfrm>
          <a:off x="0" y="0"/>
          <a:ext cx="0" cy="0"/>
          <a:chOff x="0" y="0"/>
          <a:chExt cx="0" cy="0"/>
        </a:xfrm>
      </p:grpSpPr>
      <p:sp>
        <p:nvSpPr>
          <p:cNvPr id="132" name="Google Shape;132;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12.xml"/><Relationship Id="rId10" Type="http://schemas.openxmlformats.org/officeDocument/2006/relationships/slideLayout" Target="../slideLayouts/slideLayout11.xml"/><Relationship Id="rId13" Type="http://schemas.openxmlformats.org/officeDocument/2006/relationships/theme" Target="../theme/theme3.xml"/><Relationship Id="rId12" Type="http://schemas.openxmlformats.org/officeDocument/2006/relationships/slideLayout" Target="../slideLayouts/slideLayout13.xml"/><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7" name="Shape 7"/>
        <p:cNvGrpSpPr/>
        <p:nvPr/>
      </p:nvGrpSpPr>
      <p:grpSpPr>
        <a:xfrm>
          <a:off x="0" y="0"/>
          <a:ext cx="0" cy="0"/>
          <a:chOff x="0" y="0"/>
          <a:chExt cx="0" cy="0"/>
        </a:xfrm>
      </p:grpSpPr>
      <p:sp>
        <p:nvSpPr>
          <p:cNvPr id="8" name="Google Shape;8;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1pPr>
            <a:lvl2pPr lvl="1"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2pPr>
            <a:lvl3pPr lvl="2"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3pPr>
            <a:lvl4pPr lvl="3"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4pPr>
            <a:lvl5pPr lvl="4"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5pPr>
            <a:lvl6pPr lvl="5"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6pPr>
            <a:lvl7pPr lvl="6"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7pPr>
            <a:lvl8pPr lvl="7"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8pPr>
            <a:lvl9pPr lvl="8" marR="0" rtl="0" algn="l">
              <a:lnSpc>
                <a:spcPct val="100000"/>
              </a:lnSpc>
              <a:spcBef>
                <a:spcPts val="0"/>
              </a:spcBef>
              <a:spcAft>
                <a:spcPts val="0"/>
              </a:spcAft>
              <a:buClr>
                <a:schemeClr val="lt1"/>
              </a:buClr>
              <a:buSzPts val="2800"/>
              <a:buFont typeface="Montserrat"/>
              <a:buNone/>
              <a:defRPr b="0" i="0" sz="2800" u="none" cap="none" strike="noStrike">
                <a:solidFill>
                  <a:schemeClr val="lt1"/>
                </a:solidFill>
                <a:latin typeface="Montserrat"/>
                <a:ea typeface="Montserrat"/>
                <a:cs typeface="Montserrat"/>
                <a:sym typeface="Montserrat"/>
              </a:defRPr>
            </a:lvl9pPr>
          </a:lstStyle>
          <a:p/>
        </p:txBody>
      </p:sp>
      <p:sp>
        <p:nvSpPr>
          <p:cNvPr id="9" name="Google Shape;9;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marR="0" rtl="0" algn="l">
              <a:lnSpc>
                <a:spcPct val="115000"/>
              </a:lnSpc>
              <a:spcBef>
                <a:spcPts val="0"/>
              </a:spcBef>
              <a:spcAft>
                <a:spcPts val="0"/>
              </a:spcAft>
              <a:buClr>
                <a:schemeClr val="lt1"/>
              </a:buClr>
              <a:buSzPts val="1300"/>
              <a:buFont typeface="Lato"/>
              <a:buChar char="●"/>
              <a:defRPr b="0" i="0" sz="1300" u="none" cap="none" strike="noStrike">
                <a:solidFill>
                  <a:schemeClr val="lt1"/>
                </a:solidFill>
                <a:latin typeface="Lato"/>
                <a:ea typeface="Lato"/>
                <a:cs typeface="Lato"/>
                <a:sym typeface="Lato"/>
              </a:defRPr>
            </a:lvl1pPr>
            <a:lvl2pPr indent="-298450" lvl="1" marL="9144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2pPr>
            <a:lvl3pPr indent="-298450" lvl="2" marL="13716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3pPr>
            <a:lvl4pPr indent="-298450" lvl="3" marL="18288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4pPr>
            <a:lvl5pPr indent="-298450" lvl="4" marL="22860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5pPr>
            <a:lvl6pPr indent="-298450" lvl="5" marL="27432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6pPr>
            <a:lvl7pPr indent="-298450" lvl="6" marL="32004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7pPr>
            <a:lvl8pPr indent="-298450" lvl="7" marL="36576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8pPr>
            <a:lvl9pPr indent="-298450" lvl="8" marL="4114800" marR="0" rtl="0" algn="l">
              <a:lnSpc>
                <a:spcPct val="115000"/>
              </a:lnSpc>
              <a:spcBef>
                <a:spcPts val="0"/>
              </a:spcBef>
              <a:spcAft>
                <a:spcPts val="0"/>
              </a:spcAft>
              <a:buClr>
                <a:schemeClr val="lt1"/>
              </a:buClr>
              <a:buSzPts val="1100"/>
              <a:buFont typeface="Lato"/>
              <a:buChar char="■"/>
              <a:defRPr b="0" i="0" sz="1100" u="none" cap="none" strike="noStrike">
                <a:solidFill>
                  <a:schemeClr val="lt1"/>
                </a:solidFill>
                <a:latin typeface="Lato"/>
                <a:ea typeface="Lato"/>
                <a:cs typeface="Lato"/>
                <a:sym typeface="Lato"/>
              </a:defRPr>
            </a:lvl9pPr>
          </a:lstStyle>
          <a:p/>
        </p:txBody>
      </p:sp>
      <p:sp>
        <p:nvSpPr>
          <p:cNvPr id="10" name="Google Shape;10;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automated-customer-reviews.netlify.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37" name="Shape 137"/>
        <p:cNvGrpSpPr/>
        <p:nvPr/>
      </p:nvGrpSpPr>
      <p:grpSpPr>
        <a:xfrm>
          <a:off x="0" y="0"/>
          <a:ext cx="0" cy="0"/>
          <a:chOff x="0" y="0"/>
          <a:chExt cx="0" cy="0"/>
        </a:xfrm>
      </p:grpSpPr>
      <p:sp>
        <p:nvSpPr>
          <p:cNvPr id="138" name="Google Shape;138;p16"/>
          <p:cNvSpPr/>
          <p:nvPr/>
        </p:nvSpPr>
        <p:spPr>
          <a:xfrm>
            <a:off x="1204525" y="1337313"/>
            <a:ext cx="6795300" cy="13716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5400"/>
              <a:buFont typeface="Calibri"/>
              <a:buNone/>
            </a:pPr>
            <a:r>
              <a:rPr b="1" i="0" lang="en" sz="3900" u="none" cap="none" strike="noStrike">
                <a:solidFill>
                  <a:srgbClr val="FFFFFF"/>
                </a:solidFill>
                <a:latin typeface="Calibri"/>
                <a:ea typeface="Calibri"/>
                <a:cs typeface="Calibri"/>
                <a:sym typeface="Calibri"/>
              </a:rPr>
              <a:t>Automated Customer Reviews</a:t>
            </a:r>
            <a:endParaRPr b="0" i="0" sz="3900" u="none" cap="none" strike="noStrike">
              <a:solidFill>
                <a:schemeClr val="dk1"/>
              </a:solidFill>
              <a:latin typeface="Calibri"/>
              <a:ea typeface="Calibri"/>
              <a:cs typeface="Calibri"/>
              <a:sym typeface="Calibri"/>
            </a:endParaRPr>
          </a:p>
        </p:txBody>
      </p:sp>
      <p:sp>
        <p:nvSpPr>
          <p:cNvPr id="139" name="Google Shape;139;p16"/>
          <p:cNvSpPr/>
          <p:nvPr/>
        </p:nvSpPr>
        <p:spPr>
          <a:xfrm>
            <a:off x="457200" y="2526039"/>
            <a:ext cx="8229600" cy="70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2400"/>
              <a:buFont typeface="Calibri"/>
              <a:buNone/>
            </a:pPr>
            <a:r>
              <a:rPr b="0" i="0" lang="en" sz="2400" u="none" cap="none" strike="noStrike">
                <a:solidFill>
                  <a:srgbClr val="CADCFC"/>
                </a:solidFill>
                <a:latin typeface="Calibri"/>
                <a:ea typeface="Calibri"/>
                <a:cs typeface="Calibri"/>
                <a:sym typeface="Calibri"/>
              </a:rPr>
              <a:t>Group 8 </a:t>
            </a:r>
            <a:endParaRPr b="0" i="0" sz="2400" u="none" cap="none" strike="noStrike">
              <a:solidFill>
                <a:srgbClr val="CADCFC"/>
              </a:solidFill>
              <a:latin typeface="Calibri"/>
              <a:ea typeface="Calibri"/>
              <a:cs typeface="Calibri"/>
              <a:sym typeface="Calibri"/>
            </a:endParaRPr>
          </a:p>
          <a:p>
            <a:pPr indent="0" lvl="0" marL="0" marR="0" rtl="0" algn="ctr">
              <a:lnSpc>
                <a:spcPct val="100000"/>
              </a:lnSpc>
              <a:spcBef>
                <a:spcPts val="0"/>
              </a:spcBef>
              <a:spcAft>
                <a:spcPts val="0"/>
              </a:spcAft>
              <a:buClr>
                <a:srgbClr val="CADCFC"/>
              </a:buClr>
              <a:buSzPts val="2400"/>
              <a:buFont typeface="Calibri"/>
              <a:buNone/>
            </a:pPr>
            <a:r>
              <a:rPr b="0" i="0" lang="en" sz="2400" u="none" cap="none" strike="noStrike">
                <a:solidFill>
                  <a:srgbClr val="CADCFC"/>
                </a:solidFill>
                <a:latin typeface="Calibri"/>
                <a:ea typeface="Calibri"/>
                <a:cs typeface="Calibri"/>
                <a:sym typeface="Calibri"/>
              </a:rPr>
              <a:t>Marcos Sousa</a:t>
            </a:r>
            <a:endParaRPr b="0" i="0" sz="2400" u="none" cap="none" strike="noStrike">
              <a:solidFill>
                <a:srgbClr val="CADCFC"/>
              </a:solidFill>
              <a:latin typeface="Calibri"/>
              <a:ea typeface="Calibri"/>
              <a:cs typeface="Calibri"/>
              <a:sym typeface="Calibri"/>
            </a:endParaRPr>
          </a:p>
        </p:txBody>
      </p:sp>
      <p:sp>
        <p:nvSpPr>
          <p:cNvPr id="140" name="Google Shape;140;p16"/>
          <p:cNvSpPr/>
          <p:nvPr/>
        </p:nvSpPr>
        <p:spPr>
          <a:xfrm>
            <a:off x="457200" y="3348993"/>
            <a:ext cx="8229600" cy="457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1600"/>
              <a:buFont typeface="Calibri"/>
              <a:buNone/>
            </a:pPr>
            <a:r>
              <a:rPr b="0" i="1" lang="en" sz="1600" u="none" cap="none" strike="noStrike">
                <a:solidFill>
                  <a:srgbClr val="CADCFC"/>
                </a:solidFill>
                <a:latin typeface="Calibri"/>
                <a:ea typeface="Calibri"/>
                <a:cs typeface="Calibri"/>
                <a:sym typeface="Calibri"/>
              </a:rPr>
              <a:t>Sentiment Analysis • Product Clustering • LLM Summarization</a:t>
            </a:r>
            <a:endParaRPr b="0" i="0" sz="1600" u="none" cap="none" strike="noStrike">
              <a:solidFill>
                <a:schemeClr val="dk1"/>
              </a:solidFill>
              <a:latin typeface="Calibri"/>
              <a:ea typeface="Calibri"/>
              <a:cs typeface="Calibri"/>
              <a:sym typeface="Calibri"/>
            </a:endParaRPr>
          </a:p>
        </p:txBody>
      </p:sp>
      <p:sp>
        <p:nvSpPr>
          <p:cNvPr id="141" name="Google Shape;141;p16"/>
          <p:cNvSpPr/>
          <p:nvPr/>
        </p:nvSpPr>
        <p:spPr>
          <a:xfrm>
            <a:off x="457200" y="6217920"/>
            <a:ext cx="82296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1200"/>
              <a:buFont typeface="Calibri"/>
              <a:buNone/>
            </a:pPr>
            <a:r>
              <a:rPr b="0" i="0" lang="en" sz="1200" u="none" cap="none" strike="noStrike">
                <a:solidFill>
                  <a:srgbClr val="CADCFC"/>
                </a:solidFill>
                <a:latin typeface="Calibri"/>
                <a:ea typeface="Calibri"/>
                <a:cs typeface="Calibri"/>
                <a:sym typeface="Calibri"/>
              </a:rPr>
              <a:t>Ironhack AI Engineering Bootcamp | February 2025</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46" name="Shape 146"/>
        <p:cNvGrpSpPr/>
        <p:nvPr/>
      </p:nvGrpSpPr>
      <p:grpSpPr>
        <a:xfrm>
          <a:off x="0" y="0"/>
          <a:ext cx="0" cy="0"/>
          <a:chOff x="0" y="0"/>
          <a:chExt cx="0" cy="0"/>
        </a:xfrm>
      </p:grpSpPr>
      <p:sp>
        <p:nvSpPr>
          <p:cNvPr id="147" name="Google Shape;147;p17"/>
          <p:cNvSpPr/>
          <p:nvPr/>
        </p:nvSpPr>
        <p:spPr>
          <a:xfrm>
            <a:off x="457200" y="423480"/>
            <a:ext cx="8229600" cy="5487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4000"/>
              <a:buFont typeface="Calibri"/>
              <a:buNone/>
            </a:pPr>
            <a:r>
              <a:rPr b="1" i="0" lang="en" sz="4000" u="none" cap="none" strike="noStrike">
                <a:solidFill>
                  <a:srgbClr val="FFFFFF"/>
                </a:solidFill>
                <a:latin typeface="Calibri"/>
                <a:ea typeface="Calibri"/>
                <a:cs typeface="Calibri"/>
                <a:sym typeface="Calibri"/>
              </a:rPr>
              <a:t>Results Summary</a:t>
            </a:r>
            <a:endParaRPr b="0" i="0" sz="4000" u="none" cap="none" strike="noStrike">
              <a:solidFill>
                <a:schemeClr val="dk1"/>
              </a:solidFill>
              <a:latin typeface="Calibri"/>
              <a:ea typeface="Calibri"/>
              <a:cs typeface="Calibri"/>
              <a:sym typeface="Calibri"/>
            </a:endParaRPr>
          </a:p>
        </p:txBody>
      </p:sp>
      <p:sp>
        <p:nvSpPr>
          <p:cNvPr id="148" name="Google Shape;148;p17"/>
          <p:cNvSpPr/>
          <p:nvPr/>
        </p:nvSpPr>
        <p:spPr>
          <a:xfrm>
            <a:off x="815025" y="1095450"/>
            <a:ext cx="2271600" cy="3320100"/>
          </a:xfrm>
          <a:prstGeom prst="roundRect">
            <a:avLst>
              <a:gd fmla="val 16667" name="adj"/>
            </a:avLst>
          </a:prstGeom>
          <a:solidFill>
            <a:srgbClr val="FFFFFF"/>
          </a:solidFill>
          <a:ln cap="flat" cmpd="sng" w="36400">
            <a:solidFill>
              <a:srgbClr val="CADCFC"/>
            </a:solidFill>
            <a:prstDash val="solid"/>
            <a:round/>
            <a:headEnd len="sm" w="sm" type="none"/>
            <a:tailEnd len="sm" w="sm" type="none"/>
          </a:ln>
        </p:spPr>
        <p:txBody>
          <a:bodyPr anchorCtr="0" anchor="ctr" bIns="87350" lIns="87350" spcFirstLastPara="1" rIns="87350" wrap="square" tIns="87350">
            <a:noAutofit/>
          </a:bodyPr>
          <a:lstStyle/>
          <a:p>
            <a:pPr indent="0" lvl="0" marL="0" marR="0" rtl="0" algn="l">
              <a:lnSpc>
                <a:spcPct val="100000"/>
              </a:lnSpc>
              <a:spcBef>
                <a:spcPts val="0"/>
              </a:spcBef>
              <a:spcAft>
                <a:spcPts val="0"/>
              </a:spcAft>
              <a:buClr>
                <a:srgbClr val="000000"/>
              </a:buClr>
              <a:buSzPts val="1338"/>
              <a:buFont typeface="Arial"/>
              <a:buNone/>
            </a:pPr>
            <a:r>
              <a:t/>
            </a:r>
            <a:endParaRPr b="0" i="0" sz="1337" u="none" cap="none" strike="noStrike">
              <a:solidFill>
                <a:srgbClr val="000000"/>
              </a:solidFill>
              <a:latin typeface="Arial"/>
              <a:ea typeface="Arial"/>
              <a:cs typeface="Arial"/>
              <a:sym typeface="Arial"/>
            </a:endParaRPr>
          </a:p>
        </p:txBody>
      </p:sp>
      <p:sp>
        <p:nvSpPr>
          <p:cNvPr id="149" name="Google Shape;149;p17"/>
          <p:cNvSpPr/>
          <p:nvPr/>
        </p:nvSpPr>
        <p:spPr>
          <a:xfrm>
            <a:off x="815025" y="1226508"/>
            <a:ext cx="2271600" cy="5244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000000"/>
              </a:buClr>
              <a:buSzPts val="4586"/>
              <a:buFont typeface="Calibri"/>
              <a:buNone/>
            </a:pPr>
            <a:r>
              <a:rPr b="0" i="0" lang="en" sz="4586" u="none" cap="none" strike="noStrike">
                <a:solidFill>
                  <a:srgbClr val="000000"/>
                </a:solidFill>
                <a:latin typeface="Calibri"/>
                <a:ea typeface="Calibri"/>
                <a:cs typeface="Calibri"/>
                <a:sym typeface="Calibri"/>
              </a:rPr>
              <a:t>📊</a:t>
            </a:r>
            <a:endParaRPr b="0" i="0" sz="4586" u="none" cap="none" strike="noStrike">
              <a:solidFill>
                <a:schemeClr val="dk1"/>
              </a:solidFill>
              <a:latin typeface="Calibri"/>
              <a:ea typeface="Calibri"/>
              <a:cs typeface="Calibri"/>
              <a:sym typeface="Calibri"/>
            </a:endParaRPr>
          </a:p>
        </p:txBody>
      </p:sp>
      <p:sp>
        <p:nvSpPr>
          <p:cNvPr id="150" name="Google Shape;150;p17"/>
          <p:cNvSpPr/>
          <p:nvPr/>
        </p:nvSpPr>
        <p:spPr>
          <a:xfrm>
            <a:off x="989770" y="1881799"/>
            <a:ext cx="1922400" cy="3495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242"/>
              <a:buFont typeface="Calibri"/>
              <a:buNone/>
            </a:pPr>
            <a:r>
              <a:rPr b="1" i="0" lang="en" sz="1242" u="none" cap="none" strike="noStrike">
                <a:solidFill>
                  <a:srgbClr val="1E2761"/>
                </a:solidFill>
                <a:latin typeface="Calibri"/>
                <a:ea typeface="Calibri"/>
                <a:cs typeface="Calibri"/>
                <a:sym typeface="Calibri"/>
              </a:rPr>
              <a:t>Sentiment Analysis</a:t>
            </a:r>
            <a:endParaRPr b="0" i="0" sz="1242" u="none" cap="none" strike="noStrike">
              <a:solidFill>
                <a:schemeClr val="dk1"/>
              </a:solidFill>
              <a:latin typeface="Calibri"/>
              <a:ea typeface="Calibri"/>
              <a:cs typeface="Calibri"/>
              <a:sym typeface="Calibri"/>
            </a:endParaRPr>
          </a:p>
        </p:txBody>
      </p:sp>
      <p:sp>
        <p:nvSpPr>
          <p:cNvPr id="151" name="Google Shape;151;p17"/>
          <p:cNvSpPr/>
          <p:nvPr/>
        </p:nvSpPr>
        <p:spPr>
          <a:xfrm>
            <a:off x="815025" y="2406031"/>
            <a:ext cx="2271600" cy="6117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7EEA"/>
              </a:buClr>
              <a:buSzPts val="5160"/>
              <a:buFont typeface="Calibri"/>
              <a:buNone/>
            </a:pPr>
            <a:r>
              <a:rPr b="1" i="0" lang="en" sz="5159" u="none" cap="none" strike="noStrike">
                <a:solidFill>
                  <a:srgbClr val="667EEA"/>
                </a:solidFill>
                <a:latin typeface="Calibri"/>
                <a:ea typeface="Calibri"/>
                <a:cs typeface="Calibri"/>
                <a:sym typeface="Calibri"/>
              </a:rPr>
              <a:t>73.5%</a:t>
            </a:r>
            <a:endParaRPr b="0" i="0" sz="5159" u="none" cap="none" strike="noStrike">
              <a:solidFill>
                <a:schemeClr val="dk1"/>
              </a:solidFill>
              <a:latin typeface="Calibri"/>
              <a:ea typeface="Calibri"/>
              <a:cs typeface="Calibri"/>
              <a:sym typeface="Calibri"/>
            </a:endParaRPr>
          </a:p>
        </p:txBody>
      </p:sp>
      <p:sp>
        <p:nvSpPr>
          <p:cNvPr id="152" name="Google Shape;152;p17"/>
          <p:cNvSpPr/>
          <p:nvPr/>
        </p:nvSpPr>
        <p:spPr>
          <a:xfrm>
            <a:off x="989770" y="3105008"/>
            <a:ext cx="1922400" cy="2619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338"/>
              <a:buFont typeface="Calibri"/>
              <a:buNone/>
            </a:pPr>
            <a:r>
              <a:rPr b="1" i="0" lang="en" sz="1337" u="none" cap="none" strike="noStrike">
                <a:solidFill>
                  <a:srgbClr val="1E2761"/>
                </a:solidFill>
                <a:latin typeface="Calibri"/>
                <a:ea typeface="Calibri"/>
                <a:cs typeface="Calibri"/>
                <a:sym typeface="Calibri"/>
              </a:rPr>
              <a:t>Accuracy</a:t>
            </a:r>
            <a:endParaRPr b="0" i="0" sz="1337" u="none" cap="none" strike="noStrike">
              <a:solidFill>
                <a:schemeClr val="dk1"/>
              </a:solidFill>
              <a:latin typeface="Calibri"/>
              <a:ea typeface="Calibri"/>
              <a:cs typeface="Calibri"/>
              <a:sym typeface="Calibri"/>
            </a:endParaRPr>
          </a:p>
        </p:txBody>
      </p:sp>
      <p:sp>
        <p:nvSpPr>
          <p:cNvPr id="153" name="Google Shape;153;p17"/>
          <p:cNvSpPr/>
          <p:nvPr/>
        </p:nvSpPr>
        <p:spPr>
          <a:xfrm>
            <a:off x="989770" y="3454496"/>
            <a:ext cx="1922400" cy="7863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Fine-tuned RoBERTa</a:t>
            </a:r>
            <a:endParaRPr b="0" i="0" sz="1146"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F1 Macro: 0.724</a:t>
            </a:r>
            <a:endParaRPr b="0" i="0" sz="1146" u="none" cap="none" strike="noStrike">
              <a:solidFill>
                <a:schemeClr val="dk1"/>
              </a:solidFill>
              <a:latin typeface="Calibri"/>
              <a:ea typeface="Calibri"/>
              <a:cs typeface="Calibri"/>
              <a:sym typeface="Calibri"/>
            </a:endParaRPr>
          </a:p>
        </p:txBody>
      </p:sp>
      <p:sp>
        <p:nvSpPr>
          <p:cNvPr id="154" name="Google Shape;154;p17"/>
          <p:cNvSpPr/>
          <p:nvPr/>
        </p:nvSpPr>
        <p:spPr>
          <a:xfrm>
            <a:off x="3436203" y="1095450"/>
            <a:ext cx="2271600" cy="3320100"/>
          </a:xfrm>
          <a:prstGeom prst="roundRect">
            <a:avLst>
              <a:gd fmla="val 16667" name="adj"/>
            </a:avLst>
          </a:prstGeom>
          <a:solidFill>
            <a:srgbClr val="FFFFFF"/>
          </a:solidFill>
          <a:ln cap="flat" cmpd="sng" w="36400">
            <a:solidFill>
              <a:srgbClr val="CADCFC"/>
            </a:solidFill>
            <a:prstDash val="solid"/>
            <a:round/>
            <a:headEnd len="sm" w="sm" type="none"/>
            <a:tailEnd len="sm" w="sm" type="none"/>
          </a:ln>
        </p:spPr>
        <p:txBody>
          <a:bodyPr anchorCtr="0" anchor="ctr" bIns="87350" lIns="87350" spcFirstLastPara="1" rIns="87350" wrap="square" tIns="87350">
            <a:noAutofit/>
          </a:bodyPr>
          <a:lstStyle/>
          <a:p>
            <a:pPr indent="0" lvl="0" marL="0" marR="0" rtl="0" algn="l">
              <a:lnSpc>
                <a:spcPct val="100000"/>
              </a:lnSpc>
              <a:spcBef>
                <a:spcPts val="0"/>
              </a:spcBef>
              <a:spcAft>
                <a:spcPts val="0"/>
              </a:spcAft>
              <a:buClr>
                <a:srgbClr val="000000"/>
              </a:buClr>
              <a:buSzPts val="1338"/>
              <a:buFont typeface="Arial"/>
              <a:buNone/>
            </a:pPr>
            <a:r>
              <a:t/>
            </a:r>
            <a:endParaRPr b="0" i="0" sz="1337" u="none" cap="none" strike="noStrike">
              <a:solidFill>
                <a:srgbClr val="000000"/>
              </a:solidFill>
              <a:latin typeface="Arial"/>
              <a:ea typeface="Arial"/>
              <a:cs typeface="Arial"/>
              <a:sym typeface="Arial"/>
            </a:endParaRPr>
          </a:p>
        </p:txBody>
      </p:sp>
      <p:sp>
        <p:nvSpPr>
          <p:cNvPr id="155" name="Google Shape;155;p17"/>
          <p:cNvSpPr/>
          <p:nvPr/>
        </p:nvSpPr>
        <p:spPr>
          <a:xfrm>
            <a:off x="3436203" y="1226508"/>
            <a:ext cx="2271600" cy="5244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000000"/>
              </a:buClr>
              <a:buSzPts val="4586"/>
              <a:buFont typeface="Calibri"/>
              <a:buNone/>
            </a:pPr>
            <a:r>
              <a:rPr b="0" i="0" lang="en" sz="4586" u="none" cap="none" strike="noStrike">
                <a:solidFill>
                  <a:srgbClr val="000000"/>
                </a:solidFill>
                <a:latin typeface="Calibri"/>
                <a:ea typeface="Calibri"/>
                <a:cs typeface="Calibri"/>
                <a:sym typeface="Calibri"/>
              </a:rPr>
              <a:t>🎯</a:t>
            </a:r>
            <a:endParaRPr b="0" i="0" sz="4586" u="none" cap="none" strike="noStrike">
              <a:solidFill>
                <a:schemeClr val="dk1"/>
              </a:solidFill>
              <a:latin typeface="Calibri"/>
              <a:ea typeface="Calibri"/>
              <a:cs typeface="Calibri"/>
              <a:sym typeface="Calibri"/>
            </a:endParaRPr>
          </a:p>
        </p:txBody>
      </p:sp>
      <p:sp>
        <p:nvSpPr>
          <p:cNvPr id="156" name="Google Shape;156;p17"/>
          <p:cNvSpPr/>
          <p:nvPr/>
        </p:nvSpPr>
        <p:spPr>
          <a:xfrm>
            <a:off x="3610948" y="1881799"/>
            <a:ext cx="1922400" cy="3495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242"/>
              <a:buFont typeface="Calibri"/>
              <a:buNone/>
            </a:pPr>
            <a:r>
              <a:rPr b="1" i="0" lang="en" sz="1242" u="none" cap="none" strike="noStrike">
                <a:solidFill>
                  <a:srgbClr val="1E2761"/>
                </a:solidFill>
                <a:latin typeface="Calibri"/>
                <a:ea typeface="Calibri"/>
                <a:cs typeface="Calibri"/>
                <a:sym typeface="Calibri"/>
              </a:rPr>
              <a:t>Product Clustering</a:t>
            </a:r>
            <a:endParaRPr b="0" i="0" sz="1242" u="none" cap="none" strike="noStrike">
              <a:solidFill>
                <a:schemeClr val="dk1"/>
              </a:solidFill>
              <a:latin typeface="Calibri"/>
              <a:ea typeface="Calibri"/>
              <a:cs typeface="Calibri"/>
              <a:sym typeface="Calibri"/>
            </a:endParaRPr>
          </a:p>
        </p:txBody>
      </p:sp>
      <p:sp>
        <p:nvSpPr>
          <p:cNvPr id="157" name="Google Shape;157;p17"/>
          <p:cNvSpPr/>
          <p:nvPr/>
        </p:nvSpPr>
        <p:spPr>
          <a:xfrm>
            <a:off x="3436203" y="2406031"/>
            <a:ext cx="2271600" cy="6117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7EEA"/>
              </a:buClr>
              <a:buSzPts val="5160"/>
              <a:buFont typeface="Calibri"/>
              <a:buNone/>
            </a:pPr>
            <a:r>
              <a:rPr b="1" i="0" lang="en" sz="5159" u="none" cap="none" strike="noStrike">
                <a:solidFill>
                  <a:srgbClr val="667EEA"/>
                </a:solidFill>
                <a:latin typeface="Calibri"/>
                <a:ea typeface="Calibri"/>
                <a:cs typeface="Calibri"/>
                <a:sym typeface="Calibri"/>
              </a:rPr>
              <a:t>5</a:t>
            </a:r>
            <a:endParaRPr b="0" i="0" sz="5159" u="none" cap="none" strike="noStrike">
              <a:solidFill>
                <a:schemeClr val="dk1"/>
              </a:solidFill>
              <a:latin typeface="Calibri"/>
              <a:ea typeface="Calibri"/>
              <a:cs typeface="Calibri"/>
              <a:sym typeface="Calibri"/>
            </a:endParaRPr>
          </a:p>
        </p:txBody>
      </p:sp>
      <p:sp>
        <p:nvSpPr>
          <p:cNvPr id="158" name="Google Shape;158;p17"/>
          <p:cNvSpPr/>
          <p:nvPr/>
        </p:nvSpPr>
        <p:spPr>
          <a:xfrm>
            <a:off x="3610948" y="3105008"/>
            <a:ext cx="1922400" cy="2619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338"/>
              <a:buFont typeface="Calibri"/>
              <a:buNone/>
            </a:pPr>
            <a:r>
              <a:rPr b="1" i="0" lang="en" sz="1337" u="none" cap="none" strike="noStrike">
                <a:solidFill>
                  <a:srgbClr val="1E2761"/>
                </a:solidFill>
                <a:latin typeface="Calibri"/>
                <a:ea typeface="Calibri"/>
                <a:cs typeface="Calibri"/>
                <a:sym typeface="Calibri"/>
              </a:rPr>
              <a:t>Categories</a:t>
            </a:r>
            <a:endParaRPr b="0" i="0" sz="1337" u="none" cap="none" strike="noStrike">
              <a:solidFill>
                <a:schemeClr val="dk1"/>
              </a:solidFill>
              <a:latin typeface="Calibri"/>
              <a:ea typeface="Calibri"/>
              <a:cs typeface="Calibri"/>
              <a:sym typeface="Calibri"/>
            </a:endParaRPr>
          </a:p>
        </p:txBody>
      </p:sp>
      <p:sp>
        <p:nvSpPr>
          <p:cNvPr id="159" name="Google Shape;159;p17"/>
          <p:cNvSpPr/>
          <p:nvPr/>
        </p:nvSpPr>
        <p:spPr>
          <a:xfrm>
            <a:off x="3610948" y="3454496"/>
            <a:ext cx="1922400" cy="7863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K-Means + Embeddings</a:t>
            </a:r>
            <a:endParaRPr b="0" i="0" sz="1146"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ARI: 0.42</a:t>
            </a:r>
            <a:endParaRPr b="0" i="0" sz="1146" u="none" cap="none" strike="noStrike">
              <a:solidFill>
                <a:schemeClr val="dk1"/>
              </a:solidFill>
              <a:latin typeface="Calibri"/>
              <a:ea typeface="Calibri"/>
              <a:cs typeface="Calibri"/>
              <a:sym typeface="Calibri"/>
            </a:endParaRPr>
          </a:p>
        </p:txBody>
      </p:sp>
      <p:sp>
        <p:nvSpPr>
          <p:cNvPr id="160" name="Google Shape;160;p17"/>
          <p:cNvSpPr/>
          <p:nvPr/>
        </p:nvSpPr>
        <p:spPr>
          <a:xfrm>
            <a:off x="6057381" y="1095450"/>
            <a:ext cx="2271600" cy="3320100"/>
          </a:xfrm>
          <a:prstGeom prst="roundRect">
            <a:avLst>
              <a:gd fmla="val 16667" name="adj"/>
            </a:avLst>
          </a:prstGeom>
          <a:solidFill>
            <a:srgbClr val="FFFFFF"/>
          </a:solidFill>
          <a:ln cap="flat" cmpd="sng" w="36400">
            <a:solidFill>
              <a:srgbClr val="CADCFC"/>
            </a:solidFill>
            <a:prstDash val="solid"/>
            <a:round/>
            <a:headEnd len="sm" w="sm" type="none"/>
            <a:tailEnd len="sm" w="sm" type="none"/>
          </a:ln>
        </p:spPr>
        <p:txBody>
          <a:bodyPr anchorCtr="0" anchor="ctr" bIns="87350" lIns="87350" spcFirstLastPara="1" rIns="87350" wrap="square" tIns="87350">
            <a:noAutofit/>
          </a:bodyPr>
          <a:lstStyle/>
          <a:p>
            <a:pPr indent="0" lvl="0" marL="0" marR="0" rtl="0" algn="l">
              <a:lnSpc>
                <a:spcPct val="100000"/>
              </a:lnSpc>
              <a:spcBef>
                <a:spcPts val="0"/>
              </a:spcBef>
              <a:spcAft>
                <a:spcPts val="0"/>
              </a:spcAft>
              <a:buClr>
                <a:srgbClr val="000000"/>
              </a:buClr>
              <a:buSzPts val="1338"/>
              <a:buFont typeface="Arial"/>
              <a:buNone/>
            </a:pPr>
            <a:r>
              <a:t/>
            </a:r>
            <a:endParaRPr b="0" i="0" sz="1337" u="none" cap="none" strike="noStrike">
              <a:solidFill>
                <a:srgbClr val="000000"/>
              </a:solidFill>
              <a:latin typeface="Arial"/>
              <a:ea typeface="Arial"/>
              <a:cs typeface="Arial"/>
              <a:sym typeface="Arial"/>
            </a:endParaRPr>
          </a:p>
        </p:txBody>
      </p:sp>
      <p:sp>
        <p:nvSpPr>
          <p:cNvPr id="161" name="Google Shape;161;p17"/>
          <p:cNvSpPr/>
          <p:nvPr/>
        </p:nvSpPr>
        <p:spPr>
          <a:xfrm>
            <a:off x="6057381" y="1226508"/>
            <a:ext cx="2271600" cy="5244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000000"/>
              </a:buClr>
              <a:buSzPts val="4586"/>
              <a:buFont typeface="Calibri"/>
              <a:buNone/>
            </a:pPr>
            <a:r>
              <a:rPr b="0" i="0" lang="en" sz="4586" u="none" cap="none" strike="noStrike">
                <a:solidFill>
                  <a:srgbClr val="000000"/>
                </a:solidFill>
                <a:latin typeface="Calibri"/>
                <a:ea typeface="Calibri"/>
                <a:cs typeface="Calibri"/>
                <a:sym typeface="Calibri"/>
              </a:rPr>
              <a:t>✍️</a:t>
            </a:r>
            <a:endParaRPr b="0" i="0" sz="4586" u="none" cap="none" strike="noStrike">
              <a:solidFill>
                <a:schemeClr val="dk1"/>
              </a:solidFill>
              <a:latin typeface="Calibri"/>
              <a:ea typeface="Calibri"/>
              <a:cs typeface="Calibri"/>
              <a:sym typeface="Calibri"/>
            </a:endParaRPr>
          </a:p>
        </p:txBody>
      </p:sp>
      <p:sp>
        <p:nvSpPr>
          <p:cNvPr id="162" name="Google Shape;162;p17"/>
          <p:cNvSpPr/>
          <p:nvPr/>
        </p:nvSpPr>
        <p:spPr>
          <a:xfrm>
            <a:off x="6232126" y="1881799"/>
            <a:ext cx="1922400" cy="3495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242"/>
              <a:buFont typeface="Calibri"/>
              <a:buNone/>
            </a:pPr>
            <a:r>
              <a:rPr b="1" i="0" lang="en" sz="1242" u="none" cap="none" strike="noStrike">
                <a:solidFill>
                  <a:srgbClr val="1E2761"/>
                </a:solidFill>
                <a:latin typeface="Calibri"/>
                <a:ea typeface="Calibri"/>
                <a:cs typeface="Calibri"/>
                <a:sym typeface="Calibri"/>
              </a:rPr>
              <a:t>Text Generation</a:t>
            </a:r>
            <a:endParaRPr b="0" i="0" sz="1242" u="none" cap="none" strike="noStrike">
              <a:solidFill>
                <a:schemeClr val="dk1"/>
              </a:solidFill>
              <a:latin typeface="Calibri"/>
              <a:ea typeface="Calibri"/>
              <a:cs typeface="Calibri"/>
              <a:sym typeface="Calibri"/>
            </a:endParaRPr>
          </a:p>
        </p:txBody>
      </p:sp>
      <p:sp>
        <p:nvSpPr>
          <p:cNvPr id="163" name="Google Shape;163;p17"/>
          <p:cNvSpPr/>
          <p:nvPr/>
        </p:nvSpPr>
        <p:spPr>
          <a:xfrm>
            <a:off x="6057381" y="2406031"/>
            <a:ext cx="2271600" cy="6117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7EEA"/>
              </a:buClr>
              <a:buSzPts val="5160"/>
              <a:buFont typeface="Calibri"/>
              <a:buNone/>
            </a:pPr>
            <a:r>
              <a:rPr b="1" i="0" lang="en" sz="5159" u="none" cap="none" strike="noStrike">
                <a:solidFill>
                  <a:srgbClr val="667EEA"/>
                </a:solidFill>
                <a:latin typeface="Calibri"/>
                <a:ea typeface="Calibri"/>
                <a:cs typeface="Calibri"/>
                <a:sym typeface="Calibri"/>
              </a:rPr>
              <a:t>10</a:t>
            </a:r>
            <a:endParaRPr b="0" i="0" sz="5159" u="none" cap="none" strike="noStrike">
              <a:solidFill>
                <a:schemeClr val="dk1"/>
              </a:solidFill>
              <a:latin typeface="Calibri"/>
              <a:ea typeface="Calibri"/>
              <a:cs typeface="Calibri"/>
              <a:sym typeface="Calibri"/>
            </a:endParaRPr>
          </a:p>
        </p:txBody>
      </p:sp>
      <p:sp>
        <p:nvSpPr>
          <p:cNvPr id="164" name="Google Shape;164;p17"/>
          <p:cNvSpPr/>
          <p:nvPr/>
        </p:nvSpPr>
        <p:spPr>
          <a:xfrm>
            <a:off x="6232126" y="3105008"/>
            <a:ext cx="1922400" cy="2619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1E2761"/>
              </a:buClr>
              <a:buSzPts val="1338"/>
              <a:buFont typeface="Calibri"/>
              <a:buNone/>
            </a:pPr>
            <a:r>
              <a:rPr b="1" i="0" lang="en" sz="1337" u="none" cap="none" strike="noStrike">
                <a:solidFill>
                  <a:srgbClr val="1E2761"/>
                </a:solidFill>
                <a:latin typeface="Calibri"/>
                <a:ea typeface="Calibri"/>
                <a:cs typeface="Calibri"/>
                <a:sym typeface="Calibri"/>
              </a:rPr>
              <a:t>Articles</a:t>
            </a:r>
            <a:endParaRPr b="0" i="0" sz="1337" u="none" cap="none" strike="noStrike">
              <a:solidFill>
                <a:schemeClr val="dk1"/>
              </a:solidFill>
              <a:latin typeface="Calibri"/>
              <a:ea typeface="Calibri"/>
              <a:cs typeface="Calibri"/>
              <a:sym typeface="Calibri"/>
            </a:endParaRPr>
          </a:p>
        </p:txBody>
      </p:sp>
      <p:sp>
        <p:nvSpPr>
          <p:cNvPr id="165" name="Google Shape;165;p17"/>
          <p:cNvSpPr/>
          <p:nvPr/>
        </p:nvSpPr>
        <p:spPr>
          <a:xfrm>
            <a:off x="6232126" y="3454496"/>
            <a:ext cx="1922400" cy="786300"/>
          </a:xfrm>
          <a:prstGeom prst="rect">
            <a:avLst/>
          </a:prstGeom>
          <a:noFill/>
          <a:ln>
            <a:noFill/>
          </a:ln>
        </p:spPr>
        <p:txBody>
          <a:bodyPr anchorCtr="0" anchor="ctr" bIns="43675" lIns="87350" spcFirstLastPara="1" rIns="87350" wrap="square" tIns="43675">
            <a:noAutofit/>
          </a:bodyPr>
          <a:lstStyle/>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LLaMA 3.2-3B</a:t>
            </a:r>
            <a:endParaRPr b="0" i="0" sz="1146"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66666"/>
              </a:buClr>
              <a:buSzPts val="956"/>
              <a:buFont typeface="Calibri"/>
              <a:buNone/>
            </a:pPr>
            <a:r>
              <a:rPr b="0" i="0" lang="en" sz="1146" u="none" cap="none" strike="noStrike">
                <a:solidFill>
                  <a:srgbClr val="666666"/>
                </a:solidFill>
                <a:latin typeface="Calibri"/>
                <a:ea typeface="Calibri"/>
                <a:cs typeface="Calibri"/>
                <a:sym typeface="Calibri"/>
              </a:rPr>
              <a:t>BERTScore: 0.81</a:t>
            </a:r>
            <a:endParaRPr b="0" i="0" sz="1146" u="none" cap="none" strike="noStrike">
              <a:solidFill>
                <a:schemeClr val="dk1"/>
              </a:solidFill>
              <a:latin typeface="Calibri"/>
              <a:ea typeface="Calibri"/>
              <a:cs typeface="Calibri"/>
              <a:sym typeface="Calibri"/>
            </a:endParaRPr>
          </a:p>
        </p:txBody>
      </p:sp>
      <p:sp>
        <p:nvSpPr>
          <p:cNvPr id="166" name="Google Shape;166;p17"/>
          <p:cNvSpPr/>
          <p:nvPr/>
        </p:nvSpPr>
        <p:spPr>
          <a:xfrm>
            <a:off x="457200" y="4677580"/>
            <a:ext cx="8229600" cy="3657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1400"/>
              <a:buFont typeface="Calibri"/>
              <a:buNone/>
            </a:pPr>
            <a:r>
              <a:rPr b="0" i="1" lang="en" sz="1400" u="none" cap="none" strike="noStrike">
                <a:solidFill>
                  <a:srgbClr val="CADCFC"/>
                </a:solidFill>
                <a:latin typeface="Calibri"/>
                <a:ea typeface="Calibri"/>
                <a:cs typeface="Calibri"/>
                <a:sym typeface="Calibri"/>
              </a:rPr>
              <a:t>Successfully transformed 39,794 reviews into actionable insights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8"/>
          <p:cNvSpPr/>
          <p:nvPr/>
        </p:nvSpPr>
        <p:spPr>
          <a:xfrm>
            <a:off x="457200" y="457200"/>
            <a:ext cx="8229600" cy="54864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Data Analysis</a:t>
            </a:r>
            <a:endParaRPr b="0" i="0" sz="3600" u="none" cap="none" strike="noStrike">
              <a:solidFill>
                <a:schemeClr val="dk1"/>
              </a:solidFill>
              <a:latin typeface="Calibri"/>
              <a:ea typeface="Calibri"/>
              <a:cs typeface="Calibri"/>
              <a:sym typeface="Calibri"/>
            </a:endParaRPr>
          </a:p>
        </p:txBody>
      </p:sp>
      <p:sp>
        <p:nvSpPr>
          <p:cNvPr id="173" name="Google Shape;173;p18"/>
          <p:cNvSpPr/>
          <p:nvPr/>
        </p:nvSpPr>
        <p:spPr>
          <a:xfrm>
            <a:off x="457200" y="1280160"/>
            <a:ext cx="3931920" cy="2560320"/>
          </a:xfrm>
          <a:prstGeom prst="roundRect">
            <a:avLst>
              <a:gd fmla="val 16667" name="adj"/>
            </a:avLst>
          </a:prstGeom>
          <a:solidFill>
            <a:srgbClr val="F8F9FA"/>
          </a:solidFill>
          <a:ln cap="flat" cmpd="sng" w="25400">
            <a:solidFill>
              <a:srgbClr val="667E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8"/>
          <p:cNvSpPr/>
          <p:nvPr/>
        </p:nvSpPr>
        <p:spPr>
          <a:xfrm>
            <a:off x="640080" y="1463040"/>
            <a:ext cx="3566160" cy="3657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800"/>
              <a:buFont typeface="Calibri"/>
              <a:buNone/>
            </a:pPr>
            <a:r>
              <a:rPr b="1" i="0" lang="en" sz="1800" u="none" cap="none" strike="noStrike">
                <a:solidFill>
                  <a:srgbClr val="1E2761"/>
                </a:solidFill>
                <a:latin typeface="Calibri"/>
                <a:ea typeface="Calibri"/>
                <a:cs typeface="Calibri"/>
                <a:sym typeface="Calibri"/>
              </a:rPr>
              <a:t>Dataset Overview</a:t>
            </a:r>
            <a:endParaRPr b="0" i="0" sz="1800" u="none" cap="none" strike="noStrike">
              <a:solidFill>
                <a:schemeClr val="dk1"/>
              </a:solidFill>
              <a:latin typeface="Calibri"/>
              <a:ea typeface="Calibri"/>
              <a:cs typeface="Calibri"/>
              <a:sym typeface="Calibri"/>
            </a:endParaRPr>
          </a:p>
        </p:txBody>
      </p:sp>
      <p:sp>
        <p:nvSpPr>
          <p:cNvPr id="175" name="Google Shape;175;p18"/>
          <p:cNvSpPr/>
          <p:nvPr/>
        </p:nvSpPr>
        <p:spPr>
          <a:xfrm>
            <a:off x="822960" y="2011680"/>
            <a:ext cx="13716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3200"/>
              <a:buFont typeface="Calibri"/>
              <a:buNone/>
            </a:pPr>
            <a:r>
              <a:rPr b="1" i="0" lang="en" sz="3200" u="none" cap="none" strike="noStrike">
                <a:solidFill>
                  <a:srgbClr val="667EEA"/>
                </a:solidFill>
                <a:latin typeface="Calibri"/>
                <a:ea typeface="Calibri"/>
                <a:cs typeface="Calibri"/>
                <a:sym typeface="Calibri"/>
              </a:rPr>
              <a:t>39,794</a:t>
            </a:r>
            <a:endParaRPr b="0" i="0" sz="3200" u="none" cap="none" strike="noStrike">
              <a:solidFill>
                <a:schemeClr val="dk1"/>
              </a:solidFill>
              <a:latin typeface="Calibri"/>
              <a:ea typeface="Calibri"/>
              <a:cs typeface="Calibri"/>
              <a:sym typeface="Calibri"/>
            </a:endParaRPr>
          </a:p>
        </p:txBody>
      </p:sp>
      <p:sp>
        <p:nvSpPr>
          <p:cNvPr id="176" name="Google Shape;176;p18"/>
          <p:cNvSpPr/>
          <p:nvPr/>
        </p:nvSpPr>
        <p:spPr>
          <a:xfrm>
            <a:off x="2286000" y="2057400"/>
            <a:ext cx="18288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Total Reviews</a:t>
            </a:r>
            <a:endParaRPr b="0" i="0" sz="1300" u="none" cap="none" strike="noStrike">
              <a:solidFill>
                <a:schemeClr val="dk1"/>
              </a:solidFill>
              <a:latin typeface="Calibri"/>
              <a:ea typeface="Calibri"/>
              <a:cs typeface="Calibri"/>
              <a:sym typeface="Calibri"/>
            </a:endParaRPr>
          </a:p>
        </p:txBody>
      </p:sp>
      <p:sp>
        <p:nvSpPr>
          <p:cNvPr id="177" name="Google Shape;177;p18"/>
          <p:cNvSpPr/>
          <p:nvPr/>
        </p:nvSpPr>
        <p:spPr>
          <a:xfrm>
            <a:off x="2286000" y="2286000"/>
            <a:ext cx="1828800" cy="1828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6666"/>
              </a:buClr>
              <a:buSzPts val="1000"/>
              <a:buFont typeface="Calibri"/>
              <a:buNone/>
            </a:pPr>
            <a:r>
              <a:rPr b="0" i="1" lang="en" sz="1000" u="none" cap="none" strike="noStrike">
                <a:solidFill>
                  <a:srgbClr val="666666"/>
                </a:solidFill>
                <a:latin typeface="Calibri"/>
                <a:ea typeface="Calibri"/>
                <a:cs typeface="Calibri"/>
                <a:sym typeface="Calibri"/>
              </a:rPr>
              <a:t>after deduplication</a:t>
            </a:r>
            <a:endParaRPr b="0" i="0" sz="1000" u="none" cap="none" strike="noStrike">
              <a:solidFill>
                <a:schemeClr val="dk1"/>
              </a:solidFill>
              <a:latin typeface="Calibri"/>
              <a:ea typeface="Calibri"/>
              <a:cs typeface="Calibri"/>
              <a:sym typeface="Calibri"/>
            </a:endParaRPr>
          </a:p>
        </p:txBody>
      </p:sp>
      <p:sp>
        <p:nvSpPr>
          <p:cNvPr id="178" name="Google Shape;178;p18"/>
          <p:cNvSpPr/>
          <p:nvPr/>
        </p:nvSpPr>
        <p:spPr>
          <a:xfrm>
            <a:off x="822960" y="2651760"/>
            <a:ext cx="13716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3200"/>
              <a:buFont typeface="Calibri"/>
              <a:buNone/>
            </a:pPr>
            <a:r>
              <a:rPr b="1" i="0" lang="en" sz="3200" u="none" cap="none" strike="noStrike">
                <a:solidFill>
                  <a:srgbClr val="667EEA"/>
                </a:solidFill>
                <a:latin typeface="Calibri"/>
                <a:ea typeface="Calibri"/>
                <a:cs typeface="Calibri"/>
                <a:sym typeface="Calibri"/>
              </a:rPr>
              <a:t>71</a:t>
            </a:r>
            <a:endParaRPr b="0" i="0" sz="3200" u="none" cap="none" strike="noStrike">
              <a:solidFill>
                <a:schemeClr val="dk1"/>
              </a:solidFill>
              <a:latin typeface="Calibri"/>
              <a:ea typeface="Calibri"/>
              <a:cs typeface="Calibri"/>
              <a:sym typeface="Calibri"/>
            </a:endParaRPr>
          </a:p>
        </p:txBody>
      </p:sp>
      <p:sp>
        <p:nvSpPr>
          <p:cNvPr id="179" name="Google Shape;179;p18"/>
          <p:cNvSpPr/>
          <p:nvPr/>
        </p:nvSpPr>
        <p:spPr>
          <a:xfrm>
            <a:off x="2286000" y="2697480"/>
            <a:ext cx="18288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Products</a:t>
            </a:r>
            <a:endParaRPr b="0" i="0" sz="1300" u="none" cap="none" strike="noStrike">
              <a:solidFill>
                <a:schemeClr val="dk1"/>
              </a:solidFill>
              <a:latin typeface="Calibri"/>
              <a:ea typeface="Calibri"/>
              <a:cs typeface="Calibri"/>
              <a:sym typeface="Calibri"/>
            </a:endParaRPr>
          </a:p>
        </p:txBody>
      </p:sp>
      <p:sp>
        <p:nvSpPr>
          <p:cNvPr id="180" name="Google Shape;180;p18"/>
          <p:cNvSpPr/>
          <p:nvPr/>
        </p:nvSpPr>
        <p:spPr>
          <a:xfrm>
            <a:off x="2286000" y="2926080"/>
            <a:ext cx="1828800" cy="1828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6666"/>
              </a:buClr>
              <a:buSzPts val="1000"/>
              <a:buFont typeface="Calibri"/>
              <a:buNone/>
            </a:pPr>
            <a:r>
              <a:rPr b="0" i="1" lang="en" sz="1000" u="none" cap="none" strike="noStrike">
                <a:solidFill>
                  <a:srgbClr val="666666"/>
                </a:solidFill>
                <a:latin typeface="Calibri"/>
                <a:ea typeface="Calibri"/>
                <a:cs typeface="Calibri"/>
                <a:sym typeface="Calibri"/>
              </a:rPr>
              <a:t>across 5 categories</a:t>
            </a:r>
            <a:endParaRPr b="0" i="0" sz="1000" u="none" cap="none" strike="noStrike">
              <a:solidFill>
                <a:schemeClr val="dk1"/>
              </a:solidFill>
              <a:latin typeface="Calibri"/>
              <a:ea typeface="Calibri"/>
              <a:cs typeface="Calibri"/>
              <a:sym typeface="Calibri"/>
            </a:endParaRPr>
          </a:p>
        </p:txBody>
      </p:sp>
      <p:sp>
        <p:nvSpPr>
          <p:cNvPr id="181" name="Google Shape;181;p18"/>
          <p:cNvSpPr/>
          <p:nvPr/>
        </p:nvSpPr>
        <p:spPr>
          <a:xfrm>
            <a:off x="822960" y="3291840"/>
            <a:ext cx="13716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3200"/>
              <a:buFont typeface="Calibri"/>
              <a:buNone/>
            </a:pPr>
            <a:r>
              <a:rPr b="1" i="0" lang="en" sz="3200" u="none" cap="none" strike="noStrike">
                <a:solidFill>
                  <a:srgbClr val="667EEA"/>
                </a:solidFill>
                <a:latin typeface="Calibri"/>
                <a:ea typeface="Calibri"/>
                <a:cs typeface="Calibri"/>
                <a:sym typeface="Calibri"/>
              </a:rPr>
              <a:t>5</a:t>
            </a:r>
            <a:endParaRPr b="0" i="0" sz="3200" u="none" cap="none" strike="noStrike">
              <a:solidFill>
                <a:schemeClr val="dk1"/>
              </a:solidFill>
              <a:latin typeface="Calibri"/>
              <a:ea typeface="Calibri"/>
              <a:cs typeface="Calibri"/>
              <a:sym typeface="Calibri"/>
            </a:endParaRPr>
          </a:p>
        </p:txBody>
      </p:sp>
      <p:sp>
        <p:nvSpPr>
          <p:cNvPr id="182" name="Google Shape;182;p18"/>
          <p:cNvSpPr/>
          <p:nvPr/>
        </p:nvSpPr>
        <p:spPr>
          <a:xfrm>
            <a:off x="2286000" y="3337560"/>
            <a:ext cx="18288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Categories</a:t>
            </a:r>
            <a:endParaRPr b="0" i="0" sz="1300" u="none" cap="none" strike="noStrike">
              <a:solidFill>
                <a:schemeClr val="dk1"/>
              </a:solidFill>
              <a:latin typeface="Calibri"/>
              <a:ea typeface="Calibri"/>
              <a:cs typeface="Calibri"/>
              <a:sym typeface="Calibri"/>
            </a:endParaRPr>
          </a:p>
        </p:txBody>
      </p:sp>
      <p:sp>
        <p:nvSpPr>
          <p:cNvPr id="183" name="Google Shape;183;p18"/>
          <p:cNvSpPr/>
          <p:nvPr/>
        </p:nvSpPr>
        <p:spPr>
          <a:xfrm>
            <a:off x="2286000" y="3566160"/>
            <a:ext cx="1828800" cy="18288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6666"/>
              </a:buClr>
              <a:buSzPts val="1000"/>
              <a:buFont typeface="Calibri"/>
              <a:buNone/>
            </a:pPr>
            <a:r>
              <a:rPr b="0" i="1" lang="en" sz="1000" u="none" cap="none" strike="noStrike">
                <a:solidFill>
                  <a:srgbClr val="666666"/>
                </a:solidFill>
                <a:latin typeface="Calibri"/>
                <a:ea typeface="Calibri"/>
                <a:cs typeface="Calibri"/>
                <a:sym typeface="Calibri"/>
              </a:rPr>
              <a:t>Fire, Kindle, Echo, Kids, TV</a:t>
            </a:r>
            <a:endParaRPr b="0" i="0" sz="1000" u="none" cap="none" strike="noStrike">
              <a:solidFill>
                <a:schemeClr val="dk1"/>
              </a:solidFill>
              <a:latin typeface="Calibri"/>
              <a:ea typeface="Calibri"/>
              <a:cs typeface="Calibri"/>
              <a:sym typeface="Calibri"/>
            </a:endParaRPr>
          </a:p>
        </p:txBody>
      </p:sp>
      <p:sp>
        <p:nvSpPr>
          <p:cNvPr id="184" name="Google Shape;184;p18"/>
          <p:cNvSpPr/>
          <p:nvPr/>
        </p:nvSpPr>
        <p:spPr>
          <a:xfrm>
            <a:off x="4754880" y="1280160"/>
            <a:ext cx="3931920" cy="2560320"/>
          </a:xfrm>
          <a:prstGeom prst="roundRect">
            <a:avLst>
              <a:gd fmla="val 16667" name="adj"/>
            </a:avLst>
          </a:prstGeom>
          <a:solidFill>
            <a:srgbClr val="F8F9FA"/>
          </a:solidFill>
          <a:ln cap="flat" cmpd="sng" w="25400">
            <a:solidFill>
              <a:srgbClr val="667E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18"/>
          <p:cNvSpPr/>
          <p:nvPr/>
        </p:nvSpPr>
        <p:spPr>
          <a:xfrm>
            <a:off x="4937760" y="1463040"/>
            <a:ext cx="3566160" cy="3657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800"/>
              <a:buFont typeface="Calibri"/>
              <a:buNone/>
            </a:pPr>
            <a:r>
              <a:rPr b="1" i="0" lang="en" sz="1800" u="none" cap="none" strike="noStrike">
                <a:solidFill>
                  <a:srgbClr val="1E2761"/>
                </a:solidFill>
                <a:latin typeface="Calibri"/>
                <a:ea typeface="Calibri"/>
                <a:cs typeface="Calibri"/>
                <a:sym typeface="Calibri"/>
              </a:rPr>
              <a:t>Class Distribution</a:t>
            </a:r>
            <a:endParaRPr b="0" i="0" sz="1800" u="none" cap="none" strike="noStrike">
              <a:solidFill>
                <a:schemeClr val="dk1"/>
              </a:solidFill>
              <a:latin typeface="Calibri"/>
              <a:ea typeface="Calibri"/>
              <a:cs typeface="Calibri"/>
              <a:sym typeface="Calibri"/>
            </a:endParaRPr>
          </a:p>
        </p:txBody>
      </p:sp>
      <p:sp>
        <p:nvSpPr>
          <p:cNvPr id="186" name="Google Shape;186;p18"/>
          <p:cNvSpPr/>
          <p:nvPr/>
        </p:nvSpPr>
        <p:spPr>
          <a:xfrm>
            <a:off x="5029200" y="2103120"/>
            <a:ext cx="9144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200"/>
              <a:buFont typeface="Calibri"/>
              <a:buNone/>
            </a:pPr>
            <a:r>
              <a:rPr b="1" i="0" lang="en" sz="1200" u="none" cap="none" strike="noStrike">
                <a:solidFill>
                  <a:srgbClr val="1E2761"/>
                </a:solidFill>
                <a:latin typeface="Calibri"/>
                <a:ea typeface="Calibri"/>
                <a:cs typeface="Calibri"/>
                <a:sym typeface="Calibri"/>
              </a:rPr>
              <a:t>Positive</a:t>
            </a:r>
            <a:endParaRPr b="0" i="0" sz="1200" u="none" cap="none" strike="noStrike">
              <a:solidFill>
                <a:schemeClr val="dk1"/>
              </a:solidFill>
              <a:latin typeface="Calibri"/>
              <a:ea typeface="Calibri"/>
              <a:cs typeface="Calibri"/>
              <a:sym typeface="Calibri"/>
            </a:endParaRPr>
          </a:p>
        </p:txBody>
      </p:sp>
      <p:sp>
        <p:nvSpPr>
          <p:cNvPr id="187" name="Google Shape;187;p18"/>
          <p:cNvSpPr/>
          <p:nvPr/>
        </p:nvSpPr>
        <p:spPr>
          <a:xfrm>
            <a:off x="6035040" y="2121408"/>
            <a:ext cx="2286000" cy="228600"/>
          </a:xfrm>
          <a:prstGeom prst="rect">
            <a:avLst/>
          </a:prstGeom>
          <a:solidFill>
            <a:srgbClr val="E0E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8"/>
          <p:cNvSpPr/>
          <p:nvPr/>
        </p:nvSpPr>
        <p:spPr>
          <a:xfrm>
            <a:off x="6035040" y="2121408"/>
            <a:ext cx="2080260" cy="228600"/>
          </a:xfrm>
          <a:prstGeom prst="rect">
            <a:avLst/>
          </a:prstGeom>
          <a:solidFill>
            <a:srgbClr val="4CAF5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18"/>
          <p:cNvSpPr/>
          <p:nvPr/>
        </p:nvSpPr>
        <p:spPr>
          <a:xfrm>
            <a:off x="8268426" y="2103188"/>
            <a:ext cx="457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4CAF50"/>
              </a:buClr>
              <a:buSzPts val="1100"/>
              <a:buFont typeface="Calibri"/>
              <a:buNone/>
            </a:pPr>
            <a:r>
              <a:rPr b="1" i="0" lang="en" sz="1100" u="none" cap="none" strike="noStrike">
                <a:solidFill>
                  <a:srgbClr val="4CAF50"/>
                </a:solidFill>
                <a:latin typeface="Calibri"/>
                <a:ea typeface="Calibri"/>
                <a:cs typeface="Calibri"/>
                <a:sym typeface="Calibri"/>
              </a:rPr>
              <a:t>91%</a:t>
            </a:r>
            <a:endParaRPr b="0" i="0" sz="1100" u="none" cap="none" strike="noStrike">
              <a:solidFill>
                <a:schemeClr val="dk1"/>
              </a:solidFill>
              <a:latin typeface="Calibri"/>
              <a:ea typeface="Calibri"/>
              <a:cs typeface="Calibri"/>
              <a:sym typeface="Calibri"/>
            </a:endParaRPr>
          </a:p>
        </p:txBody>
      </p:sp>
      <p:sp>
        <p:nvSpPr>
          <p:cNvPr id="190" name="Google Shape;190;p18"/>
          <p:cNvSpPr/>
          <p:nvPr/>
        </p:nvSpPr>
        <p:spPr>
          <a:xfrm>
            <a:off x="5029200" y="2743200"/>
            <a:ext cx="9144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200"/>
              <a:buFont typeface="Calibri"/>
              <a:buNone/>
            </a:pPr>
            <a:r>
              <a:rPr b="1" i="0" lang="en" sz="1200" u="none" cap="none" strike="noStrike">
                <a:solidFill>
                  <a:srgbClr val="1E2761"/>
                </a:solidFill>
                <a:latin typeface="Calibri"/>
                <a:ea typeface="Calibri"/>
                <a:cs typeface="Calibri"/>
                <a:sym typeface="Calibri"/>
              </a:rPr>
              <a:t>Neutral</a:t>
            </a:r>
            <a:endParaRPr b="0" i="0" sz="1200" u="none" cap="none" strike="noStrike">
              <a:solidFill>
                <a:schemeClr val="dk1"/>
              </a:solidFill>
              <a:latin typeface="Calibri"/>
              <a:ea typeface="Calibri"/>
              <a:cs typeface="Calibri"/>
              <a:sym typeface="Calibri"/>
            </a:endParaRPr>
          </a:p>
        </p:txBody>
      </p:sp>
      <p:sp>
        <p:nvSpPr>
          <p:cNvPr id="191" name="Google Shape;191;p18"/>
          <p:cNvSpPr/>
          <p:nvPr/>
        </p:nvSpPr>
        <p:spPr>
          <a:xfrm>
            <a:off x="6035040" y="2761488"/>
            <a:ext cx="2286000" cy="228600"/>
          </a:xfrm>
          <a:prstGeom prst="rect">
            <a:avLst/>
          </a:prstGeom>
          <a:solidFill>
            <a:srgbClr val="E0E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8"/>
          <p:cNvSpPr/>
          <p:nvPr/>
        </p:nvSpPr>
        <p:spPr>
          <a:xfrm>
            <a:off x="6035040" y="2761488"/>
            <a:ext cx="105156" cy="228600"/>
          </a:xfrm>
          <a:prstGeom prst="rect">
            <a:avLst/>
          </a:prstGeom>
          <a:solidFill>
            <a:srgbClr val="FFC10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18"/>
          <p:cNvSpPr/>
          <p:nvPr/>
        </p:nvSpPr>
        <p:spPr>
          <a:xfrm>
            <a:off x="6231636" y="2743200"/>
            <a:ext cx="567554"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C107"/>
              </a:buClr>
              <a:buSzPts val="1100"/>
              <a:buFont typeface="Calibri"/>
              <a:buNone/>
            </a:pPr>
            <a:r>
              <a:rPr b="1" i="0" lang="en" sz="1100" u="none" cap="none" strike="noStrike">
                <a:solidFill>
                  <a:srgbClr val="FFC107"/>
                </a:solidFill>
                <a:latin typeface="Calibri"/>
                <a:ea typeface="Calibri"/>
                <a:cs typeface="Calibri"/>
                <a:sym typeface="Calibri"/>
              </a:rPr>
              <a:t>4.6%</a:t>
            </a:r>
            <a:endParaRPr b="1" i="0" sz="1100" u="none" cap="none" strike="noStrike">
              <a:solidFill>
                <a:schemeClr val="dk1"/>
              </a:solidFill>
              <a:latin typeface="Calibri"/>
              <a:ea typeface="Calibri"/>
              <a:cs typeface="Calibri"/>
              <a:sym typeface="Calibri"/>
            </a:endParaRPr>
          </a:p>
        </p:txBody>
      </p:sp>
      <p:sp>
        <p:nvSpPr>
          <p:cNvPr id="194" name="Google Shape;194;p18"/>
          <p:cNvSpPr/>
          <p:nvPr/>
        </p:nvSpPr>
        <p:spPr>
          <a:xfrm>
            <a:off x="5029200" y="3383280"/>
            <a:ext cx="9144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200"/>
              <a:buFont typeface="Calibri"/>
              <a:buNone/>
            </a:pPr>
            <a:r>
              <a:rPr b="1" i="0" lang="en" sz="1200" u="none" cap="none" strike="noStrike">
                <a:solidFill>
                  <a:srgbClr val="1E2761"/>
                </a:solidFill>
                <a:latin typeface="Calibri"/>
                <a:ea typeface="Calibri"/>
                <a:cs typeface="Calibri"/>
                <a:sym typeface="Calibri"/>
              </a:rPr>
              <a:t>Negative</a:t>
            </a:r>
            <a:endParaRPr b="0" i="0" sz="1200" u="none" cap="none" strike="noStrike">
              <a:solidFill>
                <a:schemeClr val="dk1"/>
              </a:solidFill>
              <a:latin typeface="Calibri"/>
              <a:ea typeface="Calibri"/>
              <a:cs typeface="Calibri"/>
              <a:sym typeface="Calibri"/>
            </a:endParaRPr>
          </a:p>
        </p:txBody>
      </p:sp>
      <p:sp>
        <p:nvSpPr>
          <p:cNvPr id="195" name="Google Shape;195;p18"/>
          <p:cNvSpPr/>
          <p:nvPr/>
        </p:nvSpPr>
        <p:spPr>
          <a:xfrm>
            <a:off x="6035040" y="3401568"/>
            <a:ext cx="2286000" cy="228600"/>
          </a:xfrm>
          <a:prstGeom prst="rect">
            <a:avLst/>
          </a:prstGeom>
          <a:solidFill>
            <a:srgbClr val="E0E0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 name="Google Shape;196;p18"/>
          <p:cNvSpPr/>
          <p:nvPr/>
        </p:nvSpPr>
        <p:spPr>
          <a:xfrm>
            <a:off x="6035040" y="3401568"/>
            <a:ext cx="96012" cy="228600"/>
          </a:xfrm>
          <a:prstGeom prst="rect">
            <a:avLst/>
          </a:prstGeom>
          <a:solidFill>
            <a:srgbClr val="F4433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18"/>
          <p:cNvSpPr/>
          <p:nvPr/>
        </p:nvSpPr>
        <p:spPr>
          <a:xfrm>
            <a:off x="6222492" y="3358568"/>
            <a:ext cx="5766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44336"/>
              </a:buClr>
              <a:buSzPts val="1100"/>
              <a:buFont typeface="Calibri"/>
              <a:buNone/>
            </a:pPr>
            <a:r>
              <a:rPr b="1" i="0" lang="en" sz="1100" u="none" cap="none" strike="noStrike">
                <a:solidFill>
                  <a:srgbClr val="F44336"/>
                </a:solidFill>
                <a:latin typeface="Calibri"/>
                <a:ea typeface="Calibri"/>
                <a:cs typeface="Calibri"/>
                <a:sym typeface="Calibri"/>
              </a:rPr>
              <a:t>4.2%</a:t>
            </a:r>
            <a:endParaRPr b="0" i="0" sz="1100" u="none" cap="none" strike="noStrike">
              <a:solidFill>
                <a:schemeClr val="dk1"/>
              </a:solidFill>
              <a:latin typeface="Calibri"/>
              <a:ea typeface="Calibri"/>
              <a:cs typeface="Calibri"/>
              <a:sym typeface="Calibri"/>
            </a:endParaRPr>
          </a:p>
        </p:txBody>
      </p:sp>
      <p:sp>
        <p:nvSpPr>
          <p:cNvPr id="198" name="Google Shape;198;p18"/>
          <p:cNvSpPr/>
          <p:nvPr/>
        </p:nvSpPr>
        <p:spPr>
          <a:xfrm>
            <a:off x="457200" y="3973827"/>
            <a:ext cx="8229600" cy="3657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7EEA"/>
              </a:buClr>
              <a:buSzPts val="1600"/>
              <a:buFont typeface="Calibri"/>
              <a:buNone/>
            </a:pPr>
            <a:r>
              <a:rPr b="1" i="0" lang="en" sz="1600" u="none" cap="none" strike="noStrike">
                <a:solidFill>
                  <a:srgbClr val="667EEA"/>
                </a:solidFill>
                <a:latin typeface="Calibri"/>
                <a:ea typeface="Calibri"/>
                <a:cs typeface="Calibri"/>
                <a:sym typeface="Calibri"/>
              </a:rPr>
              <a:t>Key Challenges Addressed</a:t>
            </a:r>
            <a:endParaRPr b="0" i="0" sz="1600" u="none" cap="none" strike="noStrike">
              <a:solidFill>
                <a:schemeClr val="dk1"/>
              </a:solidFill>
              <a:latin typeface="Calibri"/>
              <a:ea typeface="Calibri"/>
              <a:cs typeface="Calibri"/>
              <a:sym typeface="Calibri"/>
            </a:endParaRPr>
          </a:p>
        </p:txBody>
      </p:sp>
      <p:sp>
        <p:nvSpPr>
          <p:cNvPr id="199" name="Google Shape;199;p18"/>
          <p:cNvSpPr/>
          <p:nvPr/>
        </p:nvSpPr>
        <p:spPr>
          <a:xfrm>
            <a:off x="457200" y="4427214"/>
            <a:ext cx="4572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Calibri"/>
              <a:buNone/>
            </a:pPr>
            <a:r>
              <a:rPr b="0" i="0" lang="en" sz="2400" u="none" cap="none" strike="noStrike">
                <a:solidFill>
                  <a:srgbClr val="000000"/>
                </a:solidFill>
                <a:latin typeface="Calibri"/>
                <a:ea typeface="Calibri"/>
                <a:cs typeface="Calibri"/>
                <a:sym typeface="Calibri"/>
              </a:rPr>
              <a:t>⚖️</a:t>
            </a:r>
            <a:endParaRPr b="0" i="0" sz="2400" u="none" cap="none" strike="noStrike">
              <a:solidFill>
                <a:schemeClr val="dk1"/>
              </a:solidFill>
              <a:latin typeface="Calibri"/>
              <a:ea typeface="Calibri"/>
              <a:cs typeface="Calibri"/>
              <a:sym typeface="Calibri"/>
            </a:endParaRPr>
          </a:p>
        </p:txBody>
      </p:sp>
      <p:sp>
        <p:nvSpPr>
          <p:cNvPr id="200" name="Google Shape;200;p18"/>
          <p:cNvSpPr/>
          <p:nvPr/>
        </p:nvSpPr>
        <p:spPr>
          <a:xfrm>
            <a:off x="1005840" y="4472934"/>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Class Imbalance</a:t>
            </a:r>
            <a:endParaRPr b="0" i="0" sz="1300" u="none" cap="none" strike="noStrike">
              <a:solidFill>
                <a:schemeClr val="dk1"/>
              </a:solidFill>
              <a:latin typeface="Calibri"/>
              <a:ea typeface="Calibri"/>
              <a:cs typeface="Calibri"/>
              <a:sym typeface="Calibri"/>
            </a:endParaRPr>
          </a:p>
        </p:txBody>
      </p:sp>
      <p:sp>
        <p:nvSpPr>
          <p:cNvPr id="201" name="Google Shape;201;p18"/>
          <p:cNvSpPr/>
          <p:nvPr/>
        </p:nvSpPr>
        <p:spPr>
          <a:xfrm>
            <a:off x="1005840" y="4747254"/>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55555"/>
              </a:buClr>
              <a:buSzPts val="1100"/>
              <a:buFont typeface="Calibri"/>
              <a:buNone/>
            </a:pPr>
            <a:r>
              <a:rPr b="0" i="0" lang="en" sz="1100" u="none" cap="none" strike="noStrike">
                <a:solidFill>
                  <a:srgbClr val="555555"/>
                </a:solidFill>
                <a:latin typeface="Calibri"/>
                <a:ea typeface="Calibri"/>
                <a:cs typeface="Calibri"/>
                <a:sym typeface="Calibri"/>
              </a:rPr>
              <a:t>Weighted loss + balanced test set</a:t>
            </a:r>
            <a:endParaRPr b="0" i="0" sz="1100" u="none" cap="none" strike="noStrike">
              <a:solidFill>
                <a:schemeClr val="dk1"/>
              </a:solidFill>
              <a:latin typeface="Calibri"/>
              <a:ea typeface="Calibri"/>
              <a:cs typeface="Calibri"/>
              <a:sym typeface="Calibri"/>
            </a:endParaRPr>
          </a:p>
        </p:txBody>
      </p:sp>
      <p:sp>
        <p:nvSpPr>
          <p:cNvPr id="202" name="Google Shape;202;p18"/>
          <p:cNvSpPr/>
          <p:nvPr/>
        </p:nvSpPr>
        <p:spPr>
          <a:xfrm>
            <a:off x="3291840" y="4435025"/>
            <a:ext cx="4572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Calibri"/>
              <a:buNone/>
            </a:pPr>
            <a:r>
              <a:rPr b="0" i="0" lang="en" sz="2400" u="none" cap="none" strike="noStrike">
                <a:solidFill>
                  <a:srgbClr val="000000"/>
                </a:solidFill>
                <a:latin typeface="Calibri"/>
                <a:ea typeface="Calibri"/>
                <a:cs typeface="Calibri"/>
                <a:sym typeface="Calibri"/>
              </a:rPr>
              <a:t>🔍</a:t>
            </a:r>
            <a:endParaRPr b="0" i="0" sz="2400" u="none" cap="none" strike="noStrike">
              <a:solidFill>
                <a:schemeClr val="dk1"/>
              </a:solidFill>
              <a:latin typeface="Calibri"/>
              <a:ea typeface="Calibri"/>
              <a:cs typeface="Calibri"/>
              <a:sym typeface="Calibri"/>
            </a:endParaRPr>
          </a:p>
        </p:txBody>
      </p:sp>
      <p:sp>
        <p:nvSpPr>
          <p:cNvPr id="203" name="Google Shape;203;p18"/>
          <p:cNvSpPr/>
          <p:nvPr/>
        </p:nvSpPr>
        <p:spPr>
          <a:xfrm>
            <a:off x="3840480" y="4480745"/>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Category Noise</a:t>
            </a:r>
            <a:endParaRPr b="0" i="0" sz="1300" u="none" cap="none" strike="noStrike">
              <a:solidFill>
                <a:schemeClr val="dk1"/>
              </a:solidFill>
              <a:latin typeface="Calibri"/>
              <a:ea typeface="Calibri"/>
              <a:cs typeface="Calibri"/>
              <a:sym typeface="Calibri"/>
            </a:endParaRPr>
          </a:p>
        </p:txBody>
      </p:sp>
      <p:sp>
        <p:nvSpPr>
          <p:cNvPr id="204" name="Google Shape;204;p18"/>
          <p:cNvSpPr/>
          <p:nvPr/>
        </p:nvSpPr>
        <p:spPr>
          <a:xfrm>
            <a:off x="3840480" y="4755065"/>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55555"/>
              </a:buClr>
              <a:buSzPts val="1100"/>
              <a:buFont typeface="Calibri"/>
              <a:buNone/>
            </a:pPr>
            <a:r>
              <a:rPr b="0" i="0" lang="en" sz="1100" u="none" cap="none" strike="noStrike">
                <a:solidFill>
                  <a:srgbClr val="555555"/>
                </a:solidFill>
                <a:latin typeface="Calibri"/>
                <a:ea typeface="Calibri"/>
                <a:cs typeface="Calibri"/>
                <a:sym typeface="Calibri"/>
              </a:rPr>
              <a:t>Filtered problematic categories</a:t>
            </a:r>
            <a:endParaRPr b="0" i="0" sz="1100" u="none" cap="none" strike="noStrike">
              <a:solidFill>
                <a:schemeClr val="dk1"/>
              </a:solidFill>
              <a:latin typeface="Calibri"/>
              <a:ea typeface="Calibri"/>
              <a:cs typeface="Calibri"/>
              <a:sym typeface="Calibri"/>
            </a:endParaRPr>
          </a:p>
        </p:txBody>
      </p:sp>
      <p:sp>
        <p:nvSpPr>
          <p:cNvPr id="205" name="Google Shape;205;p18"/>
          <p:cNvSpPr/>
          <p:nvPr/>
        </p:nvSpPr>
        <p:spPr>
          <a:xfrm>
            <a:off x="5943600" y="4427214"/>
            <a:ext cx="4572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Calibri"/>
              <a:buNone/>
            </a:pPr>
            <a:r>
              <a:rPr b="0" i="0" lang="en" sz="2400" u="none" cap="none" strike="noStrike">
                <a:solidFill>
                  <a:srgbClr val="000000"/>
                </a:solidFill>
                <a:latin typeface="Calibri"/>
                <a:ea typeface="Calibri"/>
                <a:cs typeface="Calibri"/>
                <a:sym typeface="Calibri"/>
              </a:rPr>
              <a:t>📊</a:t>
            </a:r>
            <a:endParaRPr b="0" i="0" sz="2400" u="none" cap="none" strike="noStrike">
              <a:solidFill>
                <a:schemeClr val="dk1"/>
              </a:solidFill>
              <a:latin typeface="Calibri"/>
              <a:ea typeface="Calibri"/>
              <a:cs typeface="Calibri"/>
              <a:sym typeface="Calibri"/>
            </a:endParaRPr>
          </a:p>
        </p:txBody>
      </p:sp>
      <p:sp>
        <p:nvSpPr>
          <p:cNvPr id="206" name="Google Shape;206;p18"/>
          <p:cNvSpPr/>
          <p:nvPr/>
        </p:nvSpPr>
        <p:spPr>
          <a:xfrm>
            <a:off x="6492240" y="4472934"/>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300"/>
              <a:buFont typeface="Calibri"/>
              <a:buNone/>
            </a:pPr>
            <a:r>
              <a:rPr b="1" i="0" lang="en" sz="1300" u="none" cap="none" strike="noStrike">
                <a:solidFill>
                  <a:srgbClr val="1E2761"/>
                </a:solidFill>
                <a:latin typeface="Calibri"/>
                <a:ea typeface="Calibri"/>
                <a:cs typeface="Calibri"/>
                <a:sym typeface="Calibri"/>
              </a:rPr>
              <a:t>Data Leakage</a:t>
            </a:r>
            <a:endParaRPr b="0" i="0" sz="1300" u="none" cap="none" strike="noStrike">
              <a:solidFill>
                <a:schemeClr val="dk1"/>
              </a:solidFill>
              <a:latin typeface="Calibri"/>
              <a:ea typeface="Calibri"/>
              <a:cs typeface="Calibri"/>
              <a:sym typeface="Calibri"/>
            </a:endParaRPr>
          </a:p>
        </p:txBody>
      </p:sp>
      <p:sp>
        <p:nvSpPr>
          <p:cNvPr id="207" name="Google Shape;207;p18"/>
          <p:cNvSpPr/>
          <p:nvPr/>
        </p:nvSpPr>
        <p:spPr>
          <a:xfrm>
            <a:off x="6492240" y="4747254"/>
            <a:ext cx="228600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55555"/>
              </a:buClr>
              <a:buSzPts val="1100"/>
              <a:buFont typeface="Calibri"/>
              <a:buNone/>
            </a:pPr>
            <a:r>
              <a:rPr b="0" i="0" lang="en" sz="1100" u="none" cap="none" strike="noStrike">
                <a:solidFill>
                  <a:srgbClr val="555555"/>
                </a:solidFill>
                <a:latin typeface="Calibri"/>
                <a:ea typeface="Calibri"/>
                <a:cs typeface="Calibri"/>
                <a:sym typeface="Calibri"/>
              </a:rPr>
              <a:t>Split before preprocessing</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 name="Shape 212"/>
        <p:cNvGrpSpPr/>
        <p:nvPr/>
      </p:nvGrpSpPr>
      <p:grpSpPr>
        <a:xfrm>
          <a:off x="0" y="0"/>
          <a:ext cx="0" cy="0"/>
          <a:chOff x="0" y="0"/>
          <a:chExt cx="0" cy="0"/>
        </a:xfrm>
      </p:grpSpPr>
      <p:sp>
        <p:nvSpPr>
          <p:cNvPr id="213" name="Google Shape;213;p19"/>
          <p:cNvSpPr/>
          <p:nvPr/>
        </p:nvSpPr>
        <p:spPr>
          <a:xfrm>
            <a:off x="457200" y="457200"/>
            <a:ext cx="8229600" cy="54864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Models &amp; Methodology</a:t>
            </a:r>
            <a:endParaRPr b="0" i="0" sz="3600" u="none" cap="none" strike="noStrike">
              <a:solidFill>
                <a:schemeClr val="dk1"/>
              </a:solidFill>
              <a:latin typeface="Calibri"/>
              <a:ea typeface="Calibri"/>
              <a:cs typeface="Calibri"/>
              <a:sym typeface="Calibri"/>
            </a:endParaRPr>
          </a:p>
        </p:txBody>
      </p:sp>
      <p:sp>
        <p:nvSpPr>
          <p:cNvPr id="214" name="Google Shape;214;p19"/>
          <p:cNvSpPr/>
          <p:nvPr/>
        </p:nvSpPr>
        <p:spPr>
          <a:xfrm>
            <a:off x="2194552" y="1327425"/>
            <a:ext cx="21030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7EEA"/>
              </a:buClr>
              <a:buSzPts val="2000"/>
              <a:buFont typeface="Calibri"/>
              <a:buNone/>
            </a:pPr>
            <a:r>
              <a:rPr b="1" i="0" lang="en" sz="2000" u="none" cap="none" strike="noStrike">
                <a:solidFill>
                  <a:srgbClr val="667EEA"/>
                </a:solidFill>
                <a:latin typeface="Calibri"/>
                <a:ea typeface="Calibri"/>
                <a:cs typeface="Calibri"/>
                <a:sym typeface="Calibri"/>
              </a:rPr>
              <a:t>Models Used</a:t>
            </a:r>
            <a:endParaRPr b="0" i="0" sz="2000" u="none" cap="none" strike="noStrike">
              <a:solidFill>
                <a:schemeClr val="dk1"/>
              </a:solidFill>
              <a:latin typeface="Calibri"/>
              <a:ea typeface="Calibri"/>
              <a:cs typeface="Calibri"/>
              <a:sym typeface="Calibri"/>
            </a:endParaRPr>
          </a:p>
        </p:txBody>
      </p:sp>
      <p:sp>
        <p:nvSpPr>
          <p:cNvPr id="215" name="Google Shape;215;p19"/>
          <p:cNvSpPr/>
          <p:nvPr/>
        </p:nvSpPr>
        <p:spPr>
          <a:xfrm>
            <a:off x="457200" y="18554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Sentiment (Baseline)</a:t>
            </a:r>
            <a:endParaRPr b="0" i="0" sz="1100" u="none" cap="none" strike="noStrike">
              <a:solidFill>
                <a:schemeClr val="dk1"/>
              </a:solidFill>
              <a:latin typeface="Calibri"/>
              <a:ea typeface="Calibri"/>
              <a:cs typeface="Calibri"/>
              <a:sym typeface="Calibri"/>
            </a:endParaRPr>
          </a:p>
        </p:txBody>
      </p:sp>
      <p:sp>
        <p:nvSpPr>
          <p:cNvPr id="216" name="Google Shape;216;p19"/>
          <p:cNvSpPr/>
          <p:nvPr/>
        </p:nvSpPr>
        <p:spPr>
          <a:xfrm>
            <a:off x="2194560" y="18554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Logistic Regression + TF-IDF</a:t>
            </a:r>
            <a:endParaRPr b="0" i="0" sz="1100" u="none" cap="none" strike="noStrike">
              <a:solidFill>
                <a:schemeClr val="dk1"/>
              </a:solidFill>
              <a:latin typeface="Calibri"/>
              <a:ea typeface="Calibri"/>
              <a:cs typeface="Calibri"/>
              <a:sym typeface="Calibri"/>
            </a:endParaRPr>
          </a:p>
        </p:txBody>
      </p:sp>
      <p:sp>
        <p:nvSpPr>
          <p:cNvPr id="217" name="Google Shape;217;p19"/>
          <p:cNvSpPr/>
          <p:nvPr/>
        </p:nvSpPr>
        <p:spPr>
          <a:xfrm>
            <a:off x="457200" y="23126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Sentiment (Zero-Shot)</a:t>
            </a:r>
            <a:endParaRPr b="0" i="0" sz="1100" u="none" cap="none" strike="noStrike">
              <a:solidFill>
                <a:schemeClr val="dk1"/>
              </a:solidFill>
              <a:latin typeface="Calibri"/>
              <a:ea typeface="Calibri"/>
              <a:cs typeface="Calibri"/>
              <a:sym typeface="Calibri"/>
            </a:endParaRPr>
          </a:p>
        </p:txBody>
      </p:sp>
      <p:sp>
        <p:nvSpPr>
          <p:cNvPr id="218" name="Google Shape;218;p19"/>
          <p:cNvSpPr/>
          <p:nvPr/>
        </p:nvSpPr>
        <p:spPr>
          <a:xfrm>
            <a:off x="2194560" y="23126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RoBERTa (Cardiff)</a:t>
            </a:r>
            <a:endParaRPr b="0" i="0" sz="1100" u="none" cap="none" strike="noStrike">
              <a:solidFill>
                <a:schemeClr val="dk1"/>
              </a:solidFill>
              <a:latin typeface="Calibri"/>
              <a:ea typeface="Calibri"/>
              <a:cs typeface="Calibri"/>
              <a:sym typeface="Calibri"/>
            </a:endParaRPr>
          </a:p>
        </p:txBody>
      </p:sp>
      <p:sp>
        <p:nvSpPr>
          <p:cNvPr id="219" name="Google Shape;219;p19"/>
          <p:cNvSpPr/>
          <p:nvPr/>
        </p:nvSpPr>
        <p:spPr>
          <a:xfrm>
            <a:off x="457200" y="27698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Sentiment (Fine-Tuned)</a:t>
            </a:r>
            <a:endParaRPr b="0" i="0" sz="1100" u="none" cap="none" strike="noStrike">
              <a:solidFill>
                <a:schemeClr val="dk1"/>
              </a:solidFill>
              <a:latin typeface="Calibri"/>
              <a:ea typeface="Calibri"/>
              <a:cs typeface="Calibri"/>
              <a:sym typeface="Calibri"/>
            </a:endParaRPr>
          </a:p>
        </p:txBody>
      </p:sp>
      <p:sp>
        <p:nvSpPr>
          <p:cNvPr id="220" name="Google Shape;220;p19"/>
          <p:cNvSpPr/>
          <p:nvPr/>
        </p:nvSpPr>
        <p:spPr>
          <a:xfrm>
            <a:off x="2194560" y="27698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RoBERTa (Fine-tuned)</a:t>
            </a:r>
            <a:endParaRPr b="0" i="0" sz="1100" u="none" cap="none" strike="noStrike">
              <a:solidFill>
                <a:schemeClr val="dk1"/>
              </a:solidFill>
              <a:latin typeface="Calibri"/>
              <a:ea typeface="Calibri"/>
              <a:cs typeface="Calibri"/>
              <a:sym typeface="Calibri"/>
            </a:endParaRPr>
          </a:p>
        </p:txBody>
      </p:sp>
      <p:sp>
        <p:nvSpPr>
          <p:cNvPr id="221" name="Google Shape;221;p19"/>
          <p:cNvSpPr/>
          <p:nvPr/>
        </p:nvSpPr>
        <p:spPr>
          <a:xfrm>
            <a:off x="457200" y="32270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Embeddings</a:t>
            </a:r>
            <a:endParaRPr b="0" i="0" sz="1100" u="none" cap="none" strike="noStrike">
              <a:solidFill>
                <a:schemeClr val="dk1"/>
              </a:solidFill>
              <a:latin typeface="Calibri"/>
              <a:ea typeface="Calibri"/>
              <a:cs typeface="Calibri"/>
              <a:sym typeface="Calibri"/>
            </a:endParaRPr>
          </a:p>
        </p:txBody>
      </p:sp>
      <p:sp>
        <p:nvSpPr>
          <p:cNvPr id="222" name="Google Shape;222;p19"/>
          <p:cNvSpPr/>
          <p:nvPr/>
        </p:nvSpPr>
        <p:spPr>
          <a:xfrm>
            <a:off x="2194560" y="32270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Sentence Transformers MiniLM</a:t>
            </a:r>
            <a:endParaRPr b="0" i="0" sz="1100" u="none" cap="none" strike="noStrike">
              <a:solidFill>
                <a:schemeClr val="dk1"/>
              </a:solidFill>
              <a:latin typeface="Calibri"/>
              <a:ea typeface="Calibri"/>
              <a:cs typeface="Calibri"/>
              <a:sym typeface="Calibri"/>
            </a:endParaRPr>
          </a:p>
        </p:txBody>
      </p:sp>
      <p:sp>
        <p:nvSpPr>
          <p:cNvPr id="223" name="Google Shape;223;p19"/>
          <p:cNvSpPr/>
          <p:nvPr/>
        </p:nvSpPr>
        <p:spPr>
          <a:xfrm>
            <a:off x="457200" y="36842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Clustering</a:t>
            </a:r>
            <a:endParaRPr b="0" i="0" sz="1100" u="none" cap="none" strike="noStrike">
              <a:solidFill>
                <a:schemeClr val="dk1"/>
              </a:solidFill>
              <a:latin typeface="Calibri"/>
              <a:ea typeface="Calibri"/>
              <a:cs typeface="Calibri"/>
              <a:sym typeface="Calibri"/>
            </a:endParaRPr>
          </a:p>
        </p:txBody>
      </p:sp>
      <p:sp>
        <p:nvSpPr>
          <p:cNvPr id="224" name="Google Shape;224;p19"/>
          <p:cNvSpPr/>
          <p:nvPr/>
        </p:nvSpPr>
        <p:spPr>
          <a:xfrm>
            <a:off x="2194560" y="36842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K-Means (k=5)</a:t>
            </a:r>
            <a:endParaRPr b="0" i="0" sz="1100" u="none" cap="none" strike="noStrike">
              <a:solidFill>
                <a:schemeClr val="dk1"/>
              </a:solidFill>
              <a:latin typeface="Calibri"/>
              <a:ea typeface="Calibri"/>
              <a:cs typeface="Calibri"/>
              <a:sym typeface="Calibri"/>
            </a:endParaRPr>
          </a:p>
        </p:txBody>
      </p:sp>
      <p:sp>
        <p:nvSpPr>
          <p:cNvPr id="225" name="Google Shape;225;p19"/>
          <p:cNvSpPr/>
          <p:nvPr/>
        </p:nvSpPr>
        <p:spPr>
          <a:xfrm>
            <a:off x="457200" y="4141470"/>
            <a:ext cx="1554917"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100"/>
              <a:buFont typeface="Calibri"/>
              <a:buNone/>
            </a:pPr>
            <a:r>
              <a:rPr b="1" i="0" lang="en" sz="1100" u="none" cap="none" strike="noStrike">
                <a:solidFill>
                  <a:srgbClr val="1E2761"/>
                </a:solidFill>
                <a:latin typeface="Calibri"/>
                <a:ea typeface="Calibri"/>
                <a:cs typeface="Calibri"/>
                <a:sym typeface="Calibri"/>
              </a:rPr>
              <a:t>Generation</a:t>
            </a:r>
            <a:endParaRPr b="0" i="0" sz="1100" u="none" cap="none" strike="noStrike">
              <a:solidFill>
                <a:schemeClr val="dk1"/>
              </a:solidFill>
              <a:latin typeface="Calibri"/>
              <a:ea typeface="Calibri"/>
              <a:cs typeface="Calibri"/>
              <a:sym typeface="Calibri"/>
            </a:endParaRPr>
          </a:p>
        </p:txBody>
      </p:sp>
      <p:sp>
        <p:nvSpPr>
          <p:cNvPr id="226" name="Google Shape;226;p19"/>
          <p:cNvSpPr/>
          <p:nvPr/>
        </p:nvSpPr>
        <p:spPr>
          <a:xfrm>
            <a:off x="2194560" y="4141470"/>
            <a:ext cx="2159606"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LLaMA 3.2-3B-Instruct</a:t>
            </a:r>
            <a:endParaRPr b="0" i="0" sz="1100" u="none" cap="none" strike="noStrike">
              <a:solidFill>
                <a:schemeClr val="dk1"/>
              </a:solidFill>
              <a:latin typeface="Calibri"/>
              <a:ea typeface="Calibri"/>
              <a:cs typeface="Calibri"/>
              <a:sym typeface="Calibri"/>
            </a:endParaRPr>
          </a:p>
        </p:txBody>
      </p:sp>
      <p:sp>
        <p:nvSpPr>
          <p:cNvPr id="227" name="Google Shape;227;p19"/>
          <p:cNvSpPr/>
          <p:nvPr/>
        </p:nvSpPr>
        <p:spPr>
          <a:xfrm>
            <a:off x="4736099" y="1327413"/>
            <a:ext cx="3840480" cy="36576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667EEA"/>
              </a:buClr>
              <a:buSzPts val="2000"/>
              <a:buFont typeface="Calibri"/>
              <a:buNone/>
            </a:pPr>
            <a:r>
              <a:rPr b="1" i="0" lang="en" sz="2000" u="none" cap="none" strike="noStrike">
                <a:solidFill>
                  <a:srgbClr val="667EEA"/>
                </a:solidFill>
                <a:latin typeface="Calibri"/>
                <a:ea typeface="Calibri"/>
                <a:cs typeface="Calibri"/>
                <a:sym typeface="Calibri"/>
              </a:rPr>
              <a:t>Key Technical Decisions</a:t>
            </a:r>
            <a:endParaRPr b="0" i="0" sz="2000" u="none" cap="none" strike="noStrike">
              <a:solidFill>
                <a:schemeClr val="dk1"/>
              </a:solidFill>
              <a:latin typeface="Calibri"/>
              <a:ea typeface="Calibri"/>
              <a:cs typeface="Calibri"/>
              <a:sym typeface="Calibri"/>
            </a:endParaRPr>
          </a:p>
        </p:txBody>
      </p:sp>
      <p:sp>
        <p:nvSpPr>
          <p:cNvPr id="228" name="Google Shape;228;p19"/>
          <p:cNvSpPr/>
          <p:nvPr/>
        </p:nvSpPr>
        <p:spPr>
          <a:xfrm>
            <a:off x="4736099" y="1855470"/>
            <a:ext cx="3455370"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Establishes baseline performance</a:t>
            </a:r>
            <a:endParaRPr b="0" i="0" sz="1200" u="none" cap="none" strike="noStrike">
              <a:solidFill>
                <a:schemeClr val="dk1"/>
              </a:solidFill>
              <a:latin typeface="Calibri"/>
              <a:ea typeface="Calibri"/>
              <a:cs typeface="Calibri"/>
              <a:sym typeface="Calibri"/>
            </a:endParaRPr>
          </a:p>
        </p:txBody>
      </p:sp>
      <p:sp>
        <p:nvSpPr>
          <p:cNvPr id="229" name="Google Shape;229;p19"/>
          <p:cNvSpPr/>
          <p:nvPr/>
        </p:nvSpPr>
        <p:spPr>
          <a:xfrm>
            <a:off x="4755449" y="2312670"/>
            <a:ext cx="3455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Tests transfer learning capability  </a:t>
            </a:r>
            <a:endParaRPr b="0" i="0" sz="1200" u="none" cap="none" strike="noStrike">
              <a:solidFill>
                <a:schemeClr val="dk1"/>
              </a:solidFill>
              <a:latin typeface="Calibri"/>
              <a:ea typeface="Calibri"/>
              <a:cs typeface="Calibri"/>
              <a:sym typeface="Calibri"/>
            </a:endParaRPr>
          </a:p>
        </p:txBody>
      </p:sp>
      <p:sp>
        <p:nvSpPr>
          <p:cNvPr id="230" name="Google Shape;230;p19"/>
          <p:cNvSpPr/>
          <p:nvPr/>
        </p:nvSpPr>
        <p:spPr>
          <a:xfrm>
            <a:off x="4752275" y="2780500"/>
            <a:ext cx="25326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Fine-tuning for domain adaptation</a:t>
            </a:r>
            <a:endParaRPr b="0" i="0" sz="1200" u="none" cap="none" strike="noStrike">
              <a:solidFill>
                <a:schemeClr val="dk1"/>
              </a:solidFill>
              <a:latin typeface="Calibri"/>
              <a:ea typeface="Calibri"/>
              <a:cs typeface="Calibri"/>
              <a:sym typeface="Calibri"/>
            </a:endParaRPr>
          </a:p>
        </p:txBody>
      </p:sp>
      <p:sp>
        <p:nvSpPr>
          <p:cNvPr id="231" name="Google Shape;231;p19"/>
          <p:cNvSpPr/>
          <p:nvPr/>
        </p:nvSpPr>
        <p:spPr>
          <a:xfrm>
            <a:off x="4755450" y="3227075"/>
            <a:ext cx="3002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Semantic over TF-IDF for better clustering</a:t>
            </a:r>
            <a:endParaRPr b="0" i="0" sz="1200" u="none" cap="none" strike="noStrike">
              <a:solidFill>
                <a:schemeClr val="dk1"/>
              </a:solidFill>
              <a:latin typeface="Calibri"/>
              <a:ea typeface="Calibri"/>
              <a:cs typeface="Calibri"/>
              <a:sym typeface="Calibri"/>
            </a:endParaRPr>
          </a:p>
        </p:txBody>
      </p:sp>
      <p:sp>
        <p:nvSpPr>
          <p:cNvPr id="232" name="Google Shape;232;p19"/>
          <p:cNvSpPr/>
          <p:nvPr/>
        </p:nvSpPr>
        <p:spPr>
          <a:xfrm>
            <a:off x="4761236" y="3684270"/>
            <a:ext cx="3612734" cy="27432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Groups 71 products into 5 meta-categories</a:t>
            </a:r>
            <a:endParaRPr b="0" i="0" sz="1200" u="none" cap="none" strike="noStrike">
              <a:solidFill>
                <a:schemeClr val="dk1"/>
              </a:solidFill>
              <a:latin typeface="Calibri"/>
              <a:ea typeface="Calibri"/>
              <a:cs typeface="Calibri"/>
              <a:sym typeface="Calibri"/>
            </a:endParaRPr>
          </a:p>
        </p:txBody>
      </p:sp>
      <p:sp>
        <p:nvSpPr>
          <p:cNvPr id="233" name="Google Shape;233;p19"/>
          <p:cNvSpPr/>
          <p:nvPr/>
        </p:nvSpPr>
        <p:spPr>
          <a:xfrm>
            <a:off x="4761225" y="4141475"/>
            <a:ext cx="38406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Iterative prompting (V1→V2→V3) + grounding metric</a:t>
            </a:r>
            <a:endParaRPr b="0" i="0" sz="1200" u="none" cap="none" strike="noStrike">
              <a:solidFill>
                <a:schemeClr val="dk1"/>
              </a:solidFill>
              <a:latin typeface="Calibri"/>
              <a:ea typeface="Calibri"/>
              <a:cs typeface="Calibri"/>
              <a:sym typeface="Calibri"/>
            </a:endParaRPr>
          </a:p>
        </p:txBody>
      </p:sp>
      <p:sp>
        <p:nvSpPr>
          <p:cNvPr id="234" name="Google Shape;234;p19"/>
          <p:cNvSpPr txBox="1"/>
          <p:nvPr/>
        </p:nvSpPr>
        <p:spPr>
          <a:xfrm>
            <a:off x="457200" y="1264000"/>
            <a:ext cx="1298700" cy="492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rgbClr val="667EEA"/>
                </a:solidFill>
                <a:latin typeface="Calibri"/>
                <a:ea typeface="Calibri"/>
                <a:cs typeface="Calibri"/>
                <a:sym typeface="Calibri"/>
              </a:rPr>
              <a:t>Task</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20"/>
          <p:cNvSpPr/>
          <p:nvPr/>
        </p:nvSpPr>
        <p:spPr>
          <a:xfrm>
            <a:off x="457200" y="477875"/>
            <a:ext cx="8229600" cy="528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Sentiment Results: Fine-Tuning Wins</a:t>
            </a:r>
            <a:endParaRPr b="0" i="0" sz="3600" u="none" cap="none" strike="noStrike">
              <a:solidFill>
                <a:schemeClr val="dk1"/>
              </a:solidFill>
              <a:latin typeface="Calibri"/>
              <a:ea typeface="Calibri"/>
              <a:cs typeface="Calibri"/>
              <a:sym typeface="Calibri"/>
            </a:endParaRPr>
          </a:p>
        </p:txBody>
      </p:sp>
      <p:sp>
        <p:nvSpPr>
          <p:cNvPr id="241" name="Google Shape;241;p20"/>
          <p:cNvSpPr/>
          <p:nvPr/>
        </p:nvSpPr>
        <p:spPr>
          <a:xfrm>
            <a:off x="731520" y="1280160"/>
            <a:ext cx="2560200" cy="3657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200"/>
              <a:buFont typeface="Calibri"/>
              <a:buNone/>
            </a:pPr>
            <a:r>
              <a:rPr b="1" i="0" lang="en" sz="1200" u="none" cap="none" strike="noStrike">
                <a:solidFill>
                  <a:srgbClr val="FFFFFF"/>
                </a:solidFill>
                <a:latin typeface="Calibri"/>
                <a:ea typeface="Calibri"/>
                <a:cs typeface="Calibri"/>
                <a:sym typeface="Calibri"/>
              </a:rPr>
              <a:t>Model</a:t>
            </a:r>
            <a:endParaRPr b="0" i="0" sz="1200" u="none" cap="none" strike="noStrike">
              <a:solidFill>
                <a:schemeClr val="dk1"/>
              </a:solidFill>
              <a:latin typeface="Calibri"/>
              <a:ea typeface="Calibri"/>
              <a:cs typeface="Calibri"/>
              <a:sym typeface="Calibri"/>
            </a:endParaRPr>
          </a:p>
        </p:txBody>
      </p:sp>
      <p:sp>
        <p:nvSpPr>
          <p:cNvPr id="242" name="Google Shape;242;p20"/>
          <p:cNvSpPr/>
          <p:nvPr/>
        </p:nvSpPr>
        <p:spPr>
          <a:xfrm>
            <a:off x="3383280" y="1280160"/>
            <a:ext cx="1188600" cy="3657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200"/>
              <a:buFont typeface="Calibri"/>
              <a:buNone/>
            </a:pPr>
            <a:r>
              <a:rPr b="1" i="0" lang="en" sz="1200" u="none" cap="none" strike="noStrike">
                <a:solidFill>
                  <a:srgbClr val="FFFFFF"/>
                </a:solidFill>
                <a:latin typeface="Calibri"/>
                <a:ea typeface="Calibri"/>
                <a:cs typeface="Calibri"/>
                <a:sym typeface="Calibri"/>
              </a:rPr>
              <a:t>Accuracy</a:t>
            </a:r>
            <a:endParaRPr b="0" i="0" sz="1200" u="none" cap="none" strike="noStrike">
              <a:solidFill>
                <a:schemeClr val="dk1"/>
              </a:solidFill>
              <a:latin typeface="Calibri"/>
              <a:ea typeface="Calibri"/>
              <a:cs typeface="Calibri"/>
              <a:sym typeface="Calibri"/>
            </a:endParaRPr>
          </a:p>
        </p:txBody>
      </p:sp>
      <p:sp>
        <p:nvSpPr>
          <p:cNvPr id="243" name="Google Shape;243;p20"/>
          <p:cNvSpPr/>
          <p:nvPr/>
        </p:nvSpPr>
        <p:spPr>
          <a:xfrm>
            <a:off x="4663440" y="1280160"/>
            <a:ext cx="1188600" cy="3657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200"/>
              <a:buFont typeface="Calibri"/>
              <a:buNone/>
            </a:pPr>
            <a:r>
              <a:rPr b="1" i="0" lang="en" sz="1200" u="none" cap="none" strike="noStrike">
                <a:solidFill>
                  <a:srgbClr val="FFFFFF"/>
                </a:solidFill>
                <a:latin typeface="Calibri"/>
                <a:ea typeface="Calibri"/>
                <a:cs typeface="Calibri"/>
                <a:sym typeface="Calibri"/>
              </a:rPr>
              <a:t>F1 Macro</a:t>
            </a:r>
            <a:endParaRPr b="0" i="0" sz="1200" u="none" cap="none" strike="noStrike">
              <a:solidFill>
                <a:schemeClr val="dk1"/>
              </a:solidFill>
              <a:latin typeface="Calibri"/>
              <a:ea typeface="Calibri"/>
              <a:cs typeface="Calibri"/>
              <a:sym typeface="Calibri"/>
            </a:endParaRPr>
          </a:p>
        </p:txBody>
      </p:sp>
      <p:sp>
        <p:nvSpPr>
          <p:cNvPr id="244" name="Google Shape;244;p20"/>
          <p:cNvSpPr/>
          <p:nvPr/>
        </p:nvSpPr>
        <p:spPr>
          <a:xfrm>
            <a:off x="5943600" y="1280150"/>
            <a:ext cx="1310100" cy="365700"/>
          </a:xfrm>
          <a:prstGeom prst="rect">
            <a:avLst/>
          </a:prstGeom>
          <a:solidFill>
            <a:srgbClr val="1E276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200"/>
              <a:buFont typeface="Calibri"/>
              <a:buNone/>
            </a:pPr>
            <a:r>
              <a:rPr b="1" i="0" lang="en" sz="1200" u="none" cap="none" strike="noStrike">
                <a:solidFill>
                  <a:srgbClr val="FFFFFF"/>
                </a:solidFill>
                <a:latin typeface="Calibri"/>
                <a:ea typeface="Calibri"/>
                <a:cs typeface="Calibri"/>
                <a:sym typeface="Calibri"/>
              </a:rPr>
              <a:t>F1 </a:t>
            </a:r>
            <a:r>
              <a:rPr b="1" lang="en" sz="1200">
                <a:solidFill>
                  <a:schemeClr val="lt1"/>
                </a:solidFill>
                <a:latin typeface="Calibri"/>
                <a:ea typeface="Calibri"/>
                <a:cs typeface="Calibri"/>
                <a:sym typeface="Calibri"/>
              </a:rPr>
              <a:t>Neutral</a:t>
            </a:r>
            <a:endParaRPr b="0" i="0" sz="1200" u="none" cap="none" strike="noStrike">
              <a:solidFill>
                <a:schemeClr val="dk1"/>
              </a:solidFill>
              <a:latin typeface="Calibri"/>
              <a:ea typeface="Calibri"/>
              <a:cs typeface="Calibri"/>
              <a:sym typeface="Calibri"/>
            </a:endParaRPr>
          </a:p>
        </p:txBody>
      </p:sp>
      <p:sp>
        <p:nvSpPr>
          <p:cNvPr id="245" name="Google Shape;245;p20"/>
          <p:cNvSpPr/>
          <p:nvPr/>
        </p:nvSpPr>
        <p:spPr>
          <a:xfrm>
            <a:off x="731525" y="1737350"/>
            <a:ext cx="6522300" cy="411600"/>
          </a:xfrm>
          <a:prstGeom prst="rect">
            <a:avLst/>
          </a:prstGeom>
          <a:solidFill>
            <a:srgbClr val="F5F5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20"/>
          <p:cNvSpPr/>
          <p:nvPr/>
        </p:nvSpPr>
        <p:spPr>
          <a:xfrm>
            <a:off x="731520" y="1783080"/>
            <a:ext cx="25602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Logistic Regression</a:t>
            </a:r>
            <a:endParaRPr b="0" i="0" sz="1100" u="none" cap="none" strike="noStrike">
              <a:solidFill>
                <a:schemeClr val="dk1"/>
              </a:solidFill>
              <a:latin typeface="Calibri"/>
              <a:ea typeface="Calibri"/>
              <a:cs typeface="Calibri"/>
              <a:sym typeface="Calibri"/>
            </a:endParaRPr>
          </a:p>
        </p:txBody>
      </p:sp>
      <p:sp>
        <p:nvSpPr>
          <p:cNvPr id="247" name="Google Shape;247;p20"/>
          <p:cNvSpPr/>
          <p:nvPr/>
        </p:nvSpPr>
        <p:spPr>
          <a:xfrm>
            <a:off x="3383280" y="17830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69.7%</a:t>
            </a:r>
            <a:endParaRPr b="0" i="0" sz="1100" u="none" cap="none" strike="noStrike">
              <a:solidFill>
                <a:schemeClr val="dk1"/>
              </a:solidFill>
              <a:latin typeface="Calibri"/>
              <a:ea typeface="Calibri"/>
              <a:cs typeface="Calibri"/>
              <a:sym typeface="Calibri"/>
            </a:endParaRPr>
          </a:p>
        </p:txBody>
      </p:sp>
      <p:sp>
        <p:nvSpPr>
          <p:cNvPr id="248" name="Google Shape;248;p20"/>
          <p:cNvSpPr/>
          <p:nvPr/>
        </p:nvSpPr>
        <p:spPr>
          <a:xfrm>
            <a:off x="4663440" y="17830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0.685</a:t>
            </a:r>
            <a:endParaRPr b="0" i="0" sz="1100" u="none" cap="none" strike="noStrike">
              <a:solidFill>
                <a:schemeClr val="dk1"/>
              </a:solidFill>
              <a:latin typeface="Calibri"/>
              <a:ea typeface="Calibri"/>
              <a:cs typeface="Calibri"/>
              <a:sym typeface="Calibri"/>
            </a:endParaRPr>
          </a:p>
        </p:txBody>
      </p:sp>
      <p:sp>
        <p:nvSpPr>
          <p:cNvPr id="249" name="Google Shape;249;p20"/>
          <p:cNvSpPr/>
          <p:nvPr/>
        </p:nvSpPr>
        <p:spPr>
          <a:xfrm>
            <a:off x="5943600" y="1783072"/>
            <a:ext cx="13101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0.541</a:t>
            </a:r>
            <a:endParaRPr b="0" i="0" sz="1100" u="none" cap="none" strike="noStrike">
              <a:solidFill>
                <a:schemeClr val="dk1"/>
              </a:solidFill>
              <a:latin typeface="Calibri"/>
              <a:ea typeface="Calibri"/>
              <a:cs typeface="Calibri"/>
              <a:sym typeface="Calibri"/>
            </a:endParaRPr>
          </a:p>
        </p:txBody>
      </p:sp>
      <p:sp>
        <p:nvSpPr>
          <p:cNvPr id="250" name="Google Shape;250;p20"/>
          <p:cNvSpPr/>
          <p:nvPr/>
        </p:nvSpPr>
        <p:spPr>
          <a:xfrm>
            <a:off x="731525" y="2194550"/>
            <a:ext cx="6522300" cy="411600"/>
          </a:xfrm>
          <a:prstGeom prst="rect">
            <a:avLst/>
          </a:prstGeom>
          <a:solidFill>
            <a:srgbClr val="F5F5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20"/>
          <p:cNvSpPr/>
          <p:nvPr/>
        </p:nvSpPr>
        <p:spPr>
          <a:xfrm>
            <a:off x="731520" y="2240280"/>
            <a:ext cx="25602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RoBERTa Zero-Shot</a:t>
            </a:r>
            <a:endParaRPr b="0" i="0" sz="1100" u="none" cap="none" strike="noStrike">
              <a:solidFill>
                <a:schemeClr val="dk1"/>
              </a:solidFill>
              <a:latin typeface="Calibri"/>
              <a:ea typeface="Calibri"/>
              <a:cs typeface="Calibri"/>
              <a:sym typeface="Calibri"/>
            </a:endParaRPr>
          </a:p>
        </p:txBody>
      </p:sp>
      <p:sp>
        <p:nvSpPr>
          <p:cNvPr id="252" name="Google Shape;252;p20"/>
          <p:cNvSpPr/>
          <p:nvPr/>
        </p:nvSpPr>
        <p:spPr>
          <a:xfrm>
            <a:off x="3383280" y="22402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63.6%</a:t>
            </a:r>
            <a:endParaRPr b="0" i="0" sz="1100" u="none" cap="none" strike="noStrike">
              <a:solidFill>
                <a:schemeClr val="dk1"/>
              </a:solidFill>
              <a:latin typeface="Calibri"/>
              <a:ea typeface="Calibri"/>
              <a:cs typeface="Calibri"/>
              <a:sym typeface="Calibri"/>
            </a:endParaRPr>
          </a:p>
        </p:txBody>
      </p:sp>
      <p:sp>
        <p:nvSpPr>
          <p:cNvPr id="253" name="Google Shape;253;p20"/>
          <p:cNvSpPr/>
          <p:nvPr/>
        </p:nvSpPr>
        <p:spPr>
          <a:xfrm>
            <a:off x="4663440" y="22402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0.590</a:t>
            </a:r>
            <a:endParaRPr b="0" i="0" sz="1100" u="none" cap="none" strike="noStrike">
              <a:solidFill>
                <a:schemeClr val="dk1"/>
              </a:solidFill>
              <a:latin typeface="Calibri"/>
              <a:ea typeface="Calibri"/>
              <a:cs typeface="Calibri"/>
              <a:sym typeface="Calibri"/>
            </a:endParaRPr>
          </a:p>
        </p:txBody>
      </p:sp>
      <p:sp>
        <p:nvSpPr>
          <p:cNvPr id="254" name="Google Shape;254;p20"/>
          <p:cNvSpPr/>
          <p:nvPr/>
        </p:nvSpPr>
        <p:spPr>
          <a:xfrm>
            <a:off x="5943600" y="2240273"/>
            <a:ext cx="13101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333333"/>
              </a:buClr>
              <a:buSzPts val="1100"/>
              <a:buFont typeface="Calibri"/>
              <a:buNone/>
            </a:pPr>
            <a:r>
              <a:rPr b="0" i="0" lang="en" sz="1100" u="none" cap="none" strike="noStrike">
                <a:solidFill>
                  <a:srgbClr val="333333"/>
                </a:solidFill>
                <a:latin typeface="Calibri"/>
                <a:ea typeface="Calibri"/>
                <a:cs typeface="Calibri"/>
                <a:sym typeface="Calibri"/>
              </a:rPr>
              <a:t>0.291</a:t>
            </a:r>
            <a:endParaRPr b="0" i="0" sz="1100" u="none" cap="none" strike="noStrike">
              <a:solidFill>
                <a:schemeClr val="dk1"/>
              </a:solidFill>
              <a:latin typeface="Calibri"/>
              <a:ea typeface="Calibri"/>
              <a:cs typeface="Calibri"/>
              <a:sym typeface="Calibri"/>
            </a:endParaRPr>
          </a:p>
        </p:txBody>
      </p:sp>
      <p:sp>
        <p:nvSpPr>
          <p:cNvPr id="255" name="Google Shape;255;p20"/>
          <p:cNvSpPr/>
          <p:nvPr/>
        </p:nvSpPr>
        <p:spPr>
          <a:xfrm>
            <a:off x="731525" y="2651750"/>
            <a:ext cx="6522300" cy="411600"/>
          </a:xfrm>
          <a:prstGeom prst="rect">
            <a:avLst/>
          </a:prstGeom>
          <a:solidFill>
            <a:srgbClr val="667E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20"/>
          <p:cNvSpPr/>
          <p:nvPr/>
        </p:nvSpPr>
        <p:spPr>
          <a:xfrm>
            <a:off x="731520" y="2697480"/>
            <a:ext cx="25602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100"/>
              <a:buFont typeface="Calibri"/>
              <a:buNone/>
            </a:pPr>
            <a:r>
              <a:rPr b="1" i="0" lang="en" sz="1100" u="none" cap="none" strike="noStrike">
                <a:solidFill>
                  <a:srgbClr val="FFFFFF"/>
                </a:solidFill>
                <a:latin typeface="Calibri"/>
                <a:ea typeface="Calibri"/>
                <a:cs typeface="Calibri"/>
                <a:sym typeface="Calibri"/>
              </a:rPr>
              <a:t>RoBERTa Fine-Tuned</a:t>
            </a:r>
            <a:endParaRPr b="0" i="0" sz="1100" u="none" cap="none" strike="noStrike">
              <a:solidFill>
                <a:schemeClr val="dk1"/>
              </a:solidFill>
              <a:latin typeface="Calibri"/>
              <a:ea typeface="Calibri"/>
              <a:cs typeface="Calibri"/>
              <a:sym typeface="Calibri"/>
            </a:endParaRPr>
          </a:p>
        </p:txBody>
      </p:sp>
      <p:sp>
        <p:nvSpPr>
          <p:cNvPr id="257" name="Google Shape;257;p20"/>
          <p:cNvSpPr/>
          <p:nvPr/>
        </p:nvSpPr>
        <p:spPr>
          <a:xfrm>
            <a:off x="3383280" y="26974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100"/>
              <a:buFont typeface="Calibri"/>
              <a:buNone/>
            </a:pPr>
            <a:r>
              <a:rPr b="1" i="0" lang="en" sz="1100" u="none" cap="none" strike="noStrike">
                <a:solidFill>
                  <a:srgbClr val="FFFFFF"/>
                </a:solidFill>
                <a:latin typeface="Calibri"/>
                <a:ea typeface="Calibri"/>
                <a:cs typeface="Calibri"/>
                <a:sym typeface="Calibri"/>
              </a:rPr>
              <a:t>73.5%</a:t>
            </a:r>
            <a:endParaRPr b="0" i="0" sz="1100" u="none" cap="none" strike="noStrike">
              <a:solidFill>
                <a:schemeClr val="dk1"/>
              </a:solidFill>
              <a:latin typeface="Calibri"/>
              <a:ea typeface="Calibri"/>
              <a:cs typeface="Calibri"/>
              <a:sym typeface="Calibri"/>
            </a:endParaRPr>
          </a:p>
        </p:txBody>
      </p:sp>
      <p:sp>
        <p:nvSpPr>
          <p:cNvPr id="258" name="Google Shape;258;p20"/>
          <p:cNvSpPr/>
          <p:nvPr/>
        </p:nvSpPr>
        <p:spPr>
          <a:xfrm>
            <a:off x="4663440" y="2697480"/>
            <a:ext cx="11886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100"/>
              <a:buFont typeface="Calibri"/>
              <a:buNone/>
            </a:pPr>
            <a:r>
              <a:rPr b="1" i="0" lang="en" sz="1100" u="none" cap="none" strike="noStrike">
                <a:solidFill>
                  <a:srgbClr val="FFFFFF"/>
                </a:solidFill>
                <a:latin typeface="Calibri"/>
                <a:ea typeface="Calibri"/>
                <a:cs typeface="Calibri"/>
                <a:sym typeface="Calibri"/>
              </a:rPr>
              <a:t>0.724</a:t>
            </a:r>
            <a:endParaRPr b="0" i="0" sz="1100" u="none" cap="none" strike="noStrike">
              <a:solidFill>
                <a:schemeClr val="dk1"/>
              </a:solidFill>
              <a:latin typeface="Calibri"/>
              <a:ea typeface="Calibri"/>
              <a:cs typeface="Calibri"/>
              <a:sym typeface="Calibri"/>
            </a:endParaRPr>
          </a:p>
        </p:txBody>
      </p:sp>
      <p:sp>
        <p:nvSpPr>
          <p:cNvPr id="259" name="Google Shape;259;p20"/>
          <p:cNvSpPr/>
          <p:nvPr/>
        </p:nvSpPr>
        <p:spPr>
          <a:xfrm>
            <a:off x="5943600" y="2697475"/>
            <a:ext cx="1310100" cy="3201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100"/>
              <a:buFont typeface="Calibri"/>
              <a:buNone/>
            </a:pPr>
            <a:r>
              <a:rPr b="1" i="0" lang="en" sz="1100" u="none" cap="none" strike="noStrike">
                <a:solidFill>
                  <a:srgbClr val="FFFFFF"/>
                </a:solidFill>
                <a:latin typeface="Calibri"/>
                <a:ea typeface="Calibri"/>
                <a:cs typeface="Calibri"/>
                <a:sym typeface="Calibri"/>
              </a:rPr>
              <a:t>0.565</a:t>
            </a:r>
            <a:endParaRPr b="0" i="0" sz="1100" u="none" cap="none" strike="noStrike">
              <a:solidFill>
                <a:schemeClr val="dk1"/>
              </a:solidFill>
              <a:latin typeface="Calibri"/>
              <a:ea typeface="Calibri"/>
              <a:cs typeface="Calibri"/>
              <a:sym typeface="Calibri"/>
            </a:endParaRPr>
          </a:p>
        </p:txBody>
      </p:sp>
      <p:sp>
        <p:nvSpPr>
          <p:cNvPr id="260" name="Google Shape;260;p20"/>
          <p:cNvSpPr/>
          <p:nvPr/>
        </p:nvSpPr>
        <p:spPr>
          <a:xfrm>
            <a:off x="509953" y="3417525"/>
            <a:ext cx="71403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667EEA"/>
              </a:buClr>
              <a:buSzPts val="1562"/>
              <a:buFont typeface="Calibri"/>
              <a:buNone/>
            </a:pPr>
            <a:r>
              <a:rPr b="1" i="0" lang="en" sz="1561" u="none" cap="none" strike="noStrike">
                <a:solidFill>
                  <a:srgbClr val="667EEA"/>
                </a:solidFill>
                <a:latin typeface="Calibri"/>
                <a:ea typeface="Calibri"/>
                <a:cs typeface="Calibri"/>
                <a:sym typeface="Calibri"/>
              </a:rPr>
              <a:t>Key Insights</a:t>
            </a:r>
            <a:endParaRPr b="0" i="0" sz="1561" u="none" cap="none" strike="noStrike">
              <a:solidFill>
                <a:schemeClr val="dk1"/>
              </a:solidFill>
              <a:latin typeface="Calibri"/>
              <a:ea typeface="Calibri"/>
              <a:cs typeface="Calibri"/>
              <a:sym typeface="Calibri"/>
            </a:endParaRPr>
          </a:p>
        </p:txBody>
      </p:sp>
      <p:sp>
        <p:nvSpPr>
          <p:cNvPr id="261" name="Google Shape;261;p20"/>
          <p:cNvSpPr/>
          <p:nvPr/>
        </p:nvSpPr>
        <p:spPr>
          <a:xfrm>
            <a:off x="906640" y="3765177"/>
            <a:ext cx="63471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4CAF50"/>
              </a:buClr>
              <a:buSzPts val="1128"/>
              <a:buFont typeface="Calibri"/>
              <a:buNone/>
            </a:pPr>
            <a:r>
              <a:rPr b="1" i="0" lang="en" sz="1127" u="none" cap="none" strike="noStrike">
                <a:solidFill>
                  <a:srgbClr val="4CAF50"/>
                </a:solidFill>
                <a:latin typeface="Calibri"/>
                <a:ea typeface="Calibri"/>
                <a:cs typeface="Calibri"/>
                <a:sym typeface="Calibri"/>
              </a:rPr>
              <a:t>✓ Fine-tuning improved accuracy by 10% over zero-shot</a:t>
            </a:r>
            <a:endParaRPr b="0" i="0" sz="1127" u="none" cap="none" strike="noStrike">
              <a:solidFill>
                <a:schemeClr val="dk1"/>
              </a:solidFill>
              <a:latin typeface="Calibri"/>
              <a:ea typeface="Calibri"/>
              <a:cs typeface="Calibri"/>
              <a:sym typeface="Calibri"/>
            </a:endParaRPr>
          </a:p>
        </p:txBody>
      </p:sp>
      <p:sp>
        <p:nvSpPr>
          <p:cNvPr id="262" name="Google Shape;262;p20"/>
          <p:cNvSpPr/>
          <p:nvPr/>
        </p:nvSpPr>
        <p:spPr>
          <a:xfrm>
            <a:off x="906640" y="4112830"/>
            <a:ext cx="63471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4CAF50"/>
              </a:buClr>
              <a:buSzPts val="1128"/>
              <a:buFont typeface="Calibri"/>
              <a:buNone/>
            </a:pPr>
            <a:r>
              <a:rPr b="1" i="0" lang="en" sz="1127" u="none" cap="none" strike="noStrike">
                <a:solidFill>
                  <a:srgbClr val="4CAF50"/>
                </a:solidFill>
                <a:latin typeface="Calibri"/>
                <a:ea typeface="Calibri"/>
                <a:cs typeface="Calibri"/>
                <a:sym typeface="Calibri"/>
              </a:rPr>
              <a:t>✓ Neutral class F1 doubled: 0.29 → 0.57 (critical improvement)</a:t>
            </a:r>
            <a:endParaRPr b="0" i="0" sz="1127" u="none" cap="none" strike="noStrike">
              <a:solidFill>
                <a:schemeClr val="dk1"/>
              </a:solidFill>
              <a:latin typeface="Calibri"/>
              <a:ea typeface="Calibri"/>
              <a:cs typeface="Calibri"/>
              <a:sym typeface="Calibri"/>
            </a:endParaRPr>
          </a:p>
        </p:txBody>
      </p:sp>
      <p:sp>
        <p:nvSpPr>
          <p:cNvPr id="263" name="Google Shape;263;p20"/>
          <p:cNvSpPr/>
          <p:nvPr/>
        </p:nvSpPr>
        <p:spPr>
          <a:xfrm>
            <a:off x="906640" y="4460482"/>
            <a:ext cx="63471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F44336"/>
              </a:buClr>
              <a:buSzPts val="1128"/>
              <a:buFont typeface="Calibri"/>
              <a:buNone/>
            </a:pPr>
            <a:r>
              <a:rPr b="1" i="0" lang="en" sz="1127" u="none" cap="none" strike="noStrike">
                <a:solidFill>
                  <a:srgbClr val="F44336"/>
                </a:solidFill>
                <a:latin typeface="Calibri"/>
                <a:ea typeface="Calibri"/>
                <a:cs typeface="Calibri"/>
                <a:sym typeface="Calibri"/>
              </a:rPr>
              <a:t>✗ Zero-shot WORSE than baseline (domain mismatch: Twitter ≠ Amazon)</a:t>
            </a:r>
            <a:endParaRPr b="0" i="0" sz="1127" u="none" cap="none" strike="noStrike">
              <a:solidFill>
                <a:schemeClr val="dk1"/>
              </a:solidFill>
              <a:latin typeface="Calibri"/>
              <a:ea typeface="Calibri"/>
              <a:cs typeface="Calibri"/>
              <a:sym typeface="Calibri"/>
            </a:endParaRPr>
          </a:p>
        </p:txBody>
      </p:sp>
      <p:sp>
        <p:nvSpPr>
          <p:cNvPr id="264" name="Google Shape;264;p20"/>
          <p:cNvSpPr txBox="1"/>
          <p:nvPr/>
        </p:nvSpPr>
        <p:spPr>
          <a:xfrm>
            <a:off x="1014700" y="3531450"/>
            <a:ext cx="56562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chemeClr val="lt1"/>
              </a:solidFill>
              <a:latin typeface="Lato"/>
              <a:ea typeface="Lato"/>
              <a:cs typeface="Lato"/>
              <a:sym typeface="La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21"/>
          <p:cNvSpPr/>
          <p:nvPr/>
        </p:nvSpPr>
        <p:spPr>
          <a:xfrm>
            <a:off x="452625" y="526775"/>
            <a:ext cx="8081700" cy="477300"/>
          </a:xfrm>
          <a:prstGeom prst="rect">
            <a:avLst/>
          </a:prstGeom>
          <a:noFill/>
          <a:ln>
            <a:noFill/>
          </a:ln>
        </p:spPr>
        <p:txBody>
          <a:bodyPr anchorCtr="0" anchor="ctr" bIns="35525" lIns="71050" spcFirstLastPara="1" rIns="71050" wrap="square" tIns="35525">
            <a:noAutofit/>
          </a:bodyPr>
          <a:lstStyle/>
          <a:p>
            <a:pPr indent="0" lvl="0" marL="0" marR="0" rtl="0" algn="l">
              <a:lnSpc>
                <a:spcPct val="100000"/>
              </a:lnSpc>
              <a:spcBef>
                <a:spcPts val="0"/>
              </a:spcBef>
              <a:spcAft>
                <a:spcPts val="0"/>
              </a:spcAft>
              <a:buClr>
                <a:srgbClr val="1E2761"/>
              </a:buClr>
              <a:buSzPts val="2798"/>
              <a:buFont typeface="Calibri"/>
              <a:buNone/>
            </a:pPr>
            <a:r>
              <a:rPr b="1" i="0" lang="en" sz="3698" u="none" cap="none" strike="noStrike">
                <a:solidFill>
                  <a:srgbClr val="1E2761"/>
                </a:solidFill>
                <a:latin typeface="Calibri"/>
                <a:ea typeface="Calibri"/>
                <a:cs typeface="Calibri"/>
                <a:sym typeface="Calibri"/>
              </a:rPr>
              <a:t>Product Clustering: Semantic Approach</a:t>
            </a:r>
            <a:endParaRPr b="0" i="0" sz="3698" u="none" cap="none" strike="noStrike">
              <a:solidFill>
                <a:schemeClr val="dk1"/>
              </a:solidFill>
              <a:latin typeface="Calibri"/>
              <a:ea typeface="Calibri"/>
              <a:cs typeface="Calibri"/>
              <a:sym typeface="Calibri"/>
            </a:endParaRPr>
          </a:p>
        </p:txBody>
      </p:sp>
      <p:sp>
        <p:nvSpPr>
          <p:cNvPr id="271" name="Google Shape;271;p21"/>
          <p:cNvSpPr/>
          <p:nvPr/>
        </p:nvSpPr>
        <p:spPr>
          <a:xfrm>
            <a:off x="745575" y="1066150"/>
            <a:ext cx="7495800" cy="611700"/>
          </a:xfrm>
          <a:prstGeom prst="roundRect">
            <a:avLst>
              <a:gd fmla="val 16667" name="adj"/>
            </a:avLst>
          </a:prstGeom>
          <a:solidFill>
            <a:srgbClr val="CADCFC"/>
          </a:solidFill>
          <a:ln>
            <a:noFill/>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p21"/>
          <p:cNvSpPr/>
          <p:nvPr/>
        </p:nvSpPr>
        <p:spPr>
          <a:xfrm>
            <a:off x="788167" y="1233708"/>
            <a:ext cx="7162200" cy="3054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1E2761"/>
              </a:buClr>
              <a:buSzPts val="1338"/>
              <a:buFont typeface="Calibri"/>
              <a:buNone/>
            </a:pPr>
            <a:r>
              <a:rPr b="1" i="0" lang="en" sz="1337" u="none" cap="none" strike="noStrike">
                <a:solidFill>
                  <a:srgbClr val="1E2761"/>
                </a:solidFill>
                <a:latin typeface="Calibri"/>
                <a:ea typeface="Calibri"/>
                <a:cs typeface="Calibri"/>
                <a:sym typeface="Calibri"/>
              </a:rPr>
              <a:t>Goal: Group 71 products into 5 meaningful meta-categories</a:t>
            </a:r>
            <a:endParaRPr b="0" i="0" sz="1337" u="none" cap="none" strike="noStrike">
              <a:solidFill>
                <a:schemeClr val="dk1"/>
              </a:solidFill>
              <a:latin typeface="Calibri"/>
              <a:ea typeface="Calibri"/>
              <a:cs typeface="Calibri"/>
              <a:sym typeface="Calibri"/>
            </a:endParaRPr>
          </a:p>
        </p:txBody>
      </p:sp>
      <p:sp>
        <p:nvSpPr>
          <p:cNvPr id="273" name="Google Shape;273;p21"/>
          <p:cNvSpPr/>
          <p:nvPr/>
        </p:nvSpPr>
        <p:spPr>
          <a:xfrm>
            <a:off x="870800" y="1952825"/>
            <a:ext cx="1637100" cy="1528500"/>
          </a:xfrm>
          <a:prstGeom prst="roundRect">
            <a:avLst>
              <a:gd fmla="val 16667" name="adj"/>
            </a:avLst>
          </a:prstGeom>
          <a:solidFill>
            <a:srgbClr val="F8F9FA"/>
          </a:solidFill>
          <a:ln cap="flat" cmpd="sng" w="21250">
            <a:solidFill>
              <a:srgbClr val="667EEA"/>
            </a:solidFill>
            <a:prstDash val="solid"/>
            <a:round/>
            <a:headEnd len="sm" w="sm" type="none"/>
            <a:tailEnd len="sm" w="sm" type="none"/>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21"/>
          <p:cNvSpPr/>
          <p:nvPr/>
        </p:nvSpPr>
        <p:spPr>
          <a:xfrm>
            <a:off x="870800" y="2067486"/>
            <a:ext cx="1637100" cy="3822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000000"/>
              </a:buClr>
              <a:buSzPts val="3010"/>
              <a:buFont typeface="Calibri"/>
              <a:buNone/>
            </a:pPr>
            <a:r>
              <a:rPr b="0" i="0" lang="en" sz="3009" u="none" cap="none" strike="noStrike">
                <a:solidFill>
                  <a:srgbClr val="000000"/>
                </a:solidFill>
                <a:latin typeface="Calibri"/>
                <a:ea typeface="Calibri"/>
                <a:cs typeface="Calibri"/>
                <a:sym typeface="Calibri"/>
              </a:rPr>
              <a:t>📱</a:t>
            </a:r>
            <a:endParaRPr b="0" i="0" sz="3009" u="none" cap="none" strike="noStrike">
              <a:solidFill>
                <a:schemeClr val="dk1"/>
              </a:solidFill>
              <a:latin typeface="Calibri"/>
              <a:ea typeface="Calibri"/>
              <a:cs typeface="Calibri"/>
              <a:sym typeface="Calibri"/>
            </a:endParaRPr>
          </a:p>
        </p:txBody>
      </p:sp>
      <p:sp>
        <p:nvSpPr>
          <p:cNvPr id="275" name="Google Shape;275;p21"/>
          <p:cNvSpPr/>
          <p:nvPr/>
        </p:nvSpPr>
        <p:spPr>
          <a:xfrm>
            <a:off x="956951" y="2487909"/>
            <a:ext cx="1464300" cy="3054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1E2761"/>
              </a:buClr>
              <a:buSzPts val="1087"/>
              <a:buFont typeface="Calibri"/>
              <a:buNone/>
            </a:pPr>
            <a:r>
              <a:rPr b="1" i="0" lang="en" sz="1086" u="none" cap="none" strike="noStrike">
                <a:solidFill>
                  <a:srgbClr val="1E2761"/>
                </a:solidFill>
                <a:latin typeface="Calibri"/>
                <a:ea typeface="Calibri"/>
                <a:cs typeface="Calibri"/>
                <a:sym typeface="Calibri"/>
              </a:rPr>
              <a:t>1. Product Names</a:t>
            </a:r>
            <a:endParaRPr b="0" i="0" sz="1086" u="none" cap="none" strike="noStrike">
              <a:solidFill>
                <a:schemeClr val="dk1"/>
              </a:solidFill>
              <a:latin typeface="Calibri"/>
              <a:ea typeface="Calibri"/>
              <a:cs typeface="Calibri"/>
              <a:sym typeface="Calibri"/>
            </a:endParaRPr>
          </a:p>
        </p:txBody>
      </p:sp>
      <p:sp>
        <p:nvSpPr>
          <p:cNvPr id="276" name="Google Shape;276;p21"/>
          <p:cNvSpPr/>
          <p:nvPr/>
        </p:nvSpPr>
        <p:spPr>
          <a:xfrm>
            <a:off x="1000027" y="2870111"/>
            <a:ext cx="1378500" cy="5349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71 Amazon devices</a:t>
            </a:r>
            <a:endParaRPr b="0" i="0" sz="835"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(Fire HD 8, Kindle Paperwhite, etc.)</a:t>
            </a:r>
            <a:endParaRPr b="0" i="0" sz="835" u="none" cap="none" strike="noStrike">
              <a:solidFill>
                <a:schemeClr val="dk1"/>
              </a:solidFill>
              <a:latin typeface="Calibri"/>
              <a:ea typeface="Calibri"/>
              <a:cs typeface="Calibri"/>
              <a:sym typeface="Calibri"/>
            </a:endParaRPr>
          </a:p>
        </p:txBody>
      </p:sp>
      <p:sp>
        <p:nvSpPr>
          <p:cNvPr id="277" name="Google Shape;277;p21"/>
          <p:cNvSpPr/>
          <p:nvPr/>
        </p:nvSpPr>
        <p:spPr>
          <a:xfrm>
            <a:off x="2550748" y="2602569"/>
            <a:ext cx="172500" cy="305400"/>
          </a:xfrm>
          <a:prstGeom prst="rightArrow">
            <a:avLst>
              <a:gd fmla="val 50000" name="adj1"/>
              <a:gd fmla="val 50000" name="adj2"/>
            </a:avLst>
          </a:prstGeom>
          <a:solidFill>
            <a:srgbClr val="667EEA"/>
          </a:solidFill>
          <a:ln>
            <a:noFill/>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21"/>
          <p:cNvSpPr/>
          <p:nvPr/>
        </p:nvSpPr>
        <p:spPr>
          <a:xfrm>
            <a:off x="2766126" y="1952825"/>
            <a:ext cx="1637100" cy="1528500"/>
          </a:xfrm>
          <a:prstGeom prst="roundRect">
            <a:avLst>
              <a:gd fmla="val 16667" name="adj"/>
            </a:avLst>
          </a:prstGeom>
          <a:solidFill>
            <a:srgbClr val="F8F9FA"/>
          </a:solidFill>
          <a:ln cap="flat" cmpd="sng" w="21250">
            <a:solidFill>
              <a:srgbClr val="667EEA"/>
            </a:solidFill>
            <a:prstDash val="solid"/>
            <a:round/>
            <a:headEnd len="sm" w="sm" type="none"/>
            <a:tailEnd len="sm" w="sm" type="none"/>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21"/>
          <p:cNvSpPr/>
          <p:nvPr/>
        </p:nvSpPr>
        <p:spPr>
          <a:xfrm>
            <a:off x="2766126" y="2067486"/>
            <a:ext cx="1637100" cy="3822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000000"/>
              </a:buClr>
              <a:buSzPts val="3010"/>
              <a:buFont typeface="Calibri"/>
              <a:buNone/>
            </a:pPr>
            <a:r>
              <a:rPr b="0" i="0" lang="en" sz="3009" u="none" cap="none" strike="noStrike">
                <a:solidFill>
                  <a:srgbClr val="000000"/>
                </a:solidFill>
                <a:latin typeface="Calibri"/>
                <a:ea typeface="Calibri"/>
                <a:cs typeface="Calibri"/>
                <a:sym typeface="Calibri"/>
              </a:rPr>
              <a:t>🔢</a:t>
            </a:r>
            <a:endParaRPr b="0" i="0" sz="3009" u="none" cap="none" strike="noStrike">
              <a:solidFill>
                <a:schemeClr val="dk1"/>
              </a:solidFill>
              <a:latin typeface="Calibri"/>
              <a:ea typeface="Calibri"/>
              <a:cs typeface="Calibri"/>
              <a:sym typeface="Calibri"/>
            </a:endParaRPr>
          </a:p>
        </p:txBody>
      </p:sp>
      <p:sp>
        <p:nvSpPr>
          <p:cNvPr id="280" name="Google Shape;280;p21"/>
          <p:cNvSpPr/>
          <p:nvPr/>
        </p:nvSpPr>
        <p:spPr>
          <a:xfrm>
            <a:off x="2852278" y="2487909"/>
            <a:ext cx="1464300" cy="3054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1E2761"/>
              </a:buClr>
              <a:buSzPts val="1087"/>
              <a:buFont typeface="Calibri"/>
              <a:buNone/>
            </a:pPr>
            <a:r>
              <a:rPr b="1" i="0" lang="en" sz="1086" u="none" cap="none" strike="noStrike">
                <a:solidFill>
                  <a:srgbClr val="1E2761"/>
                </a:solidFill>
                <a:latin typeface="Calibri"/>
                <a:ea typeface="Calibri"/>
                <a:cs typeface="Calibri"/>
                <a:sym typeface="Calibri"/>
              </a:rPr>
              <a:t>2. Embeddings</a:t>
            </a:r>
            <a:endParaRPr b="0" i="0" sz="1086" u="none" cap="none" strike="noStrike">
              <a:solidFill>
                <a:schemeClr val="dk1"/>
              </a:solidFill>
              <a:latin typeface="Calibri"/>
              <a:ea typeface="Calibri"/>
              <a:cs typeface="Calibri"/>
              <a:sym typeface="Calibri"/>
            </a:endParaRPr>
          </a:p>
        </p:txBody>
      </p:sp>
      <p:sp>
        <p:nvSpPr>
          <p:cNvPr id="281" name="Google Shape;281;p21"/>
          <p:cNvSpPr/>
          <p:nvPr/>
        </p:nvSpPr>
        <p:spPr>
          <a:xfrm>
            <a:off x="2895353" y="2870111"/>
            <a:ext cx="1378500" cy="5349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Sentence Transformers</a:t>
            </a:r>
            <a:endParaRPr b="0" i="0" sz="835"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384-dimensional vectors</a:t>
            </a:r>
            <a:endParaRPr b="0" i="0" sz="835" u="none" cap="none" strike="noStrike">
              <a:solidFill>
                <a:schemeClr val="dk1"/>
              </a:solidFill>
              <a:latin typeface="Calibri"/>
              <a:ea typeface="Calibri"/>
              <a:cs typeface="Calibri"/>
              <a:sym typeface="Calibri"/>
            </a:endParaRPr>
          </a:p>
        </p:txBody>
      </p:sp>
      <p:sp>
        <p:nvSpPr>
          <p:cNvPr id="282" name="Google Shape;282;p21"/>
          <p:cNvSpPr/>
          <p:nvPr/>
        </p:nvSpPr>
        <p:spPr>
          <a:xfrm>
            <a:off x="4446075" y="2602569"/>
            <a:ext cx="172500" cy="305400"/>
          </a:xfrm>
          <a:prstGeom prst="rightArrow">
            <a:avLst>
              <a:gd fmla="val 50000" name="adj1"/>
              <a:gd fmla="val 50000" name="adj2"/>
            </a:avLst>
          </a:prstGeom>
          <a:solidFill>
            <a:srgbClr val="667EEA"/>
          </a:solidFill>
          <a:ln>
            <a:noFill/>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21"/>
          <p:cNvSpPr/>
          <p:nvPr/>
        </p:nvSpPr>
        <p:spPr>
          <a:xfrm>
            <a:off x="4661453" y="1952825"/>
            <a:ext cx="1637100" cy="1528500"/>
          </a:xfrm>
          <a:prstGeom prst="roundRect">
            <a:avLst>
              <a:gd fmla="val 16667" name="adj"/>
            </a:avLst>
          </a:prstGeom>
          <a:solidFill>
            <a:srgbClr val="F8F9FA"/>
          </a:solidFill>
          <a:ln cap="flat" cmpd="sng" w="21250">
            <a:solidFill>
              <a:srgbClr val="667EEA"/>
            </a:solidFill>
            <a:prstDash val="solid"/>
            <a:round/>
            <a:headEnd len="sm" w="sm" type="none"/>
            <a:tailEnd len="sm" w="sm" type="none"/>
          </a:ln>
        </p:spPr>
        <p:txBody>
          <a:bodyPr anchorCtr="0" anchor="ctr" bIns="76400" lIns="76400" spcFirstLastPara="1" rIns="76400" wrap="square" tIns="764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21"/>
          <p:cNvSpPr/>
          <p:nvPr/>
        </p:nvSpPr>
        <p:spPr>
          <a:xfrm>
            <a:off x="4661453" y="2067486"/>
            <a:ext cx="1637100" cy="3822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000000"/>
              </a:buClr>
              <a:buSzPts val="3010"/>
              <a:buFont typeface="Calibri"/>
              <a:buNone/>
            </a:pPr>
            <a:r>
              <a:rPr b="0" i="0" lang="en" sz="3009" u="none" cap="none" strike="noStrike">
                <a:solidFill>
                  <a:srgbClr val="000000"/>
                </a:solidFill>
                <a:latin typeface="Calibri"/>
                <a:ea typeface="Calibri"/>
                <a:cs typeface="Calibri"/>
                <a:sym typeface="Calibri"/>
              </a:rPr>
              <a:t>🎯</a:t>
            </a:r>
            <a:endParaRPr b="0" i="0" sz="3009" u="none" cap="none" strike="noStrike">
              <a:solidFill>
                <a:schemeClr val="dk1"/>
              </a:solidFill>
              <a:latin typeface="Calibri"/>
              <a:ea typeface="Calibri"/>
              <a:cs typeface="Calibri"/>
              <a:sym typeface="Calibri"/>
            </a:endParaRPr>
          </a:p>
        </p:txBody>
      </p:sp>
      <p:sp>
        <p:nvSpPr>
          <p:cNvPr id="285" name="Google Shape;285;p21"/>
          <p:cNvSpPr/>
          <p:nvPr/>
        </p:nvSpPr>
        <p:spPr>
          <a:xfrm>
            <a:off x="4747604" y="2487909"/>
            <a:ext cx="1464300" cy="3054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1E2761"/>
              </a:buClr>
              <a:buSzPts val="1087"/>
              <a:buFont typeface="Calibri"/>
              <a:buNone/>
            </a:pPr>
            <a:r>
              <a:rPr b="1" i="0" lang="en" sz="1086" u="none" cap="none" strike="noStrike">
                <a:solidFill>
                  <a:srgbClr val="1E2761"/>
                </a:solidFill>
                <a:latin typeface="Calibri"/>
                <a:ea typeface="Calibri"/>
                <a:cs typeface="Calibri"/>
                <a:sym typeface="Calibri"/>
              </a:rPr>
              <a:t>3. K-Means</a:t>
            </a:r>
            <a:endParaRPr b="0" i="0" sz="1086" u="none" cap="none" strike="noStrike">
              <a:solidFill>
                <a:schemeClr val="dk1"/>
              </a:solidFill>
              <a:latin typeface="Calibri"/>
              <a:ea typeface="Calibri"/>
              <a:cs typeface="Calibri"/>
              <a:sym typeface="Calibri"/>
            </a:endParaRPr>
          </a:p>
        </p:txBody>
      </p:sp>
      <p:sp>
        <p:nvSpPr>
          <p:cNvPr id="286" name="Google Shape;286;p21"/>
          <p:cNvSpPr/>
          <p:nvPr/>
        </p:nvSpPr>
        <p:spPr>
          <a:xfrm>
            <a:off x="4790680" y="2870111"/>
            <a:ext cx="1378500" cy="534900"/>
          </a:xfrm>
          <a:prstGeom prst="rect">
            <a:avLst/>
          </a:prstGeom>
          <a:noFill/>
          <a:ln>
            <a:noFill/>
          </a:ln>
        </p:spPr>
        <p:txBody>
          <a:bodyPr anchorCtr="0" anchor="ctr" bIns="38200" lIns="76400" spcFirstLastPara="1" rIns="76400" wrap="square" tIns="38200">
            <a:noAutofit/>
          </a:bodyPr>
          <a:lstStyle/>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Cluster into k=5 groups</a:t>
            </a:r>
            <a:endParaRPr b="0" i="0" sz="835"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555555"/>
              </a:buClr>
              <a:buSzPts val="836"/>
              <a:buFont typeface="Calibri"/>
              <a:buNone/>
            </a:pPr>
            <a:r>
              <a:rPr b="0" i="0" lang="en" sz="835" u="none" cap="none" strike="noStrike">
                <a:solidFill>
                  <a:srgbClr val="555555"/>
                </a:solidFill>
                <a:latin typeface="Calibri"/>
                <a:ea typeface="Calibri"/>
                <a:cs typeface="Calibri"/>
                <a:sym typeface="Calibri"/>
              </a:rPr>
              <a:t>Based on semantic similarity</a:t>
            </a:r>
            <a:endParaRPr b="0" i="0" sz="835" u="none" cap="none" strike="noStrike">
              <a:solidFill>
                <a:schemeClr val="dk1"/>
              </a:solidFill>
              <a:latin typeface="Calibri"/>
              <a:ea typeface="Calibri"/>
              <a:cs typeface="Calibri"/>
              <a:sym typeface="Calibri"/>
            </a:endParaRPr>
          </a:p>
        </p:txBody>
      </p:sp>
      <p:sp>
        <p:nvSpPr>
          <p:cNvPr id="287" name="Google Shape;287;p21"/>
          <p:cNvSpPr/>
          <p:nvPr/>
        </p:nvSpPr>
        <p:spPr>
          <a:xfrm>
            <a:off x="6360509" y="2614499"/>
            <a:ext cx="158700" cy="281700"/>
          </a:xfrm>
          <a:prstGeom prst="rightArrow">
            <a:avLst>
              <a:gd fmla="val 50000" name="adj1"/>
              <a:gd fmla="val 50000" name="adj2"/>
            </a:avLst>
          </a:prstGeom>
          <a:solidFill>
            <a:srgbClr val="667EEA"/>
          </a:solidFill>
          <a:ln>
            <a:noFill/>
          </a:ln>
        </p:spPr>
        <p:txBody>
          <a:bodyPr anchorCtr="0" anchor="ctr" bIns="70425" lIns="70425" spcFirstLastPara="1" rIns="70425" wrap="square" tIns="70425">
            <a:noAutofit/>
          </a:bodyPr>
          <a:lstStyle/>
          <a:p>
            <a:pPr indent="0" lvl="0" marL="0" marR="0" rtl="0" algn="l">
              <a:lnSpc>
                <a:spcPct val="100000"/>
              </a:lnSpc>
              <a:spcBef>
                <a:spcPts val="0"/>
              </a:spcBef>
              <a:spcAft>
                <a:spcPts val="0"/>
              </a:spcAft>
              <a:buClr>
                <a:srgbClr val="000000"/>
              </a:buClr>
              <a:buSzPts val="1505"/>
              <a:buFont typeface="Arial"/>
              <a:buNone/>
            </a:pPr>
            <a:r>
              <a:t/>
            </a:r>
            <a:endParaRPr b="0" i="0" sz="1505" u="none" cap="none" strike="noStrike">
              <a:solidFill>
                <a:srgbClr val="000000"/>
              </a:solidFill>
              <a:latin typeface="Arial"/>
              <a:ea typeface="Arial"/>
              <a:cs typeface="Arial"/>
              <a:sym typeface="Arial"/>
            </a:endParaRPr>
          </a:p>
        </p:txBody>
      </p:sp>
      <p:sp>
        <p:nvSpPr>
          <p:cNvPr id="288" name="Google Shape;288;p21"/>
          <p:cNvSpPr/>
          <p:nvPr/>
        </p:nvSpPr>
        <p:spPr>
          <a:xfrm>
            <a:off x="6543859" y="1952995"/>
            <a:ext cx="1572300" cy="1528500"/>
          </a:xfrm>
          <a:prstGeom prst="roundRect">
            <a:avLst>
              <a:gd fmla="val 16667" name="adj"/>
            </a:avLst>
          </a:prstGeom>
          <a:solidFill>
            <a:srgbClr val="F8F9FA"/>
          </a:solidFill>
          <a:ln cap="flat" cmpd="sng" w="20400">
            <a:solidFill>
              <a:srgbClr val="667EEA"/>
            </a:solidFill>
            <a:prstDash val="solid"/>
            <a:round/>
            <a:headEnd len="sm" w="sm" type="none"/>
            <a:tailEnd len="sm" w="sm" type="none"/>
          </a:ln>
        </p:spPr>
        <p:txBody>
          <a:bodyPr anchorCtr="0" anchor="ctr" bIns="73425" lIns="73425" spcFirstLastPara="1" rIns="73425" wrap="square" tIns="73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21"/>
          <p:cNvSpPr/>
          <p:nvPr/>
        </p:nvSpPr>
        <p:spPr>
          <a:xfrm>
            <a:off x="6543859" y="2067638"/>
            <a:ext cx="1572300" cy="382200"/>
          </a:xfrm>
          <a:prstGeom prst="rect">
            <a:avLst/>
          </a:prstGeom>
          <a:noFill/>
          <a:ln>
            <a:noFill/>
          </a:ln>
        </p:spPr>
        <p:txBody>
          <a:bodyPr anchorCtr="0" anchor="ctr" bIns="36700" lIns="73425" spcFirstLastPara="1" rIns="73425" wrap="square" tIns="36700">
            <a:noAutofit/>
          </a:bodyPr>
          <a:lstStyle/>
          <a:p>
            <a:pPr indent="0" lvl="0" marL="0" marR="0" rtl="0" algn="ctr">
              <a:lnSpc>
                <a:spcPct val="100000"/>
              </a:lnSpc>
              <a:spcBef>
                <a:spcPts val="0"/>
              </a:spcBef>
              <a:spcAft>
                <a:spcPts val="0"/>
              </a:spcAft>
              <a:buClr>
                <a:srgbClr val="000000"/>
              </a:buClr>
              <a:buSzPts val="2892"/>
              <a:buFont typeface="Calibri"/>
              <a:buNone/>
            </a:pPr>
            <a:r>
              <a:rPr b="0" i="0" lang="en" sz="2891" u="none" cap="none" strike="noStrike">
                <a:solidFill>
                  <a:srgbClr val="000000"/>
                </a:solidFill>
                <a:latin typeface="Calibri"/>
                <a:ea typeface="Calibri"/>
                <a:cs typeface="Calibri"/>
                <a:sym typeface="Calibri"/>
              </a:rPr>
              <a:t>📊</a:t>
            </a:r>
            <a:endParaRPr b="0" i="0" sz="2891" u="none" cap="none" strike="noStrike">
              <a:solidFill>
                <a:schemeClr val="dk1"/>
              </a:solidFill>
              <a:latin typeface="Calibri"/>
              <a:ea typeface="Calibri"/>
              <a:cs typeface="Calibri"/>
              <a:sym typeface="Calibri"/>
            </a:endParaRPr>
          </a:p>
        </p:txBody>
      </p:sp>
      <p:sp>
        <p:nvSpPr>
          <p:cNvPr id="290" name="Google Shape;290;p21"/>
          <p:cNvSpPr/>
          <p:nvPr/>
        </p:nvSpPr>
        <p:spPr>
          <a:xfrm>
            <a:off x="6626633" y="2487994"/>
            <a:ext cx="1407300" cy="305400"/>
          </a:xfrm>
          <a:prstGeom prst="rect">
            <a:avLst/>
          </a:prstGeom>
          <a:noFill/>
          <a:ln>
            <a:noFill/>
          </a:ln>
        </p:spPr>
        <p:txBody>
          <a:bodyPr anchorCtr="0" anchor="ctr" bIns="36700" lIns="73425" spcFirstLastPara="1" rIns="73425" wrap="square" tIns="36700">
            <a:noAutofit/>
          </a:bodyPr>
          <a:lstStyle/>
          <a:p>
            <a:pPr indent="0" lvl="0" marL="0" marR="0" rtl="0" algn="ctr">
              <a:lnSpc>
                <a:spcPct val="100000"/>
              </a:lnSpc>
              <a:spcBef>
                <a:spcPts val="0"/>
              </a:spcBef>
              <a:spcAft>
                <a:spcPts val="0"/>
              </a:spcAft>
              <a:buClr>
                <a:srgbClr val="1E2761"/>
              </a:buClr>
              <a:buSzPts val="1044"/>
              <a:buFont typeface="Calibri"/>
              <a:buNone/>
            </a:pPr>
            <a:r>
              <a:rPr b="1" i="0" lang="en" sz="1044" u="none" cap="none" strike="noStrike">
                <a:solidFill>
                  <a:srgbClr val="1E2761"/>
                </a:solidFill>
                <a:latin typeface="Calibri"/>
                <a:ea typeface="Calibri"/>
                <a:cs typeface="Calibri"/>
                <a:sym typeface="Calibri"/>
              </a:rPr>
              <a:t>4. Categories</a:t>
            </a:r>
            <a:endParaRPr b="0" i="0" sz="1044" u="none" cap="none" strike="noStrike">
              <a:solidFill>
                <a:schemeClr val="dk1"/>
              </a:solidFill>
              <a:latin typeface="Calibri"/>
              <a:ea typeface="Calibri"/>
              <a:cs typeface="Calibri"/>
              <a:sym typeface="Calibri"/>
            </a:endParaRPr>
          </a:p>
        </p:txBody>
      </p:sp>
      <p:sp>
        <p:nvSpPr>
          <p:cNvPr id="291" name="Google Shape;291;p21"/>
          <p:cNvSpPr/>
          <p:nvPr/>
        </p:nvSpPr>
        <p:spPr>
          <a:xfrm>
            <a:off x="6668020" y="2870136"/>
            <a:ext cx="1324200" cy="534900"/>
          </a:xfrm>
          <a:prstGeom prst="rect">
            <a:avLst/>
          </a:prstGeom>
          <a:noFill/>
          <a:ln>
            <a:noFill/>
          </a:ln>
        </p:spPr>
        <p:txBody>
          <a:bodyPr anchorCtr="0" anchor="ctr" bIns="36700" lIns="73425" spcFirstLastPara="1" rIns="73425" wrap="square" tIns="36700">
            <a:noAutofit/>
          </a:bodyPr>
          <a:lstStyle/>
          <a:p>
            <a:pPr indent="0" lvl="0" marL="0" marR="0" rtl="0" algn="ctr">
              <a:lnSpc>
                <a:spcPct val="100000"/>
              </a:lnSpc>
              <a:spcBef>
                <a:spcPts val="0"/>
              </a:spcBef>
              <a:spcAft>
                <a:spcPts val="0"/>
              </a:spcAft>
              <a:buClr>
                <a:srgbClr val="555555"/>
              </a:buClr>
              <a:buSzPts val="803"/>
              <a:buFont typeface="Calibri"/>
              <a:buNone/>
            </a:pPr>
            <a:r>
              <a:rPr b="0" i="0" lang="en" sz="803" u="none" cap="none" strike="noStrike">
                <a:solidFill>
                  <a:srgbClr val="555555"/>
                </a:solidFill>
                <a:latin typeface="Calibri"/>
                <a:ea typeface="Calibri"/>
                <a:cs typeface="Calibri"/>
                <a:sym typeface="Calibri"/>
              </a:rPr>
              <a:t>Fire, Kindle, Echo,</a:t>
            </a:r>
            <a:endParaRPr b="0" i="0" sz="803"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555555"/>
              </a:buClr>
              <a:buSzPts val="803"/>
              <a:buFont typeface="Calibri"/>
              <a:buNone/>
            </a:pPr>
            <a:r>
              <a:rPr b="0" i="0" lang="en" sz="803" u="none" cap="none" strike="noStrike">
                <a:solidFill>
                  <a:srgbClr val="555555"/>
                </a:solidFill>
                <a:latin typeface="Calibri"/>
                <a:ea typeface="Calibri"/>
                <a:cs typeface="Calibri"/>
                <a:sym typeface="Calibri"/>
              </a:rPr>
              <a:t>Kids, Fire TV</a:t>
            </a:r>
            <a:endParaRPr b="0" i="0" sz="803" u="none" cap="none" strike="noStrike">
              <a:solidFill>
                <a:schemeClr val="dk1"/>
              </a:solidFill>
              <a:latin typeface="Calibri"/>
              <a:ea typeface="Calibri"/>
              <a:cs typeface="Calibri"/>
              <a:sym typeface="Calibri"/>
            </a:endParaRPr>
          </a:p>
        </p:txBody>
      </p:sp>
      <p:sp>
        <p:nvSpPr>
          <p:cNvPr id="292" name="Google Shape;292;p21"/>
          <p:cNvSpPr/>
          <p:nvPr/>
        </p:nvSpPr>
        <p:spPr>
          <a:xfrm>
            <a:off x="621650" y="3832711"/>
            <a:ext cx="7495800" cy="305400"/>
          </a:xfrm>
          <a:prstGeom prst="rect">
            <a:avLst/>
          </a:prstGeom>
          <a:noFill/>
          <a:ln>
            <a:noFill/>
          </a:ln>
        </p:spPr>
        <p:txBody>
          <a:bodyPr anchorCtr="0" anchor="ctr" bIns="38200" lIns="76400" spcFirstLastPara="1" rIns="76400" wrap="square" tIns="38200">
            <a:noAutofit/>
          </a:bodyPr>
          <a:lstStyle/>
          <a:p>
            <a:pPr indent="0" lvl="0" marL="0" marR="0" rtl="0" algn="l">
              <a:lnSpc>
                <a:spcPct val="100000"/>
              </a:lnSpc>
              <a:spcBef>
                <a:spcPts val="0"/>
              </a:spcBef>
              <a:spcAft>
                <a:spcPts val="0"/>
              </a:spcAft>
              <a:buClr>
                <a:srgbClr val="667EEA"/>
              </a:buClr>
              <a:buSzPts val="1338"/>
              <a:buFont typeface="Calibri"/>
              <a:buNone/>
            </a:pPr>
            <a:r>
              <a:rPr b="1" i="0" lang="en" sz="1337" u="none" cap="none" strike="noStrike">
                <a:solidFill>
                  <a:srgbClr val="667EEA"/>
                </a:solidFill>
                <a:latin typeface="Calibri"/>
                <a:ea typeface="Calibri"/>
                <a:cs typeface="Calibri"/>
                <a:sym typeface="Calibri"/>
              </a:rPr>
              <a:t>Why Semantic Embeddings?</a:t>
            </a:r>
            <a:endParaRPr b="0" i="0" sz="1337" u="none" cap="none" strike="noStrike">
              <a:solidFill>
                <a:schemeClr val="dk1"/>
              </a:solidFill>
              <a:latin typeface="Calibri"/>
              <a:ea typeface="Calibri"/>
              <a:cs typeface="Calibri"/>
              <a:sym typeface="Calibri"/>
            </a:endParaRPr>
          </a:p>
        </p:txBody>
      </p:sp>
      <p:sp>
        <p:nvSpPr>
          <p:cNvPr id="293" name="Google Shape;293;p21"/>
          <p:cNvSpPr/>
          <p:nvPr/>
        </p:nvSpPr>
        <p:spPr>
          <a:xfrm>
            <a:off x="1038068" y="4214918"/>
            <a:ext cx="6662400" cy="229500"/>
          </a:xfrm>
          <a:prstGeom prst="rect">
            <a:avLst/>
          </a:prstGeom>
          <a:noFill/>
          <a:ln>
            <a:noFill/>
          </a:ln>
        </p:spPr>
        <p:txBody>
          <a:bodyPr anchorCtr="0" anchor="ctr" bIns="38200" lIns="76400" spcFirstLastPara="1" rIns="76400" wrap="square" tIns="38200">
            <a:noAutofit/>
          </a:bodyPr>
          <a:lstStyle/>
          <a:p>
            <a:pPr indent="0" lvl="0" marL="0" marR="0" rtl="0" algn="l">
              <a:lnSpc>
                <a:spcPct val="100000"/>
              </a:lnSpc>
              <a:spcBef>
                <a:spcPts val="0"/>
              </a:spcBef>
              <a:spcAft>
                <a:spcPts val="0"/>
              </a:spcAft>
              <a:buClr>
                <a:srgbClr val="4CAF50"/>
              </a:buClr>
              <a:buSzPts val="1003"/>
              <a:buFont typeface="Calibri"/>
              <a:buNone/>
            </a:pPr>
            <a:r>
              <a:rPr b="0" i="0" lang="en" sz="1003" u="none" cap="none" strike="noStrike">
                <a:solidFill>
                  <a:srgbClr val="4CAF50"/>
                </a:solidFill>
                <a:latin typeface="Calibri"/>
                <a:ea typeface="Calibri"/>
                <a:cs typeface="Calibri"/>
                <a:sym typeface="Calibri"/>
              </a:rPr>
              <a:t>✓ Captures meaning: 'Fire HD 8' and 'Fire 7' are semantically similar</a:t>
            </a:r>
            <a:endParaRPr b="0" i="0" sz="1003" u="none" cap="none" strike="noStrike">
              <a:solidFill>
                <a:schemeClr val="dk1"/>
              </a:solidFill>
              <a:latin typeface="Calibri"/>
              <a:ea typeface="Calibri"/>
              <a:cs typeface="Calibri"/>
              <a:sym typeface="Calibri"/>
            </a:endParaRPr>
          </a:p>
        </p:txBody>
      </p:sp>
      <p:sp>
        <p:nvSpPr>
          <p:cNvPr id="294" name="Google Shape;294;p21"/>
          <p:cNvSpPr/>
          <p:nvPr/>
        </p:nvSpPr>
        <p:spPr>
          <a:xfrm>
            <a:off x="1038068" y="4520684"/>
            <a:ext cx="6662400" cy="229500"/>
          </a:xfrm>
          <a:prstGeom prst="rect">
            <a:avLst/>
          </a:prstGeom>
          <a:noFill/>
          <a:ln>
            <a:noFill/>
          </a:ln>
        </p:spPr>
        <p:txBody>
          <a:bodyPr anchorCtr="0" anchor="ctr" bIns="38200" lIns="76400" spcFirstLastPara="1" rIns="76400" wrap="square" tIns="38200">
            <a:noAutofit/>
          </a:bodyPr>
          <a:lstStyle/>
          <a:p>
            <a:pPr indent="0" lvl="0" marL="0" marR="0" rtl="0" algn="l">
              <a:lnSpc>
                <a:spcPct val="100000"/>
              </a:lnSpc>
              <a:spcBef>
                <a:spcPts val="0"/>
              </a:spcBef>
              <a:spcAft>
                <a:spcPts val="0"/>
              </a:spcAft>
              <a:buClr>
                <a:srgbClr val="4CAF50"/>
              </a:buClr>
              <a:buSzPts val="1003"/>
              <a:buFont typeface="Calibri"/>
              <a:buNone/>
            </a:pPr>
            <a:r>
              <a:rPr b="0" i="0" lang="en" sz="1003" u="none" cap="none" strike="noStrike">
                <a:solidFill>
                  <a:srgbClr val="4CAF50"/>
                </a:solidFill>
                <a:latin typeface="Calibri"/>
                <a:ea typeface="Calibri"/>
                <a:cs typeface="Calibri"/>
                <a:sym typeface="Calibri"/>
              </a:rPr>
              <a:t>✓ Beyond keywords: Groups products by concept, not just matching words</a:t>
            </a:r>
            <a:endParaRPr b="0" i="0" sz="1003" u="none" cap="none" strike="noStrike">
              <a:solidFill>
                <a:schemeClr val="dk1"/>
              </a:solidFill>
              <a:latin typeface="Calibri"/>
              <a:ea typeface="Calibri"/>
              <a:cs typeface="Calibri"/>
              <a:sym typeface="Calibri"/>
            </a:endParaRPr>
          </a:p>
        </p:txBody>
      </p:sp>
      <p:sp>
        <p:nvSpPr>
          <p:cNvPr id="295" name="Google Shape;295;p21"/>
          <p:cNvSpPr/>
          <p:nvPr/>
        </p:nvSpPr>
        <p:spPr>
          <a:xfrm>
            <a:off x="1038068" y="4826450"/>
            <a:ext cx="6662400" cy="229500"/>
          </a:xfrm>
          <a:prstGeom prst="rect">
            <a:avLst/>
          </a:prstGeom>
          <a:noFill/>
          <a:ln>
            <a:noFill/>
          </a:ln>
        </p:spPr>
        <p:txBody>
          <a:bodyPr anchorCtr="0" anchor="ctr" bIns="38200" lIns="76400" spcFirstLastPara="1" rIns="76400" wrap="square" tIns="38200">
            <a:noAutofit/>
          </a:bodyPr>
          <a:lstStyle/>
          <a:p>
            <a:pPr indent="0" lvl="0" marL="0" marR="0" rtl="0" algn="l">
              <a:lnSpc>
                <a:spcPct val="100000"/>
              </a:lnSpc>
              <a:spcBef>
                <a:spcPts val="0"/>
              </a:spcBef>
              <a:spcAft>
                <a:spcPts val="0"/>
              </a:spcAft>
              <a:buClr>
                <a:srgbClr val="999999"/>
              </a:buClr>
              <a:buSzPts val="1003"/>
              <a:buFont typeface="Calibri"/>
              <a:buNone/>
            </a:pPr>
            <a:r>
              <a:rPr b="0" i="0" lang="en" sz="1003" u="none" cap="none" strike="noStrike">
                <a:solidFill>
                  <a:srgbClr val="999999"/>
                </a:solidFill>
                <a:latin typeface="Calibri"/>
                <a:ea typeface="Calibri"/>
                <a:cs typeface="Calibri"/>
                <a:sym typeface="Calibri"/>
              </a:rPr>
              <a:t>✗ TF-IDF alternative would miss semantic relationships</a:t>
            </a:r>
            <a:endParaRPr b="0" i="0" sz="1003"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300" name="Shape 300"/>
        <p:cNvGrpSpPr/>
        <p:nvPr/>
      </p:nvGrpSpPr>
      <p:grpSpPr>
        <a:xfrm>
          <a:off x="0" y="0"/>
          <a:ext cx="0" cy="0"/>
          <a:chOff x="0" y="0"/>
          <a:chExt cx="0" cy="0"/>
        </a:xfrm>
      </p:grpSpPr>
      <p:pic>
        <p:nvPicPr>
          <p:cNvPr id="301" name="Google Shape;301;p22"/>
          <p:cNvPicPr preferRelativeResize="0"/>
          <p:nvPr/>
        </p:nvPicPr>
        <p:blipFill rotWithShape="1">
          <a:blip r:embed="rId3">
            <a:alphaModFix/>
          </a:blip>
          <a:srcRect b="0" l="0" r="0" t="0"/>
          <a:stretch/>
        </p:blipFill>
        <p:spPr>
          <a:xfrm>
            <a:off x="0" y="662925"/>
            <a:ext cx="6400800" cy="4480565"/>
          </a:xfrm>
          <a:prstGeom prst="rect">
            <a:avLst/>
          </a:prstGeom>
          <a:noFill/>
          <a:ln>
            <a:noFill/>
          </a:ln>
        </p:spPr>
      </p:pic>
      <p:sp>
        <p:nvSpPr>
          <p:cNvPr id="302" name="Google Shape;302;p22"/>
          <p:cNvSpPr/>
          <p:nvPr/>
        </p:nvSpPr>
        <p:spPr>
          <a:xfrm>
            <a:off x="457200" y="457200"/>
            <a:ext cx="82296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Clustering: UMAP 2D Projection</a:t>
            </a:r>
            <a:endParaRPr b="0" i="0" sz="3600" u="none" cap="none" strike="noStrike">
              <a:solidFill>
                <a:schemeClr val="dk1"/>
              </a:solidFill>
              <a:latin typeface="Calibri"/>
              <a:ea typeface="Calibri"/>
              <a:cs typeface="Calibri"/>
              <a:sym typeface="Calibri"/>
            </a:endParaRPr>
          </a:p>
        </p:txBody>
      </p:sp>
      <p:sp>
        <p:nvSpPr>
          <p:cNvPr id="303" name="Google Shape;303;p22"/>
          <p:cNvSpPr/>
          <p:nvPr/>
        </p:nvSpPr>
        <p:spPr>
          <a:xfrm>
            <a:off x="417775" y="1089775"/>
            <a:ext cx="64008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2400"/>
              <a:buFont typeface="Calibri"/>
              <a:buNone/>
            </a:pPr>
            <a:r>
              <a:t/>
            </a:r>
            <a:endParaRPr b="0" i="0" sz="2400" u="none" cap="none" strike="noStrike">
              <a:solidFill>
                <a:schemeClr val="dk1"/>
              </a:solidFill>
              <a:latin typeface="Calibri"/>
              <a:ea typeface="Calibri"/>
              <a:cs typeface="Calibri"/>
              <a:sym typeface="Calibri"/>
            </a:endParaRPr>
          </a:p>
        </p:txBody>
      </p:sp>
      <p:sp>
        <p:nvSpPr>
          <p:cNvPr id="304" name="Google Shape;304;p22"/>
          <p:cNvSpPr/>
          <p:nvPr/>
        </p:nvSpPr>
        <p:spPr>
          <a:xfrm>
            <a:off x="5278825" y="2314750"/>
            <a:ext cx="37962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1600"/>
              <a:buFont typeface="Calibri"/>
              <a:buNone/>
            </a:pPr>
            <a:r>
              <a:rPr b="1" i="0" lang="en" sz="1600" u="none" cap="none" strike="noStrike">
                <a:solidFill>
                  <a:srgbClr val="667EEA"/>
                </a:solidFill>
                <a:latin typeface="Calibri"/>
                <a:ea typeface="Calibri"/>
                <a:cs typeface="Calibri"/>
                <a:sym typeface="Calibri"/>
              </a:rPr>
              <a:t>Results</a:t>
            </a:r>
            <a:endParaRPr b="0" i="0" sz="1600" u="none" cap="none" strike="noStrike">
              <a:solidFill>
                <a:schemeClr val="dk1"/>
              </a:solidFill>
              <a:latin typeface="Calibri"/>
              <a:ea typeface="Calibri"/>
              <a:cs typeface="Calibri"/>
              <a:sym typeface="Calibri"/>
            </a:endParaRPr>
          </a:p>
        </p:txBody>
      </p:sp>
      <p:sp>
        <p:nvSpPr>
          <p:cNvPr id="305" name="Google Shape;305;p22"/>
          <p:cNvSpPr/>
          <p:nvPr/>
        </p:nvSpPr>
        <p:spPr>
          <a:xfrm>
            <a:off x="5698175" y="2742838"/>
            <a:ext cx="3017700" cy="5487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E2761"/>
              </a:buClr>
              <a:buSzPts val="1400"/>
              <a:buFont typeface="Calibri"/>
              <a:buNone/>
            </a:pPr>
            <a:r>
              <a:rPr b="1" i="0" lang="en" sz="1400" u="none" cap="none" strike="noStrike">
                <a:solidFill>
                  <a:srgbClr val="1E2761"/>
                </a:solidFill>
                <a:latin typeface="Calibri"/>
                <a:ea typeface="Calibri"/>
                <a:cs typeface="Calibri"/>
                <a:sym typeface="Calibri"/>
              </a:rPr>
              <a:t>Adjusted Rand Index: 0.42  Moderate alignment with ground truth</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0" name="Shape 310"/>
        <p:cNvGrpSpPr/>
        <p:nvPr/>
      </p:nvGrpSpPr>
      <p:grpSpPr>
        <a:xfrm>
          <a:off x="0" y="0"/>
          <a:ext cx="0" cy="0"/>
          <a:chOff x="0" y="0"/>
          <a:chExt cx="0" cy="0"/>
        </a:xfrm>
      </p:grpSpPr>
      <p:sp>
        <p:nvSpPr>
          <p:cNvPr id="311" name="Google Shape;311;p23"/>
          <p:cNvSpPr/>
          <p:nvPr/>
        </p:nvSpPr>
        <p:spPr>
          <a:xfrm>
            <a:off x="4572000" y="1371600"/>
            <a:ext cx="3925800" cy="2286000"/>
          </a:xfrm>
          <a:prstGeom prst="roundRect">
            <a:avLst>
              <a:gd fmla="val 16667" name="adj"/>
            </a:avLst>
          </a:prstGeom>
          <a:solidFill>
            <a:srgbClr val="F8F9FA"/>
          </a:solidFill>
          <a:ln cap="flat" cmpd="sng" w="25400">
            <a:solidFill>
              <a:srgbClr val="667E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23"/>
          <p:cNvSpPr/>
          <p:nvPr/>
        </p:nvSpPr>
        <p:spPr>
          <a:xfrm>
            <a:off x="457200" y="457200"/>
            <a:ext cx="82296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Generation: Model &amp; Strategy</a:t>
            </a:r>
            <a:endParaRPr b="0" i="0" sz="3600" u="none" cap="none" strike="noStrike">
              <a:solidFill>
                <a:schemeClr val="dk1"/>
              </a:solidFill>
              <a:latin typeface="Calibri"/>
              <a:ea typeface="Calibri"/>
              <a:cs typeface="Calibri"/>
              <a:sym typeface="Calibri"/>
            </a:endParaRPr>
          </a:p>
        </p:txBody>
      </p:sp>
      <p:sp>
        <p:nvSpPr>
          <p:cNvPr id="313" name="Google Shape;313;p23"/>
          <p:cNvSpPr/>
          <p:nvPr/>
        </p:nvSpPr>
        <p:spPr>
          <a:xfrm>
            <a:off x="640075" y="1371600"/>
            <a:ext cx="3503400" cy="2286000"/>
          </a:xfrm>
          <a:prstGeom prst="roundRect">
            <a:avLst>
              <a:gd fmla="val 16667" name="adj"/>
            </a:avLst>
          </a:prstGeom>
          <a:solidFill>
            <a:srgbClr val="F8F9FA"/>
          </a:solidFill>
          <a:ln cap="flat" cmpd="sng" w="25400">
            <a:solidFill>
              <a:srgbClr val="667E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23"/>
          <p:cNvSpPr/>
          <p:nvPr/>
        </p:nvSpPr>
        <p:spPr>
          <a:xfrm>
            <a:off x="640080" y="1645920"/>
            <a:ext cx="36576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1600"/>
              <a:buFont typeface="Calibri"/>
              <a:buNone/>
            </a:pPr>
            <a:r>
              <a:rPr b="1" i="0" lang="en" sz="1600" u="none" cap="none" strike="noStrike">
                <a:solidFill>
                  <a:srgbClr val="1E2761"/>
                </a:solidFill>
                <a:latin typeface="Calibri"/>
                <a:ea typeface="Calibri"/>
                <a:cs typeface="Calibri"/>
                <a:sym typeface="Calibri"/>
              </a:rPr>
              <a:t>Model: LLaMA 3.2-3B-Instruct</a:t>
            </a:r>
            <a:endParaRPr b="0" i="0" sz="1600" u="none" cap="none" strike="noStrike">
              <a:solidFill>
                <a:schemeClr val="dk1"/>
              </a:solidFill>
              <a:latin typeface="Calibri"/>
              <a:ea typeface="Calibri"/>
              <a:cs typeface="Calibri"/>
              <a:sym typeface="Calibri"/>
            </a:endParaRPr>
          </a:p>
        </p:txBody>
      </p:sp>
      <p:sp>
        <p:nvSpPr>
          <p:cNvPr id="315" name="Google Shape;315;p23"/>
          <p:cNvSpPr/>
          <p:nvPr/>
        </p:nvSpPr>
        <p:spPr>
          <a:xfrm>
            <a:off x="822960" y="2194560"/>
            <a:ext cx="3383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3 billion parameters</a:t>
            </a:r>
            <a:endParaRPr b="0" i="0" sz="1200" u="none" cap="none" strike="noStrike">
              <a:solidFill>
                <a:schemeClr val="dk1"/>
              </a:solidFill>
              <a:latin typeface="Calibri"/>
              <a:ea typeface="Calibri"/>
              <a:cs typeface="Calibri"/>
              <a:sym typeface="Calibri"/>
            </a:endParaRPr>
          </a:p>
        </p:txBody>
      </p:sp>
      <p:sp>
        <p:nvSpPr>
          <p:cNvPr id="316" name="Google Shape;316;p23"/>
          <p:cNvSpPr/>
          <p:nvPr/>
        </p:nvSpPr>
        <p:spPr>
          <a:xfrm>
            <a:off x="822960" y="2560320"/>
            <a:ext cx="3383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Instruction-tuned</a:t>
            </a:r>
            <a:endParaRPr b="0" i="0" sz="1200" u="none" cap="none" strike="noStrike">
              <a:solidFill>
                <a:schemeClr val="dk1"/>
              </a:solidFill>
              <a:latin typeface="Calibri"/>
              <a:ea typeface="Calibri"/>
              <a:cs typeface="Calibri"/>
              <a:sym typeface="Calibri"/>
            </a:endParaRPr>
          </a:p>
        </p:txBody>
      </p:sp>
      <p:sp>
        <p:nvSpPr>
          <p:cNvPr id="317" name="Google Shape;317;p23"/>
          <p:cNvSpPr/>
          <p:nvPr/>
        </p:nvSpPr>
        <p:spPr>
          <a:xfrm>
            <a:off x="822960" y="2926080"/>
            <a:ext cx="3383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333333"/>
              </a:buClr>
              <a:buSzPts val="1200"/>
              <a:buFont typeface="Calibri"/>
              <a:buNone/>
            </a:pPr>
            <a:r>
              <a:rPr b="0" i="0" lang="en" sz="1200" u="none" cap="none" strike="noStrike">
                <a:solidFill>
                  <a:srgbClr val="333333"/>
                </a:solidFill>
                <a:latin typeface="Calibri"/>
                <a:ea typeface="Calibri"/>
                <a:cs typeface="Calibri"/>
                <a:sym typeface="Calibri"/>
              </a:rPr>
              <a:t>• Open source (Meta)</a:t>
            </a:r>
            <a:endParaRPr b="0" i="0" sz="1200" u="none" cap="none" strike="noStrike">
              <a:solidFill>
                <a:schemeClr val="dk1"/>
              </a:solidFill>
              <a:latin typeface="Calibri"/>
              <a:ea typeface="Calibri"/>
              <a:cs typeface="Calibri"/>
              <a:sym typeface="Calibri"/>
            </a:endParaRPr>
          </a:p>
        </p:txBody>
      </p:sp>
      <p:sp>
        <p:nvSpPr>
          <p:cNvPr id="318" name="Google Shape;318;p23"/>
          <p:cNvSpPr/>
          <p:nvPr/>
        </p:nvSpPr>
        <p:spPr>
          <a:xfrm>
            <a:off x="822960" y="3291840"/>
            <a:ext cx="3383400" cy="27420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None/>
            </a:pPr>
            <a:r>
              <a:rPr b="0" i="0" lang="en" sz="1200" u="none" cap="none" strike="noStrike">
                <a:solidFill>
                  <a:srgbClr val="333333"/>
                </a:solidFill>
                <a:latin typeface="Calibri"/>
                <a:ea typeface="Calibri"/>
                <a:cs typeface="Calibri"/>
                <a:sym typeface="Calibri"/>
              </a:rPr>
              <a:t>• Runs on L4 GPU </a:t>
            </a:r>
            <a:r>
              <a:rPr lang="en" sz="1200">
                <a:solidFill>
                  <a:srgbClr val="333333"/>
                </a:solidFill>
                <a:latin typeface="Calibri"/>
                <a:ea typeface="Calibri"/>
                <a:cs typeface="Calibri"/>
                <a:sym typeface="Calibri"/>
              </a:rPr>
              <a:t>( ≈3 mins/run)</a:t>
            </a:r>
            <a:endParaRPr b="0" i="0" sz="1200" u="none" cap="none" strike="noStrike">
              <a:solidFill>
                <a:schemeClr val="dk1"/>
              </a:solidFill>
              <a:latin typeface="Calibri"/>
              <a:ea typeface="Calibri"/>
              <a:cs typeface="Calibri"/>
              <a:sym typeface="Calibri"/>
            </a:endParaRPr>
          </a:p>
        </p:txBody>
      </p:sp>
      <p:sp>
        <p:nvSpPr>
          <p:cNvPr id="319" name="Google Shape;319;p23"/>
          <p:cNvSpPr/>
          <p:nvPr/>
        </p:nvSpPr>
        <p:spPr>
          <a:xfrm>
            <a:off x="5029200" y="1600175"/>
            <a:ext cx="2878800" cy="457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1800"/>
              <a:buFont typeface="Calibri"/>
              <a:buNone/>
            </a:pPr>
            <a:r>
              <a:rPr b="1" i="0" lang="en" sz="1800" u="none" cap="none" strike="noStrike">
                <a:solidFill>
                  <a:srgbClr val="667EEA"/>
                </a:solidFill>
                <a:latin typeface="Calibri"/>
                <a:ea typeface="Calibri"/>
                <a:cs typeface="Calibri"/>
                <a:sym typeface="Calibri"/>
              </a:rPr>
              <a:t>Two Decoding Strategies</a:t>
            </a:r>
            <a:endParaRPr b="0" i="0" sz="1800" u="none" cap="none" strike="noStrike">
              <a:solidFill>
                <a:schemeClr val="dk1"/>
              </a:solidFill>
              <a:latin typeface="Calibri"/>
              <a:ea typeface="Calibri"/>
              <a:cs typeface="Calibri"/>
              <a:sym typeface="Calibri"/>
            </a:endParaRPr>
          </a:p>
        </p:txBody>
      </p:sp>
      <p:sp>
        <p:nvSpPr>
          <p:cNvPr id="320" name="Google Shape;320;p23"/>
          <p:cNvSpPr/>
          <p:nvPr/>
        </p:nvSpPr>
        <p:spPr>
          <a:xfrm>
            <a:off x="6563169" y="2194550"/>
            <a:ext cx="1704000" cy="1188600"/>
          </a:xfrm>
          <a:prstGeom prst="roundRect">
            <a:avLst>
              <a:gd fmla="val 16667" name="adj"/>
            </a:avLst>
          </a:prstGeom>
          <a:solidFill>
            <a:srgbClr val="CADC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23"/>
          <p:cNvSpPr/>
          <p:nvPr/>
        </p:nvSpPr>
        <p:spPr>
          <a:xfrm>
            <a:off x="6268175" y="2377434"/>
            <a:ext cx="22296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E2761"/>
              </a:buClr>
              <a:buSzPts val="1400"/>
              <a:buFont typeface="Calibri"/>
              <a:buNone/>
            </a:pPr>
            <a:r>
              <a:rPr b="1" i="0" lang="en" sz="1400" u="none" cap="none" strike="noStrike">
                <a:solidFill>
                  <a:srgbClr val="1E2761"/>
                </a:solidFill>
                <a:latin typeface="Calibri"/>
                <a:ea typeface="Calibri"/>
                <a:cs typeface="Calibri"/>
                <a:sym typeface="Calibri"/>
              </a:rPr>
              <a:t>Controlled</a:t>
            </a:r>
            <a:endParaRPr b="0" i="0" sz="1400" u="none" cap="none" strike="noStrike">
              <a:solidFill>
                <a:schemeClr val="dk1"/>
              </a:solidFill>
              <a:latin typeface="Calibri"/>
              <a:ea typeface="Calibri"/>
              <a:cs typeface="Calibri"/>
              <a:sym typeface="Calibri"/>
            </a:endParaRPr>
          </a:p>
        </p:txBody>
      </p:sp>
      <p:sp>
        <p:nvSpPr>
          <p:cNvPr id="322" name="Google Shape;322;p23"/>
          <p:cNvSpPr/>
          <p:nvPr/>
        </p:nvSpPr>
        <p:spPr>
          <a:xfrm>
            <a:off x="6268175" y="2743192"/>
            <a:ext cx="22296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1200"/>
              <a:buFont typeface="Calibri"/>
              <a:buNone/>
            </a:pPr>
            <a:r>
              <a:rPr b="1" i="0" lang="en" sz="1200" u="none" cap="none" strike="noStrike">
                <a:solidFill>
                  <a:srgbClr val="667EEA"/>
                </a:solidFill>
                <a:latin typeface="Calibri"/>
                <a:ea typeface="Calibri"/>
                <a:cs typeface="Calibri"/>
                <a:sym typeface="Calibri"/>
              </a:rPr>
              <a:t>temp = 0.15</a:t>
            </a:r>
            <a:endParaRPr b="0" i="0" sz="1200" u="none" cap="none" strike="noStrike">
              <a:solidFill>
                <a:schemeClr val="dk1"/>
              </a:solidFill>
              <a:latin typeface="Calibri"/>
              <a:ea typeface="Calibri"/>
              <a:cs typeface="Calibri"/>
              <a:sym typeface="Calibri"/>
            </a:endParaRPr>
          </a:p>
        </p:txBody>
      </p:sp>
      <p:sp>
        <p:nvSpPr>
          <p:cNvPr id="323" name="Google Shape;323;p23"/>
          <p:cNvSpPr/>
          <p:nvPr/>
        </p:nvSpPr>
        <p:spPr>
          <a:xfrm>
            <a:off x="6268175" y="3108950"/>
            <a:ext cx="22296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55555"/>
              </a:buClr>
              <a:buSzPts val="1000"/>
              <a:buFont typeface="Calibri"/>
              <a:buNone/>
            </a:pPr>
            <a:r>
              <a:rPr b="0" i="1" lang="en" sz="1000" u="none" cap="none" strike="noStrike">
                <a:solidFill>
                  <a:srgbClr val="555555"/>
                </a:solidFill>
                <a:latin typeface="Calibri"/>
                <a:ea typeface="Calibri"/>
                <a:cs typeface="Calibri"/>
                <a:sym typeface="Calibri"/>
              </a:rPr>
              <a:t>Stable, grounded, predictable</a:t>
            </a:r>
            <a:endParaRPr b="0" i="0" sz="1000" u="none" cap="none" strike="noStrike">
              <a:solidFill>
                <a:schemeClr val="dk1"/>
              </a:solidFill>
              <a:latin typeface="Calibri"/>
              <a:ea typeface="Calibri"/>
              <a:cs typeface="Calibri"/>
              <a:sym typeface="Calibri"/>
            </a:endParaRPr>
          </a:p>
        </p:txBody>
      </p:sp>
      <p:sp>
        <p:nvSpPr>
          <p:cNvPr id="324" name="Google Shape;324;p23"/>
          <p:cNvSpPr/>
          <p:nvPr/>
        </p:nvSpPr>
        <p:spPr>
          <a:xfrm>
            <a:off x="4765375" y="2194550"/>
            <a:ext cx="1679100" cy="1188600"/>
          </a:xfrm>
          <a:prstGeom prst="roundRect">
            <a:avLst>
              <a:gd fmla="val 16667" name="adj"/>
            </a:avLst>
          </a:prstGeom>
          <a:solidFill>
            <a:srgbClr val="CADC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p23"/>
          <p:cNvSpPr/>
          <p:nvPr/>
        </p:nvSpPr>
        <p:spPr>
          <a:xfrm>
            <a:off x="4404605" y="2377435"/>
            <a:ext cx="23775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E2761"/>
              </a:buClr>
              <a:buSzPts val="1400"/>
              <a:buFont typeface="Calibri"/>
              <a:buNone/>
            </a:pPr>
            <a:r>
              <a:rPr b="1" i="0" lang="en" sz="1400" u="none" cap="none" strike="noStrike">
                <a:solidFill>
                  <a:srgbClr val="1E2761"/>
                </a:solidFill>
                <a:latin typeface="Calibri"/>
                <a:ea typeface="Calibri"/>
                <a:cs typeface="Calibri"/>
                <a:sym typeface="Calibri"/>
              </a:rPr>
              <a:t>Creative</a:t>
            </a:r>
            <a:endParaRPr b="0" i="0" sz="1400" u="none" cap="none" strike="noStrike">
              <a:solidFill>
                <a:schemeClr val="dk1"/>
              </a:solidFill>
              <a:latin typeface="Calibri"/>
              <a:ea typeface="Calibri"/>
              <a:cs typeface="Calibri"/>
              <a:sym typeface="Calibri"/>
            </a:endParaRPr>
          </a:p>
        </p:txBody>
      </p:sp>
      <p:sp>
        <p:nvSpPr>
          <p:cNvPr id="326" name="Google Shape;326;p23"/>
          <p:cNvSpPr/>
          <p:nvPr/>
        </p:nvSpPr>
        <p:spPr>
          <a:xfrm>
            <a:off x="4404605" y="2743195"/>
            <a:ext cx="23775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667EEA"/>
              </a:buClr>
              <a:buSzPts val="1200"/>
              <a:buFont typeface="Calibri"/>
              <a:buNone/>
            </a:pPr>
            <a:r>
              <a:rPr b="1" i="0" lang="en" sz="1200" u="none" cap="none" strike="noStrike">
                <a:solidFill>
                  <a:srgbClr val="667EEA"/>
                </a:solidFill>
                <a:latin typeface="Calibri"/>
                <a:ea typeface="Calibri"/>
                <a:cs typeface="Calibri"/>
                <a:sym typeface="Calibri"/>
              </a:rPr>
              <a:t>temp = 0.35</a:t>
            </a:r>
            <a:endParaRPr b="0" i="0" sz="1200" u="none" cap="none" strike="noStrike">
              <a:solidFill>
                <a:schemeClr val="dk1"/>
              </a:solidFill>
              <a:latin typeface="Calibri"/>
              <a:ea typeface="Calibri"/>
              <a:cs typeface="Calibri"/>
              <a:sym typeface="Calibri"/>
            </a:endParaRPr>
          </a:p>
        </p:txBody>
      </p:sp>
      <p:sp>
        <p:nvSpPr>
          <p:cNvPr id="327" name="Google Shape;327;p23"/>
          <p:cNvSpPr/>
          <p:nvPr/>
        </p:nvSpPr>
        <p:spPr>
          <a:xfrm>
            <a:off x="4404605" y="3108955"/>
            <a:ext cx="2377500" cy="274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55555"/>
              </a:buClr>
              <a:buSzPts val="1000"/>
              <a:buFont typeface="Calibri"/>
              <a:buNone/>
            </a:pPr>
            <a:r>
              <a:rPr b="0" i="1" lang="en" sz="1000" u="none" cap="none" strike="noStrike">
                <a:solidFill>
                  <a:srgbClr val="555555"/>
                </a:solidFill>
                <a:latin typeface="Calibri"/>
                <a:ea typeface="Calibri"/>
                <a:cs typeface="Calibri"/>
                <a:sym typeface="Calibri"/>
              </a:rPr>
              <a:t>Natural, engaging, varied</a:t>
            </a:r>
            <a:endParaRPr b="0" i="0" sz="1000" u="none" cap="none" strike="noStrike">
              <a:solidFill>
                <a:schemeClr val="dk1"/>
              </a:solidFill>
              <a:latin typeface="Calibri"/>
              <a:ea typeface="Calibri"/>
              <a:cs typeface="Calibri"/>
              <a:sym typeface="Calibri"/>
            </a:endParaRPr>
          </a:p>
        </p:txBody>
      </p:sp>
      <p:sp>
        <p:nvSpPr>
          <p:cNvPr id="328" name="Google Shape;328;p23"/>
          <p:cNvSpPr/>
          <p:nvPr/>
        </p:nvSpPr>
        <p:spPr>
          <a:xfrm>
            <a:off x="640078" y="4114725"/>
            <a:ext cx="71403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667EEA"/>
              </a:buClr>
              <a:buSzPts val="1562"/>
              <a:buFont typeface="Calibri"/>
              <a:buNone/>
            </a:pPr>
            <a:r>
              <a:rPr b="1" i="0" lang="en" sz="1561" u="none" cap="none" strike="noStrike">
                <a:solidFill>
                  <a:srgbClr val="667EEA"/>
                </a:solidFill>
                <a:latin typeface="Calibri"/>
                <a:ea typeface="Calibri"/>
                <a:cs typeface="Calibri"/>
                <a:sym typeface="Calibri"/>
              </a:rPr>
              <a:t>Key Insight</a:t>
            </a:r>
            <a:endParaRPr b="0" i="0" sz="1561" u="none" cap="none" strike="noStrike">
              <a:solidFill>
                <a:schemeClr val="dk1"/>
              </a:solidFill>
              <a:latin typeface="Calibri"/>
              <a:ea typeface="Calibri"/>
              <a:cs typeface="Calibri"/>
              <a:sym typeface="Calibri"/>
            </a:endParaRPr>
          </a:p>
        </p:txBody>
      </p:sp>
      <p:sp>
        <p:nvSpPr>
          <p:cNvPr id="329" name="Google Shape;329;p23"/>
          <p:cNvSpPr/>
          <p:nvPr/>
        </p:nvSpPr>
        <p:spPr>
          <a:xfrm>
            <a:off x="1036665" y="4418827"/>
            <a:ext cx="6347100" cy="278100"/>
          </a:xfrm>
          <a:prstGeom prst="rect">
            <a:avLst/>
          </a:prstGeom>
          <a:noFill/>
          <a:ln>
            <a:noFill/>
          </a:ln>
        </p:spPr>
        <p:txBody>
          <a:bodyPr anchorCtr="0" anchor="ctr" bIns="39650" lIns="79325" spcFirstLastPara="1" rIns="79325" wrap="square" tIns="39650">
            <a:noAutofit/>
          </a:bodyPr>
          <a:lstStyle/>
          <a:p>
            <a:pPr indent="0" lvl="0" marL="0" marR="0" rtl="0" algn="l">
              <a:lnSpc>
                <a:spcPct val="100000"/>
              </a:lnSpc>
              <a:spcBef>
                <a:spcPts val="0"/>
              </a:spcBef>
              <a:spcAft>
                <a:spcPts val="0"/>
              </a:spcAft>
              <a:buClr>
                <a:srgbClr val="4CAF50"/>
              </a:buClr>
              <a:buSzPts val="1128"/>
              <a:buFont typeface="Calibri"/>
              <a:buNone/>
            </a:pPr>
            <a:r>
              <a:rPr b="1" i="0" lang="en" sz="1127" u="none" cap="none" strike="noStrike">
                <a:solidFill>
                  <a:srgbClr val="4CAF50"/>
                </a:solidFill>
                <a:latin typeface="Calibri"/>
                <a:ea typeface="Calibri"/>
                <a:cs typeface="Calibri"/>
                <a:sym typeface="Calibri"/>
              </a:rPr>
              <a:t>✓ </a:t>
            </a:r>
            <a:r>
              <a:rPr b="0" i="0" lang="en" sz="1100" u="none" cap="none" strike="noStrike">
                <a:solidFill>
                  <a:schemeClr val="accent6"/>
                </a:solidFill>
                <a:latin typeface="Arial"/>
                <a:ea typeface="Arial"/>
                <a:cs typeface="Arial"/>
                <a:sym typeface="Arial"/>
              </a:rPr>
              <a:t>Success depends more on prompt engineering than model size</a:t>
            </a:r>
            <a:endParaRPr b="0" i="0" sz="1127" u="none" cap="none" strike="noStrike">
              <a:solidFill>
                <a:schemeClr val="accent6"/>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4" name="Shape 334"/>
        <p:cNvGrpSpPr/>
        <p:nvPr/>
      </p:nvGrpSpPr>
      <p:grpSpPr>
        <a:xfrm>
          <a:off x="0" y="0"/>
          <a:ext cx="0" cy="0"/>
          <a:chOff x="0" y="0"/>
          <a:chExt cx="0" cy="0"/>
        </a:xfrm>
      </p:grpSpPr>
      <p:sp>
        <p:nvSpPr>
          <p:cNvPr id="335" name="Google Shape;335;p24"/>
          <p:cNvSpPr/>
          <p:nvPr/>
        </p:nvSpPr>
        <p:spPr>
          <a:xfrm>
            <a:off x="457200" y="457200"/>
            <a:ext cx="82296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Generation: Evaluation Metrics</a:t>
            </a:r>
            <a:endParaRPr b="0" i="0" sz="3600" u="none" cap="none" strike="noStrike">
              <a:solidFill>
                <a:schemeClr val="dk1"/>
              </a:solidFill>
              <a:latin typeface="Calibri"/>
              <a:ea typeface="Calibri"/>
              <a:cs typeface="Calibri"/>
              <a:sym typeface="Calibri"/>
            </a:endParaRPr>
          </a:p>
        </p:txBody>
      </p:sp>
      <p:sp>
        <p:nvSpPr>
          <p:cNvPr id="336" name="Google Shape;336;p24"/>
          <p:cNvSpPr/>
          <p:nvPr/>
        </p:nvSpPr>
        <p:spPr>
          <a:xfrm>
            <a:off x="1414424" y="1174538"/>
            <a:ext cx="2991300" cy="1329300"/>
          </a:xfrm>
          <a:prstGeom prst="roundRect">
            <a:avLst>
              <a:gd fmla="val 16667" name="adj"/>
            </a:avLst>
          </a:prstGeom>
          <a:solidFill>
            <a:srgbClr val="E3F2FD"/>
          </a:solidFill>
          <a:ln cap="flat" cmpd="sng" w="18475">
            <a:solidFill>
              <a:srgbClr val="667EEA"/>
            </a:solidFill>
            <a:prstDash val="solid"/>
            <a:round/>
            <a:headEnd len="sm" w="sm" type="none"/>
            <a:tailEnd len="sm" w="sm" type="none"/>
          </a:ln>
        </p:spPr>
        <p:txBody>
          <a:bodyPr anchorCtr="0" anchor="ctr" bIns="66450" lIns="66450" spcFirstLastPara="1" rIns="66450" wrap="square" tIns="66450">
            <a:noAutofit/>
          </a:bodyPr>
          <a:lstStyle/>
          <a:p>
            <a:pPr indent="0" lvl="0" marL="0" marR="0" rtl="0" algn="l">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Arial"/>
              <a:ea typeface="Arial"/>
              <a:cs typeface="Arial"/>
              <a:sym typeface="Arial"/>
            </a:endParaRPr>
          </a:p>
        </p:txBody>
      </p:sp>
      <p:sp>
        <p:nvSpPr>
          <p:cNvPr id="337" name="Google Shape;337;p24"/>
          <p:cNvSpPr/>
          <p:nvPr/>
        </p:nvSpPr>
        <p:spPr>
          <a:xfrm>
            <a:off x="1547378" y="1307492"/>
            <a:ext cx="1329300" cy="2661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1018"/>
              <a:buFont typeface="Calibri"/>
              <a:buNone/>
            </a:pPr>
            <a:r>
              <a:rPr b="1" i="0" lang="en" sz="1196" u="none" cap="none" strike="noStrike">
                <a:solidFill>
                  <a:srgbClr val="1E2761"/>
                </a:solidFill>
                <a:latin typeface="Calibri"/>
                <a:ea typeface="Calibri"/>
                <a:cs typeface="Calibri"/>
                <a:sym typeface="Calibri"/>
              </a:rPr>
              <a:t>BERTScore</a:t>
            </a:r>
            <a:endParaRPr b="0" i="0" sz="1196" u="none" cap="none" strike="noStrike">
              <a:solidFill>
                <a:schemeClr val="dk1"/>
              </a:solidFill>
              <a:latin typeface="Calibri"/>
              <a:ea typeface="Calibri"/>
              <a:cs typeface="Calibri"/>
              <a:sym typeface="Calibri"/>
            </a:endParaRPr>
          </a:p>
        </p:txBody>
      </p:sp>
      <p:sp>
        <p:nvSpPr>
          <p:cNvPr id="338" name="Google Shape;338;p24"/>
          <p:cNvSpPr/>
          <p:nvPr/>
        </p:nvSpPr>
        <p:spPr>
          <a:xfrm>
            <a:off x="3076352" y="1274254"/>
            <a:ext cx="1196700" cy="332400"/>
          </a:xfrm>
          <a:prstGeom prst="rect">
            <a:avLst/>
          </a:prstGeom>
          <a:noFill/>
          <a:ln>
            <a:noFill/>
          </a:ln>
        </p:spPr>
        <p:txBody>
          <a:bodyPr anchorCtr="0" anchor="ctr" bIns="33225" lIns="66450" spcFirstLastPara="1" rIns="66450" wrap="square" tIns="33225">
            <a:noAutofit/>
          </a:bodyPr>
          <a:lstStyle/>
          <a:p>
            <a:pPr indent="0" lvl="0" marL="0" marR="0" rtl="0" algn="r">
              <a:lnSpc>
                <a:spcPct val="100000"/>
              </a:lnSpc>
              <a:spcBef>
                <a:spcPts val="0"/>
              </a:spcBef>
              <a:spcAft>
                <a:spcPts val="0"/>
              </a:spcAft>
              <a:buClr>
                <a:srgbClr val="667EEA"/>
              </a:buClr>
              <a:buSzPts val="2327"/>
              <a:buFont typeface="Calibri"/>
              <a:buNone/>
            </a:pPr>
            <a:r>
              <a:rPr b="1" i="0" lang="en" sz="2325" u="none" cap="none" strike="noStrike">
                <a:solidFill>
                  <a:srgbClr val="667EEA"/>
                </a:solidFill>
                <a:latin typeface="Calibri"/>
                <a:ea typeface="Calibri"/>
                <a:cs typeface="Calibri"/>
                <a:sym typeface="Calibri"/>
              </a:rPr>
              <a:t>0.811</a:t>
            </a:r>
            <a:endParaRPr b="0" i="0" sz="2325" u="none" cap="none" strike="noStrike">
              <a:solidFill>
                <a:schemeClr val="dk1"/>
              </a:solidFill>
              <a:latin typeface="Calibri"/>
              <a:ea typeface="Calibri"/>
              <a:cs typeface="Calibri"/>
              <a:sym typeface="Calibri"/>
            </a:endParaRPr>
          </a:p>
        </p:txBody>
      </p:sp>
      <p:sp>
        <p:nvSpPr>
          <p:cNvPr id="339" name="Google Shape;339;p24"/>
          <p:cNvSpPr/>
          <p:nvPr/>
        </p:nvSpPr>
        <p:spPr>
          <a:xfrm>
            <a:off x="1547378" y="1706356"/>
            <a:ext cx="2725500" cy="1995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872"/>
              <a:buFont typeface="Calibri"/>
              <a:buNone/>
            </a:pPr>
            <a:r>
              <a:rPr b="1" i="0" lang="en" sz="962" u="none" cap="none" strike="noStrike">
                <a:solidFill>
                  <a:srgbClr val="1E2761"/>
                </a:solidFill>
                <a:latin typeface="Calibri"/>
                <a:ea typeface="Calibri"/>
                <a:cs typeface="Calibri"/>
                <a:sym typeface="Calibri"/>
              </a:rPr>
              <a:t>Semantic Alignment</a:t>
            </a:r>
            <a:endParaRPr b="0" i="0" sz="962" u="none" cap="none" strike="noStrike">
              <a:solidFill>
                <a:schemeClr val="dk1"/>
              </a:solidFill>
              <a:latin typeface="Calibri"/>
              <a:ea typeface="Calibri"/>
              <a:cs typeface="Calibri"/>
              <a:sym typeface="Calibri"/>
            </a:endParaRPr>
          </a:p>
        </p:txBody>
      </p:sp>
      <p:sp>
        <p:nvSpPr>
          <p:cNvPr id="340" name="Google Shape;340;p24"/>
          <p:cNvSpPr/>
          <p:nvPr/>
        </p:nvSpPr>
        <p:spPr>
          <a:xfrm>
            <a:off x="1547378" y="1972265"/>
            <a:ext cx="2725500" cy="3987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555555"/>
              </a:buClr>
              <a:buSzPts val="800"/>
              <a:buFont typeface="Calibri"/>
              <a:buNone/>
            </a:pPr>
            <a:r>
              <a:rPr b="0" i="0" lang="en" sz="798" u="none" cap="none" strike="noStrike">
                <a:solidFill>
                  <a:srgbClr val="555555"/>
                </a:solidFill>
                <a:latin typeface="Calibri"/>
                <a:ea typeface="Calibri"/>
                <a:cs typeface="Calibri"/>
                <a:sym typeface="Calibri"/>
              </a:rPr>
              <a:t>Generated text captures review meaning</a:t>
            </a:r>
            <a:endParaRPr b="0" i="0" sz="798" u="none" cap="none" strike="noStrike">
              <a:solidFill>
                <a:schemeClr val="dk1"/>
              </a:solidFill>
              <a:latin typeface="Calibri"/>
              <a:ea typeface="Calibri"/>
              <a:cs typeface="Calibri"/>
              <a:sym typeface="Calibri"/>
            </a:endParaRPr>
          </a:p>
        </p:txBody>
      </p:sp>
      <p:sp>
        <p:nvSpPr>
          <p:cNvPr id="341" name="Google Shape;341;p24"/>
          <p:cNvSpPr/>
          <p:nvPr/>
        </p:nvSpPr>
        <p:spPr>
          <a:xfrm>
            <a:off x="4738281" y="1174538"/>
            <a:ext cx="2991300" cy="1329300"/>
          </a:xfrm>
          <a:prstGeom prst="roundRect">
            <a:avLst>
              <a:gd fmla="val 16667" name="adj"/>
            </a:avLst>
          </a:prstGeom>
          <a:solidFill>
            <a:srgbClr val="E8F5E9"/>
          </a:solidFill>
          <a:ln cap="flat" cmpd="sng" w="18475">
            <a:solidFill>
              <a:srgbClr val="667EEA"/>
            </a:solidFill>
            <a:prstDash val="solid"/>
            <a:round/>
            <a:headEnd len="sm" w="sm" type="none"/>
            <a:tailEnd len="sm" w="sm" type="none"/>
          </a:ln>
        </p:spPr>
        <p:txBody>
          <a:bodyPr anchorCtr="0" anchor="ctr" bIns="66450" lIns="66450" spcFirstLastPara="1" rIns="66450" wrap="square" tIns="66450">
            <a:noAutofit/>
          </a:bodyPr>
          <a:lstStyle/>
          <a:p>
            <a:pPr indent="0" lvl="0" marL="0" marR="0" rtl="0" algn="l">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Arial"/>
              <a:ea typeface="Arial"/>
              <a:cs typeface="Arial"/>
              <a:sym typeface="Arial"/>
            </a:endParaRPr>
          </a:p>
        </p:txBody>
      </p:sp>
      <p:sp>
        <p:nvSpPr>
          <p:cNvPr id="342" name="Google Shape;342;p24"/>
          <p:cNvSpPr/>
          <p:nvPr/>
        </p:nvSpPr>
        <p:spPr>
          <a:xfrm>
            <a:off x="4871236" y="1307492"/>
            <a:ext cx="1329300" cy="2661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1018"/>
              <a:buFont typeface="Calibri"/>
              <a:buNone/>
            </a:pPr>
            <a:r>
              <a:rPr b="1" i="0" lang="en" sz="1196" u="none" cap="none" strike="noStrike">
                <a:solidFill>
                  <a:srgbClr val="1E2761"/>
                </a:solidFill>
                <a:latin typeface="Calibri"/>
                <a:ea typeface="Calibri"/>
                <a:cs typeface="Calibri"/>
                <a:sym typeface="Calibri"/>
              </a:rPr>
              <a:t>Grounding</a:t>
            </a:r>
            <a:endParaRPr b="0" i="0" sz="1196" u="none" cap="none" strike="noStrike">
              <a:solidFill>
                <a:schemeClr val="dk1"/>
              </a:solidFill>
              <a:latin typeface="Calibri"/>
              <a:ea typeface="Calibri"/>
              <a:cs typeface="Calibri"/>
              <a:sym typeface="Calibri"/>
            </a:endParaRPr>
          </a:p>
        </p:txBody>
      </p:sp>
      <p:sp>
        <p:nvSpPr>
          <p:cNvPr id="343" name="Google Shape;343;p24"/>
          <p:cNvSpPr/>
          <p:nvPr/>
        </p:nvSpPr>
        <p:spPr>
          <a:xfrm>
            <a:off x="6400210" y="1274254"/>
            <a:ext cx="1196700" cy="332400"/>
          </a:xfrm>
          <a:prstGeom prst="rect">
            <a:avLst/>
          </a:prstGeom>
          <a:noFill/>
          <a:ln>
            <a:noFill/>
          </a:ln>
        </p:spPr>
        <p:txBody>
          <a:bodyPr anchorCtr="0" anchor="ctr" bIns="33225" lIns="66450" spcFirstLastPara="1" rIns="66450" wrap="square" tIns="33225">
            <a:noAutofit/>
          </a:bodyPr>
          <a:lstStyle/>
          <a:p>
            <a:pPr indent="0" lvl="0" marL="0" marR="0" rtl="0" algn="r">
              <a:lnSpc>
                <a:spcPct val="100000"/>
              </a:lnSpc>
              <a:spcBef>
                <a:spcPts val="0"/>
              </a:spcBef>
              <a:spcAft>
                <a:spcPts val="0"/>
              </a:spcAft>
              <a:buClr>
                <a:srgbClr val="667EEA"/>
              </a:buClr>
              <a:buSzPts val="2327"/>
              <a:buFont typeface="Calibri"/>
              <a:buNone/>
            </a:pPr>
            <a:r>
              <a:rPr b="1" i="0" lang="en" sz="2325" u="none" cap="none" strike="noStrike">
                <a:solidFill>
                  <a:srgbClr val="667EEA"/>
                </a:solidFill>
                <a:latin typeface="Calibri"/>
                <a:ea typeface="Calibri"/>
                <a:cs typeface="Calibri"/>
                <a:sym typeface="Calibri"/>
              </a:rPr>
              <a:t>60%</a:t>
            </a:r>
            <a:endParaRPr b="0" i="0" sz="2325" u="none" cap="none" strike="noStrike">
              <a:solidFill>
                <a:schemeClr val="dk1"/>
              </a:solidFill>
              <a:latin typeface="Calibri"/>
              <a:ea typeface="Calibri"/>
              <a:cs typeface="Calibri"/>
              <a:sym typeface="Calibri"/>
            </a:endParaRPr>
          </a:p>
        </p:txBody>
      </p:sp>
      <p:sp>
        <p:nvSpPr>
          <p:cNvPr id="344" name="Google Shape;344;p24"/>
          <p:cNvSpPr/>
          <p:nvPr/>
        </p:nvSpPr>
        <p:spPr>
          <a:xfrm>
            <a:off x="4871236" y="1706356"/>
            <a:ext cx="2725500" cy="1995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872"/>
              <a:buFont typeface="Calibri"/>
              <a:buNone/>
            </a:pPr>
            <a:r>
              <a:rPr b="1" i="0" lang="en" sz="962" u="none" cap="none" strike="noStrike">
                <a:solidFill>
                  <a:srgbClr val="1E2761"/>
                </a:solidFill>
                <a:latin typeface="Calibri"/>
                <a:ea typeface="Calibri"/>
                <a:cs typeface="Calibri"/>
                <a:sym typeface="Calibri"/>
              </a:rPr>
              <a:t>Vocabulary Overlap</a:t>
            </a:r>
            <a:endParaRPr b="0" i="0" sz="962" u="none" cap="none" strike="noStrike">
              <a:solidFill>
                <a:schemeClr val="dk1"/>
              </a:solidFill>
              <a:latin typeface="Calibri"/>
              <a:ea typeface="Calibri"/>
              <a:cs typeface="Calibri"/>
              <a:sym typeface="Calibri"/>
            </a:endParaRPr>
          </a:p>
        </p:txBody>
      </p:sp>
      <p:sp>
        <p:nvSpPr>
          <p:cNvPr id="345" name="Google Shape;345;p24"/>
          <p:cNvSpPr/>
          <p:nvPr/>
        </p:nvSpPr>
        <p:spPr>
          <a:xfrm>
            <a:off x="4871236" y="1972265"/>
            <a:ext cx="2725500" cy="3987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555555"/>
              </a:buClr>
              <a:buSzPts val="800"/>
              <a:buFont typeface="Calibri"/>
              <a:buNone/>
            </a:pPr>
            <a:r>
              <a:rPr b="0" i="0" lang="en" sz="798" u="none" cap="none" strike="noStrike">
                <a:solidFill>
                  <a:srgbClr val="555555"/>
                </a:solidFill>
                <a:latin typeface="Calibri"/>
                <a:ea typeface="Calibri"/>
                <a:cs typeface="Calibri"/>
                <a:sym typeface="Calibri"/>
              </a:rPr>
              <a:t>60% of words from source reviews</a:t>
            </a:r>
            <a:endParaRPr b="0" i="0" sz="798" u="none" cap="none" strike="noStrike">
              <a:solidFill>
                <a:schemeClr val="dk1"/>
              </a:solidFill>
              <a:latin typeface="Calibri"/>
              <a:ea typeface="Calibri"/>
              <a:cs typeface="Calibri"/>
              <a:sym typeface="Calibri"/>
            </a:endParaRPr>
          </a:p>
        </p:txBody>
      </p:sp>
      <p:sp>
        <p:nvSpPr>
          <p:cNvPr id="346" name="Google Shape;346;p24"/>
          <p:cNvSpPr/>
          <p:nvPr/>
        </p:nvSpPr>
        <p:spPr>
          <a:xfrm>
            <a:off x="1414424" y="2769991"/>
            <a:ext cx="2991300" cy="1329300"/>
          </a:xfrm>
          <a:prstGeom prst="roundRect">
            <a:avLst>
              <a:gd fmla="val 16667" name="adj"/>
            </a:avLst>
          </a:prstGeom>
          <a:solidFill>
            <a:srgbClr val="FFF9C4"/>
          </a:solidFill>
          <a:ln cap="flat" cmpd="sng" w="18475">
            <a:solidFill>
              <a:srgbClr val="667EEA"/>
            </a:solidFill>
            <a:prstDash val="solid"/>
            <a:round/>
            <a:headEnd len="sm" w="sm" type="none"/>
            <a:tailEnd len="sm" w="sm" type="none"/>
          </a:ln>
        </p:spPr>
        <p:txBody>
          <a:bodyPr anchorCtr="0" anchor="ctr" bIns="66450" lIns="66450" spcFirstLastPara="1" rIns="66450" wrap="square" tIns="66450">
            <a:noAutofit/>
          </a:bodyPr>
          <a:lstStyle/>
          <a:p>
            <a:pPr indent="0" lvl="0" marL="0" marR="0" rtl="0" algn="l">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Arial"/>
              <a:ea typeface="Arial"/>
              <a:cs typeface="Arial"/>
              <a:sym typeface="Arial"/>
            </a:endParaRPr>
          </a:p>
        </p:txBody>
      </p:sp>
      <p:sp>
        <p:nvSpPr>
          <p:cNvPr id="347" name="Google Shape;347;p24"/>
          <p:cNvSpPr/>
          <p:nvPr/>
        </p:nvSpPr>
        <p:spPr>
          <a:xfrm>
            <a:off x="1547378" y="2902946"/>
            <a:ext cx="1329300" cy="2661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1018"/>
              <a:buFont typeface="Calibri"/>
              <a:buNone/>
            </a:pPr>
            <a:r>
              <a:rPr b="1" i="0" lang="en" sz="1196" u="none" cap="none" strike="noStrike">
                <a:solidFill>
                  <a:srgbClr val="1E2761"/>
                </a:solidFill>
                <a:latin typeface="Calibri"/>
                <a:ea typeface="Calibri"/>
                <a:cs typeface="Calibri"/>
                <a:sym typeface="Calibri"/>
              </a:rPr>
              <a:t>ROUGE-1</a:t>
            </a:r>
            <a:endParaRPr b="0" i="0" sz="1196" u="none" cap="none" strike="noStrike">
              <a:solidFill>
                <a:schemeClr val="dk1"/>
              </a:solidFill>
              <a:latin typeface="Calibri"/>
              <a:ea typeface="Calibri"/>
              <a:cs typeface="Calibri"/>
              <a:sym typeface="Calibri"/>
            </a:endParaRPr>
          </a:p>
        </p:txBody>
      </p:sp>
      <p:sp>
        <p:nvSpPr>
          <p:cNvPr id="348" name="Google Shape;348;p24"/>
          <p:cNvSpPr/>
          <p:nvPr/>
        </p:nvSpPr>
        <p:spPr>
          <a:xfrm>
            <a:off x="3076352" y="2869707"/>
            <a:ext cx="1196700" cy="332400"/>
          </a:xfrm>
          <a:prstGeom prst="rect">
            <a:avLst/>
          </a:prstGeom>
          <a:noFill/>
          <a:ln>
            <a:noFill/>
          </a:ln>
        </p:spPr>
        <p:txBody>
          <a:bodyPr anchorCtr="0" anchor="ctr" bIns="33225" lIns="66450" spcFirstLastPara="1" rIns="66450" wrap="square" tIns="33225">
            <a:noAutofit/>
          </a:bodyPr>
          <a:lstStyle/>
          <a:p>
            <a:pPr indent="0" lvl="0" marL="0" marR="0" rtl="0" algn="r">
              <a:lnSpc>
                <a:spcPct val="100000"/>
              </a:lnSpc>
              <a:spcBef>
                <a:spcPts val="0"/>
              </a:spcBef>
              <a:spcAft>
                <a:spcPts val="0"/>
              </a:spcAft>
              <a:buClr>
                <a:srgbClr val="667EEA"/>
              </a:buClr>
              <a:buSzPts val="2327"/>
              <a:buFont typeface="Calibri"/>
              <a:buNone/>
            </a:pPr>
            <a:r>
              <a:rPr b="1" i="0" lang="en" sz="2325" u="none" cap="none" strike="noStrike">
                <a:solidFill>
                  <a:srgbClr val="667EEA"/>
                </a:solidFill>
                <a:latin typeface="Calibri"/>
                <a:ea typeface="Calibri"/>
                <a:cs typeface="Calibri"/>
                <a:sym typeface="Calibri"/>
              </a:rPr>
              <a:t>0.306</a:t>
            </a:r>
            <a:endParaRPr b="0" i="0" sz="2325" u="none" cap="none" strike="noStrike">
              <a:solidFill>
                <a:schemeClr val="dk1"/>
              </a:solidFill>
              <a:latin typeface="Calibri"/>
              <a:ea typeface="Calibri"/>
              <a:cs typeface="Calibri"/>
              <a:sym typeface="Calibri"/>
            </a:endParaRPr>
          </a:p>
        </p:txBody>
      </p:sp>
      <p:sp>
        <p:nvSpPr>
          <p:cNvPr id="349" name="Google Shape;349;p24"/>
          <p:cNvSpPr/>
          <p:nvPr/>
        </p:nvSpPr>
        <p:spPr>
          <a:xfrm>
            <a:off x="1547378" y="3301809"/>
            <a:ext cx="2725500" cy="1995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872"/>
              <a:buFont typeface="Calibri"/>
              <a:buNone/>
            </a:pPr>
            <a:r>
              <a:rPr b="1" i="0" lang="en" sz="962" u="none" cap="none" strike="noStrike">
                <a:solidFill>
                  <a:srgbClr val="1E2761"/>
                </a:solidFill>
                <a:latin typeface="Calibri"/>
                <a:ea typeface="Calibri"/>
                <a:cs typeface="Calibri"/>
                <a:sym typeface="Calibri"/>
              </a:rPr>
              <a:t>Lexical Overlap</a:t>
            </a:r>
            <a:endParaRPr b="0" i="0" sz="962" u="none" cap="none" strike="noStrike">
              <a:solidFill>
                <a:schemeClr val="dk1"/>
              </a:solidFill>
              <a:latin typeface="Calibri"/>
              <a:ea typeface="Calibri"/>
              <a:cs typeface="Calibri"/>
              <a:sym typeface="Calibri"/>
            </a:endParaRPr>
          </a:p>
        </p:txBody>
      </p:sp>
      <p:sp>
        <p:nvSpPr>
          <p:cNvPr id="350" name="Google Shape;350;p24"/>
          <p:cNvSpPr/>
          <p:nvPr/>
        </p:nvSpPr>
        <p:spPr>
          <a:xfrm>
            <a:off x="1547378" y="3567718"/>
            <a:ext cx="2725500" cy="3987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555555"/>
              </a:buClr>
              <a:buSzPts val="800"/>
              <a:buFont typeface="Calibri"/>
              <a:buNone/>
            </a:pPr>
            <a:r>
              <a:rPr b="0" i="0" lang="en" sz="798" u="none" cap="none" strike="noStrike">
                <a:solidFill>
                  <a:srgbClr val="555555"/>
                </a:solidFill>
                <a:latin typeface="Calibri"/>
                <a:ea typeface="Calibri"/>
                <a:cs typeface="Calibri"/>
                <a:sym typeface="Calibri"/>
              </a:rPr>
              <a:t>Moderate - good for abstractive</a:t>
            </a:r>
            <a:endParaRPr b="0" i="0" sz="798" u="none" cap="none" strike="noStrike">
              <a:solidFill>
                <a:schemeClr val="dk1"/>
              </a:solidFill>
              <a:latin typeface="Calibri"/>
              <a:ea typeface="Calibri"/>
              <a:cs typeface="Calibri"/>
              <a:sym typeface="Calibri"/>
            </a:endParaRPr>
          </a:p>
        </p:txBody>
      </p:sp>
      <p:sp>
        <p:nvSpPr>
          <p:cNvPr id="351" name="Google Shape;351;p24"/>
          <p:cNvSpPr/>
          <p:nvPr/>
        </p:nvSpPr>
        <p:spPr>
          <a:xfrm>
            <a:off x="4738281" y="2769991"/>
            <a:ext cx="2991300" cy="1329300"/>
          </a:xfrm>
          <a:prstGeom prst="roundRect">
            <a:avLst>
              <a:gd fmla="val 16667" name="adj"/>
            </a:avLst>
          </a:prstGeom>
          <a:solidFill>
            <a:srgbClr val="F3E5F5"/>
          </a:solidFill>
          <a:ln cap="flat" cmpd="sng" w="18475">
            <a:solidFill>
              <a:srgbClr val="667EEA"/>
            </a:solidFill>
            <a:prstDash val="solid"/>
            <a:round/>
            <a:headEnd len="sm" w="sm" type="none"/>
            <a:tailEnd len="sm" w="sm" type="none"/>
          </a:ln>
        </p:spPr>
        <p:txBody>
          <a:bodyPr anchorCtr="0" anchor="ctr" bIns="66450" lIns="66450" spcFirstLastPara="1" rIns="66450" wrap="square" tIns="66450">
            <a:noAutofit/>
          </a:bodyPr>
          <a:lstStyle/>
          <a:p>
            <a:pPr indent="0" lvl="0" marL="0" marR="0" rtl="0" algn="l">
              <a:lnSpc>
                <a:spcPct val="100000"/>
              </a:lnSpc>
              <a:spcBef>
                <a:spcPts val="0"/>
              </a:spcBef>
              <a:spcAft>
                <a:spcPts val="0"/>
              </a:spcAft>
              <a:buClr>
                <a:srgbClr val="000000"/>
              </a:buClr>
              <a:buSzPts val="1255"/>
              <a:buFont typeface="Arial"/>
              <a:buNone/>
            </a:pPr>
            <a:r>
              <a:t/>
            </a:r>
            <a:endParaRPr b="0" i="0" sz="1255" u="none" cap="none" strike="noStrike">
              <a:solidFill>
                <a:srgbClr val="000000"/>
              </a:solidFill>
              <a:latin typeface="Arial"/>
              <a:ea typeface="Arial"/>
              <a:cs typeface="Arial"/>
              <a:sym typeface="Arial"/>
            </a:endParaRPr>
          </a:p>
        </p:txBody>
      </p:sp>
      <p:sp>
        <p:nvSpPr>
          <p:cNvPr id="352" name="Google Shape;352;p24"/>
          <p:cNvSpPr/>
          <p:nvPr/>
        </p:nvSpPr>
        <p:spPr>
          <a:xfrm>
            <a:off x="4871236" y="2902946"/>
            <a:ext cx="1329300" cy="2661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1018"/>
              <a:buFont typeface="Calibri"/>
              <a:buNone/>
            </a:pPr>
            <a:r>
              <a:rPr b="1" i="0" lang="en" sz="1196" u="none" cap="none" strike="noStrike">
                <a:solidFill>
                  <a:srgbClr val="1E2761"/>
                </a:solidFill>
                <a:latin typeface="Calibri"/>
                <a:ea typeface="Calibri"/>
                <a:cs typeface="Calibri"/>
                <a:sym typeface="Calibri"/>
              </a:rPr>
              <a:t>Compression</a:t>
            </a:r>
            <a:endParaRPr b="0" i="0" sz="1196" u="none" cap="none" strike="noStrike">
              <a:solidFill>
                <a:schemeClr val="dk1"/>
              </a:solidFill>
              <a:latin typeface="Calibri"/>
              <a:ea typeface="Calibri"/>
              <a:cs typeface="Calibri"/>
              <a:sym typeface="Calibri"/>
            </a:endParaRPr>
          </a:p>
        </p:txBody>
      </p:sp>
      <p:sp>
        <p:nvSpPr>
          <p:cNvPr id="353" name="Google Shape;353;p24"/>
          <p:cNvSpPr/>
          <p:nvPr/>
        </p:nvSpPr>
        <p:spPr>
          <a:xfrm>
            <a:off x="6400210" y="2869707"/>
            <a:ext cx="1196700" cy="332400"/>
          </a:xfrm>
          <a:prstGeom prst="rect">
            <a:avLst/>
          </a:prstGeom>
          <a:noFill/>
          <a:ln>
            <a:noFill/>
          </a:ln>
        </p:spPr>
        <p:txBody>
          <a:bodyPr anchorCtr="0" anchor="ctr" bIns="33225" lIns="66450" spcFirstLastPara="1" rIns="66450" wrap="square" tIns="33225">
            <a:noAutofit/>
          </a:bodyPr>
          <a:lstStyle/>
          <a:p>
            <a:pPr indent="0" lvl="0" marL="0" marR="0" rtl="0" algn="r">
              <a:lnSpc>
                <a:spcPct val="100000"/>
              </a:lnSpc>
              <a:spcBef>
                <a:spcPts val="0"/>
              </a:spcBef>
              <a:spcAft>
                <a:spcPts val="0"/>
              </a:spcAft>
              <a:buClr>
                <a:srgbClr val="667EEA"/>
              </a:buClr>
              <a:buSzPts val="2327"/>
              <a:buFont typeface="Calibri"/>
              <a:buNone/>
            </a:pPr>
            <a:r>
              <a:rPr b="1" i="0" lang="en" sz="2325" u="none" cap="none" strike="noStrike">
                <a:solidFill>
                  <a:srgbClr val="667EEA"/>
                </a:solidFill>
                <a:latin typeface="Calibri"/>
                <a:ea typeface="Calibri"/>
                <a:cs typeface="Calibri"/>
                <a:sym typeface="Calibri"/>
              </a:rPr>
              <a:t>0.291</a:t>
            </a:r>
            <a:endParaRPr b="0" i="0" sz="2325" u="none" cap="none" strike="noStrike">
              <a:solidFill>
                <a:schemeClr val="dk1"/>
              </a:solidFill>
              <a:latin typeface="Calibri"/>
              <a:ea typeface="Calibri"/>
              <a:cs typeface="Calibri"/>
              <a:sym typeface="Calibri"/>
            </a:endParaRPr>
          </a:p>
        </p:txBody>
      </p:sp>
      <p:sp>
        <p:nvSpPr>
          <p:cNvPr id="354" name="Google Shape;354;p24"/>
          <p:cNvSpPr/>
          <p:nvPr/>
        </p:nvSpPr>
        <p:spPr>
          <a:xfrm>
            <a:off x="4871236" y="3301809"/>
            <a:ext cx="2725500" cy="1995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1E2761"/>
              </a:buClr>
              <a:buSzPts val="872"/>
              <a:buFont typeface="Calibri"/>
              <a:buNone/>
            </a:pPr>
            <a:r>
              <a:rPr b="1" i="0" lang="en" sz="962" u="none" cap="none" strike="noStrike">
                <a:solidFill>
                  <a:srgbClr val="1E2761"/>
                </a:solidFill>
                <a:latin typeface="Calibri"/>
                <a:ea typeface="Calibri"/>
                <a:cs typeface="Calibri"/>
                <a:sym typeface="Calibri"/>
              </a:rPr>
              <a:t>Summary Ratio</a:t>
            </a:r>
            <a:endParaRPr b="0" i="0" sz="962" u="none" cap="none" strike="noStrike">
              <a:solidFill>
                <a:schemeClr val="dk1"/>
              </a:solidFill>
              <a:latin typeface="Calibri"/>
              <a:ea typeface="Calibri"/>
              <a:cs typeface="Calibri"/>
              <a:sym typeface="Calibri"/>
            </a:endParaRPr>
          </a:p>
        </p:txBody>
      </p:sp>
      <p:sp>
        <p:nvSpPr>
          <p:cNvPr id="355" name="Google Shape;355;p24"/>
          <p:cNvSpPr/>
          <p:nvPr/>
        </p:nvSpPr>
        <p:spPr>
          <a:xfrm>
            <a:off x="4871236" y="3567718"/>
            <a:ext cx="2725500" cy="398700"/>
          </a:xfrm>
          <a:prstGeom prst="rect">
            <a:avLst/>
          </a:prstGeom>
          <a:noFill/>
          <a:ln>
            <a:noFill/>
          </a:ln>
        </p:spPr>
        <p:txBody>
          <a:bodyPr anchorCtr="0" anchor="ctr" bIns="33225" lIns="66450" spcFirstLastPara="1" rIns="66450" wrap="square" tIns="33225">
            <a:noAutofit/>
          </a:bodyPr>
          <a:lstStyle/>
          <a:p>
            <a:pPr indent="0" lvl="0" marL="0" marR="0" rtl="0" algn="l">
              <a:lnSpc>
                <a:spcPct val="100000"/>
              </a:lnSpc>
              <a:spcBef>
                <a:spcPts val="0"/>
              </a:spcBef>
              <a:spcAft>
                <a:spcPts val="0"/>
              </a:spcAft>
              <a:buClr>
                <a:srgbClr val="555555"/>
              </a:buClr>
              <a:buSzPts val="800"/>
              <a:buFont typeface="Calibri"/>
              <a:buNone/>
            </a:pPr>
            <a:r>
              <a:rPr b="0" i="0" lang="en" sz="798" u="none" cap="none" strike="noStrike">
                <a:solidFill>
                  <a:srgbClr val="555555"/>
                </a:solidFill>
                <a:latin typeface="Calibri"/>
                <a:ea typeface="Calibri"/>
                <a:cs typeface="Calibri"/>
                <a:sym typeface="Calibri"/>
              </a:rPr>
              <a:t>Effective condensation</a:t>
            </a:r>
            <a:endParaRPr b="0" i="0" sz="798" u="none" cap="none" strike="noStrike">
              <a:solidFill>
                <a:schemeClr val="dk1"/>
              </a:solidFill>
              <a:latin typeface="Calibri"/>
              <a:ea typeface="Calibri"/>
              <a:cs typeface="Calibri"/>
              <a:sym typeface="Calibri"/>
            </a:endParaRPr>
          </a:p>
        </p:txBody>
      </p:sp>
      <p:sp>
        <p:nvSpPr>
          <p:cNvPr id="356" name="Google Shape;356;p24"/>
          <p:cNvSpPr/>
          <p:nvPr/>
        </p:nvSpPr>
        <p:spPr>
          <a:xfrm>
            <a:off x="1364775" y="4267925"/>
            <a:ext cx="6365100" cy="297600"/>
          </a:xfrm>
          <a:prstGeom prst="rect">
            <a:avLst/>
          </a:prstGeom>
          <a:noFill/>
          <a:ln>
            <a:noFill/>
          </a:ln>
        </p:spPr>
        <p:txBody>
          <a:bodyPr anchorCtr="0" anchor="ctr" bIns="35075" lIns="70150" spcFirstLastPara="1" rIns="70150" wrap="square" tIns="35075">
            <a:noAutofit/>
          </a:bodyPr>
          <a:lstStyle/>
          <a:p>
            <a:pPr indent="0" lvl="0" marL="0" marR="0" rtl="0" algn="l">
              <a:lnSpc>
                <a:spcPct val="100000"/>
              </a:lnSpc>
              <a:spcBef>
                <a:spcPts val="0"/>
              </a:spcBef>
              <a:spcAft>
                <a:spcPts val="0"/>
              </a:spcAft>
              <a:buClr>
                <a:srgbClr val="667EEA"/>
              </a:buClr>
              <a:buSzPts val="1074"/>
              <a:buFont typeface="Calibri"/>
              <a:buNone/>
            </a:pPr>
            <a:r>
              <a:rPr b="1" i="0" lang="en" sz="1074" u="none" cap="none" strike="noStrike">
                <a:solidFill>
                  <a:srgbClr val="667EEA"/>
                </a:solidFill>
                <a:latin typeface="Calibri"/>
                <a:ea typeface="Calibri"/>
                <a:cs typeface="Calibri"/>
                <a:sym typeface="Calibri"/>
              </a:rPr>
              <a:t>Why Multiple Metrics?</a:t>
            </a:r>
            <a:endParaRPr b="0" i="0" sz="1074" u="none" cap="none" strike="noStrike">
              <a:solidFill>
                <a:schemeClr val="dk1"/>
              </a:solidFill>
              <a:latin typeface="Calibri"/>
              <a:ea typeface="Calibri"/>
              <a:cs typeface="Calibri"/>
              <a:sym typeface="Calibri"/>
            </a:endParaRPr>
          </a:p>
        </p:txBody>
      </p:sp>
      <p:sp>
        <p:nvSpPr>
          <p:cNvPr id="357" name="Google Shape;357;p24"/>
          <p:cNvSpPr/>
          <p:nvPr/>
        </p:nvSpPr>
        <p:spPr>
          <a:xfrm>
            <a:off x="1519675" y="4479024"/>
            <a:ext cx="6034500" cy="451200"/>
          </a:xfrm>
          <a:prstGeom prst="rect">
            <a:avLst/>
          </a:prstGeom>
          <a:noFill/>
          <a:ln>
            <a:noFill/>
          </a:ln>
        </p:spPr>
        <p:txBody>
          <a:bodyPr anchorCtr="0" anchor="ctr" bIns="35075" lIns="70150" spcFirstLastPara="1" rIns="70150" wrap="square" tIns="35075">
            <a:noAutofit/>
          </a:bodyPr>
          <a:lstStyle/>
          <a:p>
            <a:pPr indent="0" lvl="0" marL="0" marR="0" rtl="0" algn="l">
              <a:lnSpc>
                <a:spcPct val="100000"/>
              </a:lnSpc>
              <a:spcBef>
                <a:spcPts val="0"/>
              </a:spcBef>
              <a:spcAft>
                <a:spcPts val="0"/>
              </a:spcAft>
              <a:buClr>
                <a:srgbClr val="333333"/>
              </a:buClr>
              <a:buSzPts val="844"/>
              <a:buFont typeface="Calibri"/>
              <a:buNone/>
            </a:pPr>
            <a:r>
              <a:rPr b="0" i="0" lang="en" sz="843" u="none" cap="none" strike="noStrike">
                <a:solidFill>
                  <a:srgbClr val="333333"/>
                </a:solidFill>
                <a:latin typeface="Calibri"/>
                <a:ea typeface="Calibri"/>
                <a:cs typeface="Calibri"/>
                <a:sym typeface="Calibri"/>
              </a:rPr>
              <a:t>No single metric captures all quality dimensions. BERTScore measures semantic meaning, ROUGE measures lexical similarity, grounding detects hallucination, compression ensures conciseness.</a:t>
            </a:r>
            <a:endParaRPr b="0" i="0" sz="843"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2" name="Shape 362"/>
        <p:cNvGrpSpPr/>
        <p:nvPr/>
      </p:nvGrpSpPr>
      <p:grpSpPr>
        <a:xfrm>
          <a:off x="0" y="0"/>
          <a:ext cx="0" cy="0"/>
          <a:chOff x="0" y="0"/>
          <a:chExt cx="0" cy="0"/>
        </a:xfrm>
      </p:grpSpPr>
      <p:sp>
        <p:nvSpPr>
          <p:cNvPr id="363" name="Google Shape;363;p25"/>
          <p:cNvSpPr/>
          <p:nvPr/>
        </p:nvSpPr>
        <p:spPr>
          <a:xfrm>
            <a:off x="457200" y="457200"/>
            <a:ext cx="82296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3600"/>
              <a:buFont typeface="Calibri"/>
              <a:buNone/>
            </a:pPr>
            <a:r>
              <a:rPr b="1" i="0" lang="en" sz="3600" u="none" cap="none" strike="noStrike">
                <a:solidFill>
                  <a:srgbClr val="1E2761"/>
                </a:solidFill>
                <a:latin typeface="Calibri"/>
                <a:ea typeface="Calibri"/>
                <a:cs typeface="Calibri"/>
                <a:sym typeface="Calibri"/>
              </a:rPr>
              <a:t>Generation: Iterative Prompt Engineering</a:t>
            </a:r>
            <a:endParaRPr b="0" i="0" sz="3600" u="none" cap="none" strike="noStrike">
              <a:solidFill>
                <a:schemeClr val="dk1"/>
              </a:solidFill>
              <a:latin typeface="Calibri"/>
              <a:ea typeface="Calibri"/>
              <a:cs typeface="Calibri"/>
              <a:sym typeface="Calibri"/>
            </a:endParaRPr>
          </a:p>
        </p:txBody>
      </p:sp>
      <p:sp>
        <p:nvSpPr>
          <p:cNvPr id="364" name="Google Shape;364;p25"/>
          <p:cNvSpPr/>
          <p:nvPr/>
        </p:nvSpPr>
        <p:spPr>
          <a:xfrm>
            <a:off x="457100" y="1097515"/>
            <a:ext cx="8229600" cy="274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667EEA"/>
              </a:buClr>
              <a:buSzPts val="1600"/>
              <a:buFont typeface="Calibri"/>
              <a:buNone/>
            </a:pPr>
            <a:r>
              <a:rPr b="0" i="1" lang="en" sz="1600" u="none" cap="none" strike="noStrike">
                <a:solidFill>
                  <a:srgbClr val="667EEA"/>
                </a:solidFill>
                <a:latin typeface="Calibri"/>
                <a:ea typeface="Calibri"/>
                <a:cs typeface="Calibri"/>
                <a:sym typeface="Calibri"/>
              </a:rPr>
              <a:t>Systematic refinement from V1 → V2 → V3</a:t>
            </a:r>
            <a:endParaRPr b="0" i="0" sz="1600" u="none" cap="none" strike="noStrike">
              <a:solidFill>
                <a:schemeClr val="dk1"/>
              </a:solidFill>
              <a:latin typeface="Calibri"/>
              <a:ea typeface="Calibri"/>
              <a:cs typeface="Calibri"/>
              <a:sym typeface="Calibri"/>
            </a:endParaRPr>
          </a:p>
        </p:txBody>
      </p:sp>
      <p:sp>
        <p:nvSpPr>
          <p:cNvPr id="365" name="Google Shape;365;p25"/>
          <p:cNvSpPr/>
          <p:nvPr/>
        </p:nvSpPr>
        <p:spPr>
          <a:xfrm>
            <a:off x="457188" y="1458774"/>
            <a:ext cx="2396100" cy="2644200"/>
          </a:xfrm>
          <a:prstGeom prst="roundRect">
            <a:avLst>
              <a:gd fmla="val 16667" name="adj"/>
            </a:avLst>
          </a:prstGeom>
          <a:solidFill>
            <a:srgbClr val="FFEBEE"/>
          </a:solidFill>
          <a:ln cap="flat" cmpd="sng" w="34425">
            <a:solidFill>
              <a:srgbClr val="F44336"/>
            </a:solidFill>
            <a:prstDash val="solid"/>
            <a:round/>
            <a:headEnd len="sm" w="sm" type="none"/>
            <a:tailEnd len="sm" w="sm" type="none"/>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66" name="Google Shape;366;p25"/>
          <p:cNvSpPr/>
          <p:nvPr/>
        </p:nvSpPr>
        <p:spPr>
          <a:xfrm>
            <a:off x="1242135" y="1624026"/>
            <a:ext cx="826200" cy="826200"/>
          </a:xfrm>
          <a:prstGeom prst="ellipse">
            <a:avLst/>
          </a:prstGeom>
          <a:solidFill>
            <a:srgbClr val="F44336"/>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67" name="Google Shape;367;p25"/>
          <p:cNvSpPr/>
          <p:nvPr/>
        </p:nvSpPr>
        <p:spPr>
          <a:xfrm>
            <a:off x="1242135" y="1624026"/>
            <a:ext cx="826200" cy="8262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2892"/>
              <a:buFont typeface="Calibri"/>
              <a:buNone/>
            </a:pPr>
            <a:r>
              <a:rPr b="1" i="0" lang="en" sz="2891" u="none" cap="none" strike="noStrike">
                <a:solidFill>
                  <a:srgbClr val="FFFFFF"/>
                </a:solidFill>
                <a:latin typeface="Calibri"/>
                <a:ea typeface="Calibri"/>
                <a:cs typeface="Calibri"/>
                <a:sym typeface="Calibri"/>
              </a:rPr>
              <a:t>V1</a:t>
            </a:r>
            <a:endParaRPr b="0" i="0" sz="2891" u="none" cap="none" strike="noStrike">
              <a:solidFill>
                <a:schemeClr val="dk1"/>
              </a:solidFill>
              <a:latin typeface="Calibri"/>
              <a:ea typeface="Calibri"/>
              <a:cs typeface="Calibri"/>
              <a:sym typeface="Calibri"/>
            </a:endParaRPr>
          </a:p>
        </p:txBody>
      </p:sp>
      <p:sp>
        <p:nvSpPr>
          <p:cNvPr id="368" name="Google Shape;368;p25"/>
          <p:cNvSpPr/>
          <p:nvPr/>
        </p:nvSpPr>
        <p:spPr>
          <a:xfrm>
            <a:off x="622440" y="2532911"/>
            <a:ext cx="2065800" cy="2478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1E2761"/>
              </a:buClr>
              <a:buSzPts val="1265"/>
              <a:buFont typeface="Calibri"/>
              <a:buNone/>
            </a:pPr>
            <a:r>
              <a:rPr b="1" i="0" lang="en" sz="1265" u="none" cap="none" strike="noStrike">
                <a:solidFill>
                  <a:srgbClr val="1E2761"/>
                </a:solidFill>
                <a:latin typeface="Calibri"/>
                <a:ea typeface="Calibri"/>
                <a:cs typeface="Calibri"/>
                <a:sym typeface="Calibri"/>
              </a:rPr>
              <a:t>Initial Attempt</a:t>
            </a:r>
            <a:endParaRPr b="0" i="0" sz="1265" u="none" cap="none" strike="noStrike">
              <a:solidFill>
                <a:schemeClr val="dk1"/>
              </a:solidFill>
              <a:latin typeface="Calibri"/>
              <a:ea typeface="Calibri"/>
              <a:cs typeface="Calibri"/>
              <a:sym typeface="Calibri"/>
            </a:endParaRPr>
          </a:p>
        </p:txBody>
      </p:sp>
      <p:sp>
        <p:nvSpPr>
          <p:cNvPr id="369" name="Google Shape;369;p25"/>
          <p:cNvSpPr/>
          <p:nvPr/>
        </p:nvSpPr>
        <p:spPr>
          <a:xfrm>
            <a:off x="621975" y="2863425"/>
            <a:ext cx="2146500" cy="4131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333333"/>
              </a:buClr>
              <a:buSzPts val="994"/>
              <a:buFont typeface="Calibri"/>
              <a:buNone/>
            </a:pPr>
            <a:r>
              <a:rPr b="1" i="0" lang="en" sz="993" u="none" cap="none" strike="noStrike">
                <a:solidFill>
                  <a:srgbClr val="333333"/>
                </a:solidFill>
                <a:latin typeface="Calibri"/>
                <a:ea typeface="Calibri"/>
                <a:cs typeface="Calibri"/>
                <a:sym typeface="Calibri"/>
              </a:rPr>
              <a:t>Hardcoded 'Echo' in prompt template</a:t>
            </a:r>
            <a:endParaRPr b="0" i="0" sz="993" u="none" cap="none" strike="noStrike">
              <a:solidFill>
                <a:schemeClr val="dk1"/>
              </a:solidFill>
              <a:latin typeface="Calibri"/>
              <a:ea typeface="Calibri"/>
              <a:cs typeface="Calibri"/>
              <a:sym typeface="Calibri"/>
            </a:endParaRPr>
          </a:p>
        </p:txBody>
      </p:sp>
      <p:sp>
        <p:nvSpPr>
          <p:cNvPr id="370" name="Google Shape;370;p25"/>
          <p:cNvSpPr/>
          <p:nvPr/>
        </p:nvSpPr>
        <p:spPr>
          <a:xfrm>
            <a:off x="667875" y="3276550"/>
            <a:ext cx="2065800" cy="4959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555555"/>
              </a:buClr>
              <a:buSzPts val="813"/>
              <a:buFont typeface="Calibri"/>
              <a:buNone/>
            </a:pPr>
            <a:r>
              <a:rPr b="0" i="1" lang="en" sz="813" u="none" cap="none" strike="noStrike">
                <a:solidFill>
                  <a:srgbClr val="555555"/>
                </a:solidFill>
                <a:latin typeface="Calibri"/>
                <a:ea typeface="Calibri"/>
                <a:cs typeface="Calibri"/>
                <a:sym typeface="Calibri"/>
              </a:rPr>
              <a:t>Fire Tablets article mentioned Echo products</a:t>
            </a:r>
            <a:endParaRPr b="0" i="0" sz="813" u="none" cap="none" strike="noStrike">
              <a:solidFill>
                <a:schemeClr val="dk1"/>
              </a:solidFill>
              <a:latin typeface="Calibri"/>
              <a:ea typeface="Calibri"/>
              <a:cs typeface="Calibri"/>
              <a:sym typeface="Calibri"/>
            </a:endParaRPr>
          </a:p>
        </p:txBody>
      </p:sp>
      <p:sp>
        <p:nvSpPr>
          <p:cNvPr id="371" name="Google Shape;371;p25"/>
          <p:cNvSpPr/>
          <p:nvPr/>
        </p:nvSpPr>
        <p:spPr>
          <a:xfrm>
            <a:off x="870318" y="3854925"/>
            <a:ext cx="1569900" cy="330300"/>
          </a:xfrm>
          <a:prstGeom prst="roundRect">
            <a:avLst>
              <a:gd fmla="val 16667" name="adj"/>
            </a:avLst>
          </a:prstGeom>
          <a:solidFill>
            <a:srgbClr val="F44336"/>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72" name="Google Shape;372;p25"/>
          <p:cNvSpPr/>
          <p:nvPr/>
        </p:nvSpPr>
        <p:spPr>
          <a:xfrm>
            <a:off x="870318" y="3871450"/>
            <a:ext cx="1569900" cy="2973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1084"/>
              <a:buFont typeface="Calibri"/>
              <a:buNone/>
            </a:pPr>
            <a:r>
              <a:rPr b="1" i="0" lang="en" sz="1084" u="none" cap="none" strike="noStrike">
                <a:solidFill>
                  <a:srgbClr val="FFFFFF"/>
                </a:solidFill>
                <a:latin typeface="Calibri"/>
                <a:ea typeface="Calibri"/>
                <a:cs typeface="Calibri"/>
                <a:sym typeface="Calibri"/>
              </a:rPr>
              <a:t>Grounding: 0.53</a:t>
            </a:r>
            <a:endParaRPr b="0" i="0" sz="1084" u="none" cap="none" strike="noStrike">
              <a:solidFill>
                <a:schemeClr val="dk1"/>
              </a:solidFill>
              <a:latin typeface="Calibri"/>
              <a:ea typeface="Calibri"/>
              <a:cs typeface="Calibri"/>
              <a:sym typeface="Calibri"/>
            </a:endParaRPr>
          </a:p>
        </p:txBody>
      </p:sp>
      <p:sp>
        <p:nvSpPr>
          <p:cNvPr id="373" name="Google Shape;373;p25"/>
          <p:cNvSpPr/>
          <p:nvPr/>
        </p:nvSpPr>
        <p:spPr>
          <a:xfrm>
            <a:off x="3373946" y="1463349"/>
            <a:ext cx="2396100" cy="2644200"/>
          </a:xfrm>
          <a:prstGeom prst="roundRect">
            <a:avLst>
              <a:gd fmla="val 16667" name="adj"/>
            </a:avLst>
          </a:prstGeom>
          <a:solidFill>
            <a:srgbClr val="FFF9C4"/>
          </a:solidFill>
          <a:ln cap="flat" cmpd="sng" w="34425">
            <a:solidFill>
              <a:srgbClr val="FFC107"/>
            </a:solidFill>
            <a:prstDash val="solid"/>
            <a:round/>
            <a:headEnd len="sm" w="sm" type="none"/>
            <a:tailEnd len="sm" w="sm" type="none"/>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74" name="Google Shape;374;p25"/>
          <p:cNvSpPr/>
          <p:nvPr/>
        </p:nvSpPr>
        <p:spPr>
          <a:xfrm>
            <a:off x="4158894" y="1628601"/>
            <a:ext cx="826200" cy="826200"/>
          </a:xfrm>
          <a:prstGeom prst="ellipse">
            <a:avLst/>
          </a:prstGeom>
          <a:solidFill>
            <a:srgbClr val="FFC107"/>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75" name="Google Shape;375;p25"/>
          <p:cNvSpPr/>
          <p:nvPr/>
        </p:nvSpPr>
        <p:spPr>
          <a:xfrm>
            <a:off x="4158894" y="1628601"/>
            <a:ext cx="826200" cy="8262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2892"/>
              <a:buFont typeface="Calibri"/>
              <a:buNone/>
            </a:pPr>
            <a:r>
              <a:rPr b="1" i="0" lang="en" sz="2891" u="none" cap="none" strike="noStrike">
                <a:solidFill>
                  <a:srgbClr val="FFFFFF"/>
                </a:solidFill>
                <a:latin typeface="Calibri"/>
                <a:ea typeface="Calibri"/>
                <a:cs typeface="Calibri"/>
                <a:sym typeface="Calibri"/>
              </a:rPr>
              <a:t>V2</a:t>
            </a:r>
            <a:endParaRPr b="0" i="0" sz="2891" u="none" cap="none" strike="noStrike">
              <a:solidFill>
                <a:schemeClr val="dk1"/>
              </a:solidFill>
              <a:latin typeface="Calibri"/>
              <a:ea typeface="Calibri"/>
              <a:cs typeface="Calibri"/>
              <a:sym typeface="Calibri"/>
            </a:endParaRPr>
          </a:p>
        </p:txBody>
      </p:sp>
      <p:sp>
        <p:nvSpPr>
          <p:cNvPr id="376" name="Google Shape;376;p25"/>
          <p:cNvSpPr/>
          <p:nvPr/>
        </p:nvSpPr>
        <p:spPr>
          <a:xfrm>
            <a:off x="3539199" y="2537486"/>
            <a:ext cx="2065800" cy="2478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1E2761"/>
              </a:buClr>
              <a:buSzPts val="1265"/>
              <a:buFont typeface="Calibri"/>
              <a:buNone/>
            </a:pPr>
            <a:r>
              <a:rPr b="1" i="0" lang="en" sz="1265" u="none" cap="none" strike="noStrike">
                <a:solidFill>
                  <a:srgbClr val="1E2761"/>
                </a:solidFill>
                <a:latin typeface="Calibri"/>
                <a:ea typeface="Calibri"/>
                <a:cs typeface="Calibri"/>
                <a:sym typeface="Calibri"/>
              </a:rPr>
              <a:t>Template Fixed</a:t>
            </a:r>
            <a:endParaRPr b="0" i="0" sz="1265" u="none" cap="none" strike="noStrike">
              <a:solidFill>
                <a:schemeClr val="dk1"/>
              </a:solidFill>
              <a:latin typeface="Calibri"/>
              <a:ea typeface="Calibri"/>
              <a:cs typeface="Calibri"/>
              <a:sym typeface="Calibri"/>
            </a:endParaRPr>
          </a:p>
        </p:txBody>
      </p:sp>
      <p:sp>
        <p:nvSpPr>
          <p:cNvPr id="377" name="Google Shape;377;p25"/>
          <p:cNvSpPr/>
          <p:nvPr/>
        </p:nvSpPr>
        <p:spPr>
          <a:xfrm>
            <a:off x="3621825" y="2867990"/>
            <a:ext cx="1900200" cy="4131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333333"/>
              </a:buClr>
              <a:buSzPts val="994"/>
              <a:buFont typeface="Calibri"/>
              <a:buNone/>
            </a:pPr>
            <a:r>
              <a:rPr b="1" i="0" lang="en" sz="993" u="none" cap="none" strike="noStrike">
                <a:solidFill>
                  <a:srgbClr val="333333"/>
                </a:solidFill>
                <a:latin typeface="Calibri"/>
                <a:ea typeface="Calibri"/>
                <a:cs typeface="Calibri"/>
                <a:sym typeface="Calibri"/>
              </a:rPr>
              <a:t>Generic recommendations</a:t>
            </a:r>
            <a:endParaRPr b="0" i="0" sz="993" u="none" cap="none" strike="noStrike">
              <a:solidFill>
                <a:schemeClr val="dk1"/>
              </a:solidFill>
              <a:latin typeface="Calibri"/>
              <a:ea typeface="Calibri"/>
              <a:cs typeface="Calibri"/>
              <a:sym typeface="Calibri"/>
            </a:endParaRPr>
          </a:p>
        </p:txBody>
      </p:sp>
      <p:sp>
        <p:nvSpPr>
          <p:cNvPr id="378" name="Google Shape;378;p25"/>
          <p:cNvSpPr/>
          <p:nvPr/>
        </p:nvSpPr>
        <p:spPr>
          <a:xfrm>
            <a:off x="3621825" y="3281125"/>
            <a:ext cx="1983300" cy="4959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555555"/>
              </a:buClr>
              <a:buSzPts val="813"/>
              <a:buFont typeface="Calibri"/>
              <a:buNone/>
            </a:pPr>
            <a:r>
              <a:rPr b="0" i="1" lang="en" sz="813" u="none" cap="none" strike="noStrike">
                <a:solidFill>
                  <a:srgbClr val="555555"/>
                </a:solidFill>
                <a:latin typeface="Calibri"/>
                <a:ea typeface="Calibri"/>
                <a:cs typeface="Calibri"/>
                <a:sym typeface="Calibri"/>
              </a:rPr>
              <a:t>Articles said 'great option' without specifics</a:t>
            </a:r>
            <a:endParaRPr b="0" i="0" sz="813" u="none" cap="none" strike="noStrike">
              <a:solidFill>
                <a:schemeClr val="dk1"/>
              </a:solidFill>
              <a:latin typeface="Calibri"/>
              <a:ea typeface="Calibri"/>
              <a:cs typeface="Calibri"/>
              <a:sym typeface="Calibri"/>
            </a:endParaRPr>
          </a:p>
        </p:txBody>
      </p:sp>
      <p:sp>
        <p:nvSpPr>
          <p:cNvPr id="379" name="Google Shape;379;p25"/>
          <p:cNvSpPr/>
          <p:nvPr/>
        </p:nvSpPr>
        <p:spPr>
          <a:xfrm>
            <a:off x="3787077" y="3859500"/>
            <a:ext cx="1569900" cy="330300"/>
          </a:xfrm>
          <a:prstGeom prst="roundRect">
            <a:avLst>
              <a:gd fmla="val 16667" name="adj"/>
            </a:avLst>
          </a:prstGeom>
          <a:solidFill>
            <a:srgbClr val="FFC107"/>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80" name="Google Shape;380;p25"/>
          <p:cNvSpPr/>
          <p:nvPr/>
        </p:nvSpPr>
        <p:spPr>
          <a:xfrm>
            <a:off x="3787077" y="3876025"/>
            <a:ext cx="1569900" cy="2973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1084"/>
              <a:buFont typeface="Calibri"/>
              <a:buNone/>
            </a:pPr>
            <a:r>
              <a:rPr b="1" i="0" lang="en" sz="1084" u="none" cap="none" strike="noStrike">
                <a:solidFill>
                  <a:srgbClr val="FFFFFF"/>
                </a:solidFill>
                <a:latin typeface="Calibri"/>
                <a:ea typeface="Calibri"/>
                <a:cs typeface="Calibri"/>
                <a:sym typeface="Calibri"/>
              </a:rPr>
              <a:t>Grounding: 0.53</a:t>
            </a:r>
            <a:endParaRPr b="0" i="0" sz="1084" u="none" cap="none" strike="noStrike">
              <a:solidFill>
                <a:schemeClr val="dk1"/>
              </a:solidFill>
              <a:latin typeface="Calibri"/>
              <a:ea typeface="Calibri"/>
              <a:cs typeface="Calibri"/>
              <a:sym typeface="Calibri"/>
            </a:endParaRPr>
          </a:p>
        </p:txBody>
      </p:sp>
      <p:sp>
        <p:nvSpPr>
          <p:cNvPr id="381" name="Google Shape;381;p25"/>
          <p:cNvSpPr/>
          <p:nvPr/>
        </p:nvSpPr>
        <p:spPr>
          <a:xfrm>
            <a:off x="6290705" y="1458774"/>
            <a:ext cx="2396100" cy="2644200"/>
          </a:xfrm>
          <a:prstGeom prst="roundRect">
            <a:avLst>
              <a:gd fmla="val 16667" name="adj"/>
            </a:avLst>
          </a:prstGeom>
          <a:solidFill>
            <a:srgbClr val="E8F5E9"/>
          </a:solidFill>
          <a:ln cap="flat" cmpd="sng" w="34425">
            <a:solidFill>
              <a:srgbClr val="4CAF50"/>
            </a:solidFill>
            <a:prstDash val="solid"/>
            <a:round/>
            <a:headEnd len="sm" w="sm" type="none"/>
            <a:tailEnd len="sm" w="sm" type="none"/>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82" name="Google Shape;382;p25"/>
          <p:cNvSpPr/>
          <p:nvPr/>
        </p:nvSpPr>
        <p:spPr>
          <a:xfrm>
            <a:off x="7075653" y="1624026"/>
            <a:ext cx="826200" cy="826200"/>
          </a:xfrm>
          <a:prstGeom prst="ellipse">
            <a:avLst/>
          </a:prstGeom>
          <a:solidFill>
            <a:srgbClr val="4CAF50"/>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83" name="Google Shape;383;p25"/>
          <p:cNvSpPr/>
          <p:nvPr/>
        </p:nvSpPr>
        <p:spPr>
          <a:xfrm>
            <a:off x="7075653" y="1624026"/>
            <a:ext cx="826200" cy="8262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2892"/>
              <a:buFont typeface="Calibri"/>
              <a:buNone/>
            </a:pPr>
            <a:r>
              <a:rPr b="1" i="0" lang="en" sz="2891" u="none" cap="none" strike="noStrike">
                <a:solidFill>
                  <a:srgbClr val="FFFFFF"/>
                </a:solidFill>
                <a:latin typeface="Calibri"/>
                <a:ea typeface="Calibri"/>
                <a:cs typeface="Calibri"/>
                <a:sym typeface="Calibri"/>
              </a:rPr>
              <a:t>V3</a:t>
            </a:r>
            <a:endParaRPr b="0" i="0" sz="2891" u="none" cap="none" strike="noStrike">
              <a:solidFill>
                <a:schemeClr val="dk1"/>
              </a:solidFill>
              <a:latin typeface="Calibri"/>
              <a:ea typeface="Calibri"/>
              <a:cs typeface="Calibri"/>
              <a:sym typeface="Calibri"/>
            </a:endParaRPr>
          </a:p>
        </p:txBody>
      </p:sp>
      <p:sp>
        <p:nvSpPr>
          <p:cNvPr id="384" name="Google Shape;384;p25"/>
          <p:cNvSpPr/>
          <p:nvPr/>
        </p:nvSpPr>
        <p:spPr>
          <a:xfrm>
            <a:off x="6455958" y="2532911"/>
            <a:ext cx="2065800" cy="2478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1E2761"/>
              </a:buClr>
              <a:buSzPts val="1265"/>
              <a:buFont typeface="Calibri"/>
              <a:buNone/>
            </a:pPr>
            <a:r>
              <a:rPr b="1" i="0" lang="en" sz="1265" u="none" cap="none" strike="noStrike">
                <a:solidFill>
                  <a:srgbClr val="1E2761"/>
                </a:solidFill>
                <a:latin typeface="Calibri"/>
                <a:ea typeface="Calibri"/>
                <a:cs typeface="Calibri"/>
                <a:sym typeface="Calibri"/>
              </a:rPr>
              <a:t>Enhanced Prompts</a:t>
            </a:r>
            <a:endParaRPr b="0" i="0" sz="1265" u="none" cap="none" strike="noStrike">
              <a:solidFill>
                <a:schemeClr val="dk1"/>
              </a:solidFill>
              <a:latin typeface="Calibri"/>
              <a:ea typeface="Calibri"/>
              <a:cs typeface="Calibri"/>
              <a:sym typeface="Calibri"/>
            </a:endParaRPr>
          </a:p>
        </p:txBody>
      </p:sp>
      <p:sp>
        <p:nvSpPr>
          <p:cNvPr id="385" name="Google Shape;385;p25"/>
          <p:cNvSpPr/>
          <p:nvPr/>
        </p:nvSpPr>
        <p:spPr>
          <a:xfrm>
            <a:off x="6538575" y="2863425"/>
            <a:ext cx="1983300" cy="4131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333333"/>
              </a:buClr>
              <a:buSzPts val="994"/>
              <a:buFont typeface="Calibri"/>
              <a:buNone/>
            </a:pPr>
            <a:r>
              <a:rPr b="1" i="0" lang="en" sz="993" u="none" cap="none" strike="noStrike">
                <a:solidFill>
                  <a:srgbClr val="333333"/>
                </a:solidFill>
                <a:latin typeface="Calibri"/>
                <a:ea typeface="Calibri"/>
                <a:cs typeface="Calibri"/>
                <a:sym typeface="Calibri"/>
              </a:rPr>
              <a:t>Improved data quality + structure</a:t>
            </a:r>
            <a:endParaRPr b="0" i="0" sz="993" u="none" cap="none" strike="noStrike">
              <a:solidFill>
                <a:schemeClr val="dk1"/>
              </a:solidFill>
              <a:latin typeface="Calibri"/>
              <a:ea typeface="Calibri"/>
              <a:cs typeface="Calibri"/>
              <a:sym typeface="Calibri"/>
            </a:endParaRPr>
          </a:p>
        </p:txBody>
      </p:sp>
      <p:sp>
        <p:nvSpPr>
          <p:cNvPr id="386" name="Google Shape;386;p25"/>
          <p:cNvSpPr/>
          <p:nvPr/>
        </p:nvSpPr>
        <p:spPr>
          <a:xfrm>
            <a:off x="6538575" y="3276550"/>
            <a:ext cx="1983300" cy="495900"/>
          </a:xfrm>
          <a:prstGeom prst="rect">
            <a:avLst/>
          </a:prstGeom>
          <a:noFill/>
          <a:ln>
            <a:noFill/>
          </a:ln>
        </p:spPr>
        <p:txBody>
          <a:bodyPr anchorCtr="0" anchor="ctr" bIns="41300" lIns="82600" spcFirstLastPara="1" rIns="82600" wrap="square" tIns="41300">
            <a:noAutofit/>
          </a:bodyPr>
          <a:lstStyle/>
          <a:p>
            <a:pPr indent="0" lvl="0" marL="0" marR="0" rtl="0" algn="l">
              <a:spcBef>
                <a:spcPts val="0"/>
              </a:spcBef>
              <a:spcAft>
                <a:spcPts val="0"/>
              </a:spcAft>
              <a:buClr>
                <a:srgbClr val="555555"/>
              </a:buClr>
              <a:buSzPts val="813"/>
              <a:buFont typeface="Calibri"/>
              <a:buNone/>
            </a:pPr>
            <a:r>
              <a:rPr b="0" i="1" lang="en" sz="813" u="none" cap="none" strike="noStrike">
                <a:solidFill>
                  <a:srgbClr val="555555"/>
                </a:solidFill>
                <a:latin typeface="Calibri"/>
                <a:ea typeface="Calibri"/>
                <a:cs typeface="Calibri"/>
                <a:sym typeface="Calibri"/>
              </a:rPr>
              <a:t>Clear 'Choose X if you...' recommendations</a:t>
            </a:r>
            <a:endParaRPr b="0" i="0" sz="813" u="none" cap="none" strike="noStrike">
              <a:solidFill>
                <a:schemeClr val="dk1"/>
              </a:solidFill>
              <a:latin typeface="Calibri"/>
              <a:ea typeface="Calibri"/>
              <a:cs typeface="Calibri"/>
              <a:sym typeface="Calibri"/>
            </a:endParaRPr>
          </a:p>
        </p:txBody>
      </p:sp>
      <p:sp>
        <p:nvSpPr>
          <p:cNvPr id="387" name="Google Shape;387;p25"/>
          <p:cNvSpPr/>
          <p:nvPr/>
        </p:nvSpPr>
        <p:spPr>
          <a:xfrm>
            <a:off x="6703836" y="3854925"/>
            <a:ext cx="1569900" cy="330300"/>
          </a:xfrm>
          <a:prstGeom prst="roundRect">
            <a:avLst>
              <a:gd fmla="val 16667" name="adj"/>
            </a:avLst>
          </a:prstGeom>
          <a:solidFill>
            <a:srgbClr val="4CAF50"/>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88" name="Google Shape;388;p25"/>
          <p:cNvSpPr/>
          <p:nvPr/>
        </p:nvSpPr>
        <p:spPr>
          <a:xfrm>
            <a:off x="6703836" y="3871450"/>
            <a:ext cx="1569900" cy="297300"/>
          </a:xfrm>
          <a:prstGeom prst="rect">
            <a:avLst/>
          </a:prstGeom>
          <a:noFill/>
          <a:ln>
            <a:noFill/>
          </a:ln>
        </p:spPr>
        <p:txBody>
          <a:bodyPr anchorCtr="0" anchor="ctr" bIns="41300" lIns="82600" spcFirstLastPara="1" rIns="82600" wrap="square" tIns="41300">
            <a:noAutofit/>
          </a:bodyPr>
          <a:lstStyle/>
          <a:p>
            <a:pPr indent="0" lvl="0" marL="0" marR="0" rtl="0" algn="ctr">
              <a:spcBef>
                <a:spcPts val="0"/>
              </a:spcBef>
              <a:spcAft>
                <a:spcPts val="0"/>
              </a:spcAft>
              <a:buClr>
                <a:srgbClr val="FFFFFF"/>
              </a:buClr>
              <a:buSzPts val="1084"/>
              <a:buFont typeface="Calibri"/>
              <a:buNone/>
            </a:pPr>
            <a:r>
              <a:rPr b="1" i="0" lang="en" sz="1084" u="none" cap="none" strike="noStrike">
                <a:solidFill>
                  <a:srgbClr val="FFFFFF"/>
                </a:solidFill>
                <a:latin typeface="Calibri"/>
                <a:ea typeface="Calibri"/>
                <a:cs typeface="Calibri"/>
                <a:sym typeface="Calibri"/>
              </a:rPr>
              <a:t>Grounding: 0.60</a:t>
            </a:r>
            <a:endParaRPr b="0" i="0" sz="1084" u="none" cap="none" strike="noStrike">
              <a:solidFill>
                <a:schemeClr val="dk1"/>
              </a:solidFill>
              <a:latin typeface="Calibri"/>
              <a:ea typeface="Calibri"/>
              <a:cs typeface="Calibri"/>
              <a:sym typeface="Calibri"/>
            </a:endParaRPr>
          </a:p>
        </p:txBody>
      </p:sp>
      <p:sp>
        <p:nvSpPr>
          <p:cNvPr id="389" name="Google Shape;389;p25"/>
          <p:cNvSpPr/>
          <p:nvPr/>
        </p:nvSpPr>
        <p:spPr>
          <a:xfrm>
            <a:off x="2989732" y="2712838"/>
            <a:ext cx="330600" cy="413100"/>
          </a:xfrm>
          <a:prstGeom prst="rightArrow">
            <a:avLst>
              <a:gd fmla="val 50000" name="adj1"/>
              <a:gd fmla="val 50000" name="adj2"/>
            </a:avLst>
          </a:prstGeom>
          <a:solidFill>
            <a:srgbClr val="667EEA"/>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90" name="Google Shape;390;p25"/>
          <p:cNvSpPr/>
          <p:nvPr/>
        </p:nvSpPr>
        <p:spPr>
          <a:xfrm>
            <a:off x="5906491" y="2712838"/>
            <a:ext cx="330600" cy="413100"/>
          </a:xfrm>
          <a:prstGeom prst="rightArrow">
            <a:avLst>
              <a:gd fmla="val 50000" name="adj1"/>
              <a:gd fmla="val 50000" name="adj2"/>
            </a:avLst>
          </a:prstGeom>
          <a:solidFill>
            <a:srgbClr val="667EEA"/>
          </a:solidFill>
          <a:ln>
            <a:noFill/>
          </a:ln>
        </p:spPr>
        <p:txBody>
          <a:bodyPr anchorCtr="0" anchor="ctr" bIns="82600" lIns="82600" spcFirstLastPara="1" rIns="82600" wrap="square" tIns="82600">
            <a:noAutofit/>
          </a:bodyPr>
          <a:lstStyle/>
          <a:p>
            <a:pPr indent="0" lvl="0" marL="0" rtl="0" algn="l">
              <a:spcBef>
                <a:spcPts val="0"/>
              </a:spcBef>
              <a:spcAft>
                <a:spcPts val="0"/>
              </a:spcAft>
              <a:buNone/>
            </a:pPr>
            <a:r>
              <a:t/>
            </a:r>
            <a:endParaRPr/>
          </a:p>
        </p:txBody>
      </p:sp>
      <p:sp>
        <p:nvSpPr>
          <p:cNvPr id="391" name="Google Shape;391;p25"/>
          <p:cNvSpPr/>
          <p:nvPr/>
        </p:nvSpPr>
        <p:spPr>
          <a:xfrm>
            <a:off x="1143050" y="4272275"/>
            <a:ext cx="6858000" cy="803700"/>
          </a:xfrm>
          <a:prstGeom prst="roundRect">
            <a:avLst>
              <a:gd fmla="val 16667" name="adj"/>
            </a:avLst>
          </a:prstGeom>
          <a:solidFill>
            <a:srgbClr val="CADCFC"/>
          </a:solidFill>
          <a:ln>
            <a:noFill/>
          </a:ln>
        </p:spPr>
        <p:txBody>
          <a:bodyPr anchorCtr="0" anchor="ctr" bIns="76175" lIns="76175" spcFirstLastPara="1" rIns="76175" wrap="square" tIns="76175">
            <a:noAutofit/>
          </a:bodyPr>
          <a:lstStyle/>
          <a:p>
            <a:pPr indent="0" lvl="0" marL="0" rtl="0" algn="l">
              <a:spcBef>
                <a:spcPts val="0"/>
              </a:spcBef>
              <a:spcAft>
                <a:spcPts val="0"/>
              </a:spcAft>
              <a:buNone/>
            </a:pPr>
            <a:r>
              <a:t/>
            </a:r>
            <a:endParaRPr sz="1249"/>
          </a:p>
        </p:txBody>
      </p:sp>
      <p:sp>
        <p:nvSpPr>
          <p:cNvPr id="392" name="Google Shape;392;p25"/>
          <p:cNvSpPr/>
          <p:nvPr/>
        </p:nvSpPr>
        <p:spPr>
          <a:xfrm>
            <a:off x="1295447" y="4367115"/>
            <a:ext cx="6552900" cy="172200"/>
          </a:xfrm>
          <a:prstGeom prst="rect">
            <a:avLst/>
          </a:prstGeom>
          <a:noFill/>
          <a:ln>
            <a:noFill/>
          </a:ln>
        </p:spPr>
        <p:txBody>
          <a:bodyPr anchorCtr="0" anchor="ctr" bIns="38050" lIns="76175" spcFirstLastPara="1" rIns="76175" wrap="square" tIns="38050">
            <a:noAutofit/>
          </a:bodyPr>
          <a:lstStyle/>
          <a:p>
            <a:pPr indent="0" lvl="0" marL="0" marR="0" rtl="0" algn="l">
              <a:spcBef>
                <a:spcPts val="0"/>
              </a:spcBef>
              <a:spcAft>
                <a:spcPts val="0"/>
              </a:spcAft>
              <a:buClr>
                <a:srgbClr val="1E2761"/>
              </a:buClr>
              <a:buSzPts val="1333"/>
              <a:buFont typeface="Calibri"/>
              <a:buNone/>
            </a:pPr>
            <a:r>
              <a:rPr b="1" i="0" lang="en" sz="1333" u="none" cap="none" strike="noStrike">
                <a:solidFill>
                  <a:srgbClr val="1E2761"/>
                </a:solidFill>
                <a:latin typeface="Calibri"/>
                <a:ea typeface="Calibri"/>
                <a:cs typeface="Calibri"/>
                <a:sym typeface="Calibri"/>
              </a:rPr>
              <a:t>🎯 Key Improvement</a:t>
            </a:r>
            <a:endParaRPr b="0" i="0" sz="1333" u="none" cap="none" strike="noStrike">
              <a:solidFill>
                <a:schemeClr val="dk1"/>
              </a:solidFill>
              <a:latin typeface="Calibri"/>
              <a:ea typeface="Calibri"/>
              <a:cs typeface="Calibri"/>
              <a:sym typeface="Calibri"/>
            </a:endParaRPr>
          </a:p>
        </p:txBody>
      </p:sp>
      <p:sp>
        <p:nvSpPr>
          <p:cNvPr id="393" name="Google Shape;393;p25"/>
          <p:cNvSpPr/>
          <p:nvPr/>
        </p:nvSpPr>
        <p:spPr>
          <a:xfrm>
            <a:off x="1295440" y="4603360"/>
            <a:ext cx="3200400" cy="229800"/>
          </a:xfrm>
          <a:prstGeom prst="rect">
            <a:avLst/>
          </a:prstGeom>
          <a:noFill/>
          <a:ln>
            <a:noFill/>
          </a:ln>
        </p:spPr>
        <p:txBody>
          <a:bodyPr anchorCtr="0" anchor="ctr" bIns="38050" lIns="76175" spcFirstLastPara="1" rIns="76175" wrap="square" tIns="38050">
            <a:noAutofit/>
          </a:bodyPr>
          <a:lstStyle/>
          <a:p>
            <a:pPr indent="0" lvl="0" marL="0" marR="0" rtl="0" algn="l">
              <a:spcBef>
                <a:spcPts val="0"/>
              </a:spcBef>
              <a:spcAft>
                <a:spcPts val="0"/>
              </a:spcAft>
              <a:buClr>
                <a:srgbClr val="667EEA"/>
              </a:buClr>
              <a:buSzPts val="1167"/>
              <a:buFont typeface="Calibri"/>
              <a:buNone/>
            </a:pPr>
            <a:r>
              <a:rPr b="1" i="0" lang="en" sz="1166" u="none" cap="none" strike="noStrike">
                <a:solidFill>
                  <a:srgbClr val="667EEA"/>
                </a:solidFill>
                <a:latin typeface="Calibri"/>
                <a:ea typeface="Calibri"/>
                <a:cs typeface="Calibri"/>
                <a:sym typeface="Calibri"/>
              </a:rPr>
              <a:t>Grounding improved from 0.53 → 0.60 (+12.7%)</a:t>
            </a:r>
            <a:endParaRPr b="0" i="0" sz="1166" u="none" cap="none" strike="noStrike">
              <a:solidFill>
                <a:schemeClr val="dk1"/>
              </a:solidFill>
              <a:latin typeface="Calibri"/>
              <a:ea typeface="Calibri"/>
              <a:cs typeface="Calibri"/>
              <a:sym typeface="Calibri"/>
            </a:endParaRPr>
          </a:p>
        </p:txBody>
      </p:sp>
      <p:sp>
        <p:nvSpPr>
          <p:cNvPr id="394" name="Google Shape;394;p25"/>
          <p:cNvSpPr/>
          <p:nvPr/>
        </p:nvSpPr>
        <p:spPr>
          <a:xfrm>
            <a:off x="1295447" y="4832889"/>
            <a:ext cx="6552900" cy="172200"/>
          </a:xfrm>
          <a:prstGeom prst="rect">
            <a:avLst/>
          </a:prstGeom>
          <a:noFill/>
          <a:ln>
            <a:noFill/>
          </a:ln>
        </p:spPr>
        <p:txBody>
          <a:bodyPr anchorCtr="0" anchor="ctr" bIns="38050" lIns="76175" spcFirstLastPara="1" rIns="76175" wrap="square" tIns="38050">
            <a:noAutofit/>
          </a:bodyPr>
          <a:lstStyle/>
          <a:p>
            <a:pPr indent="0" lvl="0" marL="0" marR="0" rtl="0" algn="l">
              <a:spcBef>
                <a:spcPts val="0"/>
              </a:spcBef>
              <a:spcAft>
                <a:spcPts val="0"/>
              </a:spcAft>
              <a:buClr>
                <a:srgbClr val="333333"/>
              </a:buClr>
              <a:buSzPts val="1000"/>
              <a:buFont typeface="Calibri"/>
              <a:buNone/>
            </a:pPr>
            <a:r>
              <a:rPr b="0" i="0" lang="en" sz="999" u="none" cap="none" strike="noStrike">
                <a:solidFill>
                  <a:srgbClr val="333333"/>
                </a:solidFill>
                <a:latin typeface="Calibri"/>
                <a:ea typeface="Calibri"/>
                <a:cs typeface="Calibri"/>
                <a:sym typeface="Calibri"/>
              </a:rPr>
              <a:t>Means: 60% of generated vocabulary comes from source reviews</a:t>
            </a:r>
            <a:endParaRPr b="0" i="0" sz="999" u="none" cap="none" strike="noStrike">
              <a:solidFill>
                <a:schemeClr val="dk1"/>
              </a:solidFill>
              <a:latin typeface="Calibri"/>
              <a:ea typeface="Calibri"/>
              <a:cs typeface="Calibri"/>
              <a:sym typeface="Calibri"/>
            </a:endParaRPr>
          </a:p>
        </p:txBody>
      </p:sp>
      <p:sp>
        <p:nvSpPr>
          <p:cNvPr id="395" name="Google Shape;395;p25"/>
          <p:cNvSpPr/>
          <p:nvPr/>
        </p:nvSpPr>
        <p:spPr>
          <a:xfrm>
            <a:off x="4292188" y="4603360"/>
            <a:ext cx="3480300" cy="229800"/>
          </a:xfrm>
          <a:prstGeom prst="rect">
            <a:avLst/>
          </a:prstGeom>
          <a:noFill/>
          <a:ln>
            <a:noFill/>
          </a:ln>
        </p:spPr>
        <p:txBody>
          <a:bodyPr anchorCtr="0" anchor="ctr" bIns="38050" lIns="76175" spcFirstLastPara="1" rIns="76175" wrap="square" tIns="38050">
            <a:noAutofit/>
          </a:bodyPr>
          <a:lstStyle/>
          <a:p>
            <a:pPr indent="0" lvl="0" marL="0" marR="0" rtl="0" algn="l">
              <a:spcBef>
                <a:spcPts val="0"/>
              </a:spcBef>
              <a:spcAft>
                <a:spcPts val="0"/>
              </a:spcAft>
              <a:buClr>
                <a:srgbClr val="4CAF50"/>
              </a:buClr>
              <a:buSzPts val="1000"/>
              <a:buFont typeface="Calibri"/>
              <a:buNone/>
            </a:pPr>
            <a:r>
              <a:rPr b="1" i="0" lang="en" sz="999" u="none" cap="none" strike="noStrike">
                <a:solidFill>
                  <a:srgbClr val="4CAF50"/>
                </a:solidFill>
                <a:latin typeface="Calibri"/>
                <a:ea typeface="Calibri"/>
                <a:cs typeface="Calibri"/>
                <a:sym typeface="Calibri"/>
              </a:rPr>
              <a:t>→ Less hallucination, more faithful recommendations</a:t>
            </a:r>
            <a:endParaRPr b="0" i="0" sz="999"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400" name="Shape 400"/>
        <p:cNvGrpSpPr/>
        <p:nvPr/>
      </p:nvGrpSpPr>
      <p:grpSpPr>
        <a:xfrm>
          <a:off x="0" y="0"/>
          <a:ext cx="0" cy="0"/>
          <a:chOff x="0" y="0"/>
          <a:chExt cx="0" cy="0"/>
        </a:xfrm>
      </p:grpSpPr>
      <p:sp>
        <p:nvSpPr>
          <p:cNvPr id="401" name="Google Shape;401;p26"/>
          <p:cNvSpPr/>
          <p:nvPr/>
        </p:nvSpPr>
        <p:spPr>
          <a:xfrm>
            <a:off x="478025" y="471075"/>
            <a:ext cx="8209200" cy="5487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4000"/>
              <a:buFont typeface="Calibri"/>
              <a:buNone/>
            </a:pPr>
            <a:r>
              <a:rPr b="1" i="0" lang="en" sz="4000" u="none" cap="none" strike="noStrike">
                <a:solidFill>
                  <a:srgbClr val="FFFFFF"/>
                </a:solidFill>
                <a:latin typeface="Calibri"/>
                <a:ea typeface="Calibri"/>
                <a:cs typeface="Calibri"/>
                <a:sym typeface="Calibri"/>
              </a:rPr>
              <a:t>Key Takeaways</a:t>
            </a:r>
            <a:endParaRPr b="0" i="0" sz="4000" u="none" cap="none" strike="noStrike">
              <a:solidFill>
                <a:schemeClr val="dk1"/>
              </a:solidFill>
              <a:latin typeface="Calibri"/>
              <a:ea typeface="Calibri"/>
              <a:cs typeface="Calibri"/>
              <a:sym typeface="Calibri"/>
            </a:endParaRPr>
          </a:p>
        </p:txBody>
      </p:sp>
      <p:sp>
        <p:nvSpPr>
          <p:cNvPr id="402" name="Google Shape;402;p26"/>
          <p:cNvSpPr/>
          <p:nvPr/>
        </p:nvSpPr>
        <p:spPr>
          <a:xfrm>
            <a:off x="1214698" y="1252511"/>
            <a:ext cx="3142500" cy="1073700"/>
          </a:xfrm>
          <a:prstGeom prst="roundRect">
            <a:avLst>
              <a:gd fmla="val 16667" name="adj"/>
            </a:avLst>
          </a:prstGeom>
          <a:solidFill>
            <a:srgbClr val="CADCFC"/>
          </a:solidFill>
          <a:ln cap="flat" cmpd="sng" w="23775">
            <a:solidFill>
              <a:srgbClr val="FFFFFF"/>
            </a:solidFill>
            <a:prstDash val="solid"/>
            <a:round/>
            <a:headEnd len="sm" w="sm" type="none"/>
            <a:tailEnd len="sm" w="sm" type="none"/>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26"/>
          <p:cNvSpPr/>
          <p:nvPr/>
        </p:nvSpPr>
        <p:spPr>
          <a:xfrm>
            <a:off x="1975325" y="1393175"/>
            <a:ext cx="2019600" cy="4278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1E2761"/>
              </a:buClr>
              <a:buSzPts val="1310"/>
              <a:buFont typeface="Calibri"/>
              <a:buNone/>
            </a:pPr>
            <a:r>
              <a:rPr b="1" i="0" lang="en" sz="1310" u="none" cap="none" strike="noStrike">
                <a:solidFill>
                  <a:srgbClr val="1E2761"/>
                </a:solidFill>
                <a:latin typeface="Calibri"/>
                <a:ea typeface="Calibri"/>
                <a:cs typeface="Calibri"/>
                <a:sym typeface="Calibri"/>
              </a:rPr>
              <a:t>Data Quality &gt; Model Size</a:t>
            </a:r>
            <a:endParaRPr b="0" i="0" sz="1310" u="none" cap="none" strike="noStrike">
              <a:solidFill>
                <a:schemeClr val="dk1"/>
              </a:solidFill>
              <a:latin typeface="Calibri"/>
              <a:ea typeface="Calibri"/>
              <a:cs typeface="Calibri"/>
              <a:sym typeface="Calibri"/>
            </a:endParaRPr>
          </a:p>
        </p:txBody>
      </p:sp>
      <p:sp>
        <p:nvSpPr>
          <p:cNvPr id="404" name="Google Shape;404;p26"/>
          <p:cNvSpPr/>
          <p:nvPr/>
        </p:nvSpPr>
        <p:spPr>
          <a:xfrm>
            <a:off x="1975332" y="1813043"/>
            <a:ext cx="2216400" cy="3423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333333"/>
              </a:buClr>
              <a:buSzPts val="1029"/>
              <a:buFont typeface="Calibri"/>
              <a:buNone/>
            </a:pPr>
            <a:r>
              <a:rPr b="0" i="0" lang="en" sz="1029" u="none" cap="none" strike="noStrike">
                <a:solidFill>
                  <a:srgbClr val="333333"/>
                </a:solidFill>
                <a:latin typeface="Calibri"/>
                <a:ea typeface="Calibri"/>
                <a:cs typeface="Calibri"/>
                <a:sym typeface="Calibri"/>
              </a:rPr>
              <a:t>Cleaning data had more impact than switching to larger models</a:t>
            </a:r>
            <a:endParaRPr b="0" i="0" sz="1029" u="none" cap="none" strike="noStrike">
              <a:solidFill>
                <a:schemeClr val="dk1"/>
              </a:solidFill>
              <a:latin typeface="Calibri"/>
              <a:ea typeface="Calibri"/>
              <a:cs typeface="Calibri"/>
              <a:sym typeface="Calibri"/>
            </a:endParaRPr>
          </a:p>
        </p:txBody>
      </p:sp>
      <p:sp>
        <p:nvSpPr>
          <p:cNvPr id="405" name="Google Shape;405;p26"/>
          <p:cNvSpPr/>
          <p:nvPr/>
        </p:nvSpPr>
        <p:spPr>
          <a:xfrm>
            <a:off x="1357324" y="1532681"/>
            <a:ext cx="513600" cy="513600"/>
          </a:xfrm>
          <a:prstGeom prst="ellipse">
            <a:avLst/>
          </a:prstGeom>
          <a:solidFill>
            <a:srgbClr val="667EEA"/>
          </a:solidFill>
          <a:ln>
            <a:noFill/>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26"/>
          <p:cNvSpPr/>
          <p:nvPr/>
        </p:nvSpPr>
        <p:spPr>
          <a:xfrm>
            <a:off x="4979634" y="1252475"/>
            <a:ext cx="3422700" cy="1074000"/>
          </a:xfrm>
          <a:prstGeom prst="roundRect">
            <a:avLst>
              <a:gd fmla="val 16667" name="adj"/>
            </a:avLst>
          </a:prstGeom>
          <a:solidFill>
            <a:srgbClr val="CADCFC"/>
          </a:solidFill>
          <a:ln cap="flat" cmpd="sng" w="23775">
            <a:solidFill>
              <a:srgbClr val="FFFFFF"/>
            </a:solidFill>
            <a:prstDash val="solid"/>
            <a:round/>
            <a:headEnd len="sm" w="sm" type="none"/>
            <a:tailEnd len="sm" w="sm" type="none"/>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7" name="Google Shape;407;p26"/>
          <p:cNvSpPr/>
          <p:nvPr/>
        </p:nvSpPr>
        <p:spPr>
          <a:xfrm>
            <a:off x="5150775" y="1524749"/>
            <a:ext cx="513600" cy="513600"/>
          </a:xfrm>
          <a:prstGeom prst="ellipse">
            <a:avLst/>
          </a:prstGeom>
          <a:solidFill>
            <a:srgbClr val="667EEA"/>
          </a:solidFill>
          <a:ln>
            <a:noFill/>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8" name="Google Shape;408;p26"/>
          <p:cNvSpPr/>
          <p:nvPr/>
        </p:nvSpPr>
        <p:spPr>
          <a:xfrm>
            <a:off x="5150769" y="1524754"/>
            <a:ext cx="513600" cy="513600"/>
          </a:xfrm>
          <a:prstGeom prst="rect">
            <a:avLst/>
          </a:prstGeom>
          <a:noFill/>
          <a:ln>
            <a:noFill/>
          </a:ln>
        </p:spPr>
        <p:txBody>
          <a:bodyPr anchorCtr="0" anchor="ctr" bIns="42775" lIns="85550" spcFirstLastPara="1" rIns="85550" wrap="square" tIns="42775">
            <a:noAutofit/>
          </a:bodyPr>
          <a:lstStyle/>
          <a:p>
            <a:pPr indent="0" lvl="0" marL="0" marR="0" rtl="0" algn="ctr">
              <a:lnSpc>
                <a:spcPct val="100000"/>
              </a:lnSpc>
              <a:spcBef>
                <a:spcPts val="0"/>
              </a:spcBef>
              <a:spcAft>
                <a:spcPts val="0"/>
              </a:spcAft>
              <a:buClr>
                <a:srgbClr val="FFFFFF"/>
              </a:buClr>
              <a:buSzPts val="2246"/>
              <a:buFont typeface="Calibri"/>
              <a:buNone/>
            </a:pPr>
            <a:r>
              <a:rPr b="1" i="0" lang="en" sz="2245" u="none" cap="none" strike="noStrike">
                <a:solidFill>
                  <a:srgbClr val="FFFFFF"/>
                </a:solidFill>
                <a:latin typeface="Calibri"/>
                <a:ea typeface="Calibri"/>
                <a:cs typeface="Calibri"/>
                <a:sym typeface="Calibri"/>
              </a:rPr>
              <a:t>2</a:t>
            </a:r>
            <a:endParaRPr b="0" i="0" sz="2245" u="none" cap="none" strike="noStrike">
              <a:solidFill>
                <a:schemeClr val="dk1"/>
              </a:solidFill>
              <a:latin typeface="Calibri"/>
              <a:ea typeface="Calibri"/>
              <a:cs typeface="Calibri"/>
              <a:sym typeface="Calibri"/>
            </a:endParaRPr>
          </a:p>
        </p:txBody>
      </p:sp>
      <p:sp>
        <p:nvSpPr>
          <p:cNvPr id="409" name="Google Shape;409;p26"/>
          <p:cNvSpPr/>
          <p:nvPr/>
        </p:nvSpPr>
        <p:spPr>
          <a:xfrm>
            <a:off x="5816309" y="1393165"/>
            <a:ext cx="2395800" cy="4278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1E2761"/>
              </a:buClr>
              <a:buSzPts val="1310"/>
              <a:buFont typeface="Calibri"/>
              <a:buNone/>
            </a:pPr>
            <a:r>
              <a:rPr b="1" i="0" lang="en" sz="1310" u="none" cap="none" strike="noStrike">
                <a:solidFill>
                  <a:srgbClr val="1E2761"/>
                </a:solidFill>
                <a:latin typeface="Calibri"/>
                <a:ea typeface="Calibri"/>
                <a:cs typeface="Calibri"/>
                <a:sym typeface="Calibri"/>
              </a:rPr>
              <a:t>Prompt Engineering Matters</a:t>
            </a:r>
            <a:endParaRPr b="0" i="0" sz="1310" u="none" cap="none" strike="noStrike">
              <a:solidFill>
                <a:schemeClr val="dk1"/>
              </a:solidFill>
              <a:latin typeface="Calibri"/>
              <a:ea typeface="Calibri"/>
              <a:cs typeface="Calibri"/>
              <a:sym typeface="Calibri"/>
            </a:endParaRPr>
          </a:p>
        </p:txBody>
      </p:sp>
      <p:sp>
        <p:nvSpPr>
          <p:cNvPr id="410" name="Google Shape;410;p26"/>
          <p:cNvSpPr/>
          <p:nvPr/>
        </p:nvSpPr>
        <p:spPr>
          <a:xfrm>
            <a:off x="5816295" y="1817062"/>
            <a:ext cx="2395800" cy="3423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333333"/>
              </a:buClr>
              <a:buSzPts val="1029"/>
              <a:buFont typeface="Calibri"/>
              <a:buNone/>
            </a:pPr>
            <a:r>
              <a:rPr b="0" i="0" lang="en" sz="1029" u="none" cap="none" strike="noStrike">
                <a:solidFill>
                  <a:srgbClr val="333333"/>
                </a:solidFill>
                <a:latin typeface="Calibri"/>
                <a:ea typeface="Calibri"/>
                <a:cs typeface="Calibri"/>
                <a:sym typeface="Calibri"/>
              </a:rPr>
              <a:t>Iterative refinement (V1→V2→V3) crucial for LLM quality</a:t>
            </a:r>
            <a:endParaRPr b="0" i="0" sz="1029" u="none" cap="none" strike="noStrike">
              <a:solidFill>
                <a:schemeClr val="dk1"/>
              </a:solidFill>
              <a:latin typeface="Calibri"/>
              <a:ea typeface="Calibri"/>
              <a:cs typeface="Calibri"/>
              <a:sym typeface="Calibri"/>
            </a:endParaRPr>
          </a:p>
        </p:txBody>
      </p:sp>
      <p:sp>
        <p:nvSpPr>
          <p:cNvPr id="411" name="Google Shape;411;p26"/>
          <p:cNvSpPr/>
          <p:nvPr/>
        </p:nvSpPr>
        <p:spPr>
          <a:xfrm>
            <a:off x="1214663" y="2647532"/>
            <a:ext cx="3142500" cy="1073400"/>
          </a:xfrm>
          <a:prstGeom prst="roundRect">
            <a:avLst>
              <a:gd fmla="val 16667" name="adj"/>
            </a:avLst>
          </a:prstGeom>
          <a:solidFill>
            <a:srgbClr val="CADCFC"/>
          </a:solidFill>
          <a:ln cap="flat" cmpd="sng" w="23775">
            <a:solidFill>
              <a:srgbClr val="FFFFFF"/>
            </a:solidFill>
            <a:prstDash val="solid"/>
            <a:round/>
            <a:headEnd len="sm" w="sm" type="none"/>
            <a:tailEnd len="sm" w="sm" type="none"/>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26"/>
          <p:cNvSpPr/>
          <p:nvPr/>
        </p:nvSpPr>
        <p:spPr>
          <a:xfrm>
            <a:off x="1385799" y="2841356"/>
            <a:ext cx="513600" cy="513600"/>
          </a:xfrm>
          <a:prstGeom prst="ellipse">
            <a:avLst/>
          </a:prstGeom>
          <a:solidFill>
            <a:srgbClr val="667EEA"/>
          </a:solidFill>
          <a:ln>
            <a:noFill/>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3" name="Google Shape;413;p26"/>
          <p:cNvSpPr/>
          <p:nvPr/>
        </p:nvSpPr>
        <p:spPr>
          <a:xfrm>
            <a:off x="1385799" y="2841362"/>
            <a:ext cx="513600" cy="513600"/>
          </a:xfrm>
          <a:prstGeom prst="rect">
            <a:avLst/>
          </a:prstGeom>
          <a:noFill/>
          <a:ln>
            <a:noFill/>
          </a:ln>
        </p:spPr>
        <p:txBody>
          <a:bodyPr anchorCtr="0" anchor="ctr" bIns="42775" lIns="85550" spcFirstLastPara="1" rIns="85550" wrap="square" tIns="42775">
            <a:noAutofit/>
          </a:bodyPr>
          <a:lstStyle/>
          <a:p>
            <a:pPr indent="0" lvl="0" marL="0" marR="0" rtl="0" algn="ctr">
              <a:lnSpc>
                <a:spcPct val="100000"/>
              </a:lnSpc>
              <a:spcBef>
                <a:spcPts val="0"/>
              </a:spcBef>
              <a:spcAft>
                <a:spcPts val="0"/>
              </a:spcAft>
              <a:buClr>
                <a:srgbClr val="FFFFFF"/>
              </a:buClr>
              <a:buSzPts val="2246"/>
              <a:buFont typeface="Calibri"/>
              <a:buNone/>
            </a:pPr>
            <a:r>
              <a:rPr b="1" i="0" lang="en" sz="2245" u="none" cap="none" strike="noStrike">
                <a:solidFill>
                  <a:srgbClr val="FFFFFF"/>
                </a:solidFill>
                <a:latin typeface="Calibri"/>
                <a:ea typeface="Calibri"/>
                <a:cs typeface="Calibri"/>
                <a:sym typeface="Calibri"/>
              </a:rPr>
              <a:t>3</a:t>
            </a:r>
            <a:endParaRPr b="0" i="0" sz="2245" u="none" cap="none" strike="noStrike">
              <a:solidFill>
                <a:schemeClr val="dk1"/>
              </a:solidFill>
              <a:latin typeface="Calibri"/>
              <a:ea typeface="Calibri"/>
              <a:cs typeface="Calibri"/>
              <a:sym typeface="Calibri"/>
            </a:endParaRPr>
          </a:p>
        </p:txBody>
      </p:sp>
      <p:sp>
        <p:nvSpPr>
          <p:cNvPr id="414" name="Google Shape;414;p26"/>
          <p:cNvSpPr/>
          <p:nvPr/>
        </p:nvSpPr>
        <p:spPr>
          <a:xfrm>
            <a:off x="1975263" y="2797014"/>
            <a:ext cx="2395800" cy="4278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1E2761"/>
              </a:buClr>
              <a:buSzPts val="1310"/>
              <a:buFont typeface="Calibri"/>
              <a:buNone/>
            </a:pPr>
            <a:r>
              <a:rPr b="1" i="0" lang="en" sz="1310" u="none" cap="none" strike="noStrike">
                <a:solidFill>
                  <a:srgbClr val="1E2761"/>
                </a:solidFill>
                <a:latin typeface="Calibri"/>
                <a:ea typeface="Calibri"/>
                <a:cs typeface="Calibri"/>
                <a:sym typeface="Calibri"/>
              </a:rPr>
              <a:t>Domain Adaptation Required</a:t>
            </a:r>
            <a:endParaRPr b="0" i="0" sz="1310" u="none" cap="none" strike="noStrike">
              <a:solidFill>
                <a:schemeClr val="dk1"/>
              </a:solidFill>
              <a:latin typeface="Calibri"/>
              <a:ea typeface="Calibri"/>
              <a:cs typeface="Calibri"/>
              <a:sym typeface="Calibri"/>
            </a:endParaRPr>
          </a:p>
        </p:txBody>
      </p:sp>
      <p:sp>
        <p:nvSpPr>
          <p:cNvPr id="415" name="Google Shape;415;p26"/>
          <p:cNvSpPr/>
          <p:nvPr/>
        </p:nvSpPr>
        <p:spPr>
          <a:xfrm>
            <a:off x="1975263" y="3214803"/>
            <a:ext cx="2395800" cy="342300"/>
          </a:xfrm>
          <a:prstGeom prst="rect">
            <a:avLst/>
          </a:prstGeom>
          <a:noFill/>
          <a:ln>
            <a:noFill/>
          </a:ln>
        </p:spPr>
        <p:txBody>
          <a:bodyPr anchorCtr="0" anchor="ctr" bIns="42775" lIns="85550" spcFirstLastPara="1" rIns="85550" wrap="square" tIns="42775">
            <a:noAutofit/>
          </a:bodyPr>
          <a:lstStyle/>
          <a:p>
            <a:pPr indent="0" lvl="0" marL="0" marR="0" rtl="0" algn="l">
              <a:lnSpc>
                <a:spcPct val="100000"/>
              </a:lnSpc>
              <a:spcBef>
                <a:spcPts val="0"/>
              </a:spcBef>
              <a:spcAft>
                <a:spcPts val="0"/>
              </a:spcAft>
              <a:buClr>
                <a:srgbClr val="333333"/>
              </a:buClr>
              <a:buSzPts val="1029"/>
              <a:buFont typeface="Calibri"/>
              <a:buNone/>
            </a:pPr>
            <a:r>
              <a:rPr b="0" i="0" lang="en" sz="1029" u="none" cap="none" strike="noStrike">
                <a:solidFill>
                  <a:srgbClr val="333333"/>
                </a:solidFill>
                <a:latin typeface="Calibri"/>
                <a:ea typeface="Calibri"/>
                <a:cs typeface="Calibri"/>
                <a:sym typeface="Calibri"/>
              </a:rPr>
              <a:t>Zero-shot underperformed; fine-tuning essential</a:t>
            </a:r>
            <a:endParaRPr b="0" i="0" sz="1029" u="none" cap="none" strike="noStrike">
              <a:solidFill>
                <a:schemeClr val="dk1"/>
              </a:solidFill>
              <a:latin typeface="Calibri"/>
              <a:ea typeface="Calibri"/>
              <a:cs typeface="Calibri"/>
              <a:sym typeface="Calibri"/>
            </a:endParaRPr>
          </a:p>
        </p:txBody>
      </p:sp>
      <p:sp>
        <p:nvSpPr>
          <p:cNvPr id="416" name="Google Shape;416;p26"/>
          <p:cNvSpPr/>
          <p:nvPr/>
        </p:nvSpPr>
        <p:spPr>
          <a:xfrm>
            <a:off x="4979625" y="2604251"/>
            <a:ext cx="3362400" cy="1073400"/>
          </a:xfrm>
          <a:prstGeom prst="roundRect">
            <a:avLst>
              <a:gd fmla="val 16667" name="adj"/>
            </a:avLst>
          </a:prstGeom>
          <a:solidFill>
            <a:srgbClr val="CADCFC"/>
          </a:solidFill>
          <a:ln cap="flat" cmpd="sng" w="27175">
            <a:solidFill>
              <a:srgbClr val="FFFFFF"/>
            </a:solidFill>
            <a:prstDash val="solid"/>
            <a:round/>
            <a:headEnd len="sm" w="sm" type="none"/>
            <a:tailEnd len="sm" w="sm" type="none"/>
          </a:ln>
        </p:spPr>
        <p:txBody>
          <a:bodyPr anchorCtr="0" anchor="ctr" bIns="97825" lIns="97825" spcFirstLastPara="1" rIns="97825" wrap="square" tIns="97825">
            <a:noAutofit/>
          </a:bodyPr>
          <a:lstStyle/>
          <a:p>
            <a:pPr indent="0" lvl="0" marL="0" marR="0" rtl="0" algn="l">
              <a:lnSpc>
                <a:spcPct val="100000"/>
              </a:lnSpc>
              <a:spcBef>
                <a:spcPts val="0"/>
              </a:spcBef>
              <a:spcAft>
                <a:spcPts val="0"/>
              </a:spcAft>
              <a:buClr>
                <a:srgbClr val="000000"/>
              </a:buClr>
              <a:buSzPts val="1498"/>
              <a:buFont typeface="Arial"/>
              <a:buNone/>
            </a:pPr>
            <a:r>
              <a:t/>
            </a:r>
            <a:endParaRPr b="0" i="0" sz="1497" u="none" cap="none" strike="noStrike">
              <a:solidFill>
                <a:srgbClr val="000000"/>
              </a:solidFill>
              <a:latin typeface="Arial"/>
              <a:ea typeface="Arial"/>
              <a:cs typeface="Arial"/>
              <a:sym typeface="Arial"/>
            </a:endParaRPr>
          </a:p>
        </p:txBody>
      </p:sp>
      <p:sp>
        <p:nvSpPr>
          <p:cNvPr id="417" name="Google Shape;417;p26"/>
          <p:cNvSpPr/>
          <p:nvPr/>
        </p:nvSpPr>
        <p:spPr>
          <a:xfrm>
            <a:off x="5814061" y="2736873"/>
            <a:ext cx="2400300" cy="548100"/>
          </a:xfrm>
          <a:prstGeom prst="rect">
            <a:avLst/>
          </a:prstGeom>
          <a:noFill/>
          <a:ln>
            <a:noFill/>
          </a:ln>
        </p:spPr>
        <p:txBody>
          <a:bodyPr anchorCtr="0" anchor="ctr" bIns="48900" lIns="97825" spcFirstLastPara="1" rIns="97825" wrap="square" tIns="48900">
            <a:noAutofit/>
          </a:bodyPr>
          <a:lstStyle/>
          <a:p>
            <a:pPr indent="0" lvl="0" marL="0" marR="0" rtl="0" algn="l">
              <a:lnSpc>
                <a:spcPct val="100000"/>
              </a:lnSpc>
              <a:spcBef>
                <a:spcPts val="0"/>
              </a:spcBef>
              <a:spcAft>
                <a:spcPts val="0"/>
              </a:spcAft>
              <a:buClr>
                <a:srgbClr val="1E2761"/>
              </a:buClr>
              <a:buSzPts val="1498"/>
              <a:buFont typeface="Calibri"/>
              <a:buNone/>
            </a:pPr>
            <a:r>
              <a:rPr b="1" i="0" lang="en" sz="1300" u="none" cap="none" strike="noStrike">
                <a:solidFill>
                  <a:srgbClr val="1E2761"/>
                </a:solidFill>
                <a:latin typeface="Calibri"/>
                <a:ea typeface="Calibri"/>
                <a:cs typeface="Calibri"/>
                <a:sym typeface="Calibri"/>
              </a:rPr>
              <a:t>Custom Metrics Help</a:t>
            </a:r>
            <a:endParaRPr b="0" i="0" sz="1300" u="none" cap="none" strike="noStrike">
              <a:solidFill>
                <a:schemeClr val="dk1"/>
              </a:solidFill>
              <a:latin typeface="Calibri"/>
              <a:ea typeface="Calibri"/>
              <a:cs typeface="Calibri"/>
              <a:sym typeface="Calibri"/>
            </a:endParaRPr>
          </a:p>
        </p:txBody>
      </p:sp>
      <p:sp>
        <p:nvSpPr>
          <p:cNvPr id="418" name="Google Shape;418;p26"/>
          <p:cNvSpPr/>
          <p:nvPr/>
        </p:nvSpPr>
        <p:spPr>
          <a:xfrm>
            <a:off x="5814061" y="3119111"/>
            <a:ext cx="2400300" cy="438000"/>
          </a:xfrm>
          <a:prstGeom prst="rect">
            <a:avLst/>
          </a:prstGeom>
          <a:noFill/>
          <a:ln>
            <a:noFill/>
          </a:ln>
        </p:spPr>
        <p:txBody>
          <a:bodyPr anchorCtr="0" anchor="ctr" bIns="48900" lIns="97825" spcFirstLastPara="1" rIns="97825" wrap="square" tIns="48900">
            <a:noAutofit/>
          </a:bodyPr>
          <a:lstStyle/>
          <a:p>
            <a:pPr indent="0" lvl="0" marL="0" marR="0" rtl="0" algn="l">
              <a:lnSpc>
                <a:spcPct val="100000"/>
              </a:lnSpc>
              <a:spcBef>
                <a:spcPts val="0"/>
              </a:spcBef>
              <a:spcAft>
                <a:spcPts val="0"/>
              </a:spcAft>
              <a:buClr>
                <a:srgbClr val="333333"/>
              </a:buClr>
              <a:buSzPts val="1177"/>
              <a:buFont typeface="Calibri"/>
              <a:buNone/>
            </a:pPr>
            <a:r>
              <a:rPr b="0" i="0" lang="en" sz="1000" u="none" cap="none" strike="noStrike">
                <a:solidFill>
                  <a:srgbClr val="333333"/>
                </a:solidFill>
                <a:latin typeface="Calibri"/>
                <a:ea typeface="Calibri"/>
                <a:cs typeface="Calibri"/>
                <a:sym typeface="Calibri"/>
              </a:rPr>
              <a:t>Grounding ratio provided signal for hallucination detection</a:t>
            </a:r>
            <a:endParaRPr b="0" i="0" sz="1000" u="none" cap="none" strike="noStrike">
              <a:solidFill>
                <a:schemeClr val="dk1"/>
              </a:solidFill>
              <a:latin typeface="Calibri"/>
              <a:ea typeface="Calibri"/>
              <a:cs typeface="Calibri"/>
              <a:sym typeface="Calibri"/>
            </a:endParaRPr>
          </a:p>
        </p:txBody>
      </p:sp>
      <p:sp>
        <p:nvSpPr>
          <p:cNvPr id="419" name="Google Shape;419;p26"/>
          <p:cNvSpPr/>
          <p:nvPr/>
        </p:nvSpPr>
        <p:spPr>
          <a:xfrm>
            <a:off x="457200" y="5760720"/>
            <a:ext cx="8229600" cy="36576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1400"/>
              <a:buFont typeface="Calibri"/>
              <a:buNone/>
            </a:pPr>
            <a:r>
              <a:rPr b="0" i="1" lang="en" sz="1400" u="none" cap="none" strike="noStrike">
                <a:solidFill>
                  <a:srgbClr val="CADCFC"/>
                </a:solidFill>
                <a:latin typeface="Calibri"/>
                <a:ea typeface="Calibri"/>
                <a:cs typeface="Calibri"/>
                <a:sym typeface="Calibri"/>
              </a:rPr>
              <a:t>Demo available: roboreviews-demo.html</a:t>
            </a:r>
            <a:endParaRPr b="0" i="0" sz="1400" u="none" cap="none" strike="noStrike">
              <a:solidFill>
                <a:schemeClr val="dk1"/>
              </a:solidFill>
              <a:latin typeface="Calibri"/>
              <a:ea typeface="Calibri"/>
              <a:cs typeface="Calibri"/>
              <a:sym typeface="Calibri"/>
            </a:endParaRPr>
          </a:p>
        </p:txBody>
      </p:sp>
      <p:sp>
        <p:nvSpPr>
          <p:cNvPr id="420" name="Google Shape;420;p26"/>
          <p:cNvSpPr/>
          <p:nvPr/>
        </p:nvSpPr>
        <p:spPr>
          <a:xfrm>
            <a:off x="1328862" y="1524750"/>
            <a:ext cx="570600" cy="548700"/>
          </a:xfrm>
          <a:prstGeom prst="rect">
            <a:avLst/>
          </a:prstGeom>
          <a:noFill/>
          <a:ln>
            <a:noFill/>
          </a:ln>
        </p:spPr>
        <p:txBody>
          <a:bodyPr anchorCtr="0" anchor="ctr" bIns="42775" lIns="85550" spcFirstLastPara="1" rIns="85550" wrap="square" tIns="42775">
            <a:noAutofit/>
          </a:bodyPr>
          <a:lstStyle/>
          <a:p>
            <a:pPr indent="0" lvl="0" marL="0" marR="0" rtl="0" algn="ctr">
              <a:lnSpc>
                <a:spcPct val="100000"/>
              </a:lnSpc>
              <a:spcBef>
                <a:spcPts val="0"/>
              </a:spcBef>
              <a:spcAft>
                <a:spcPts val="0"/>
              </a:spcAft>
              <a:buClr>
                <a:srgbClr val="FFFFFF"/>
              </a:buClr>
              <a:buSzPts val="2246"/>
              <a:buFont typeface="Calibri"/>
              <a:buNone/>
            </a:pPr>
            <a:r>
              <a:rPr b="1" i="0" lang="en" sz="2245" u="none" cap="none" strike="noStrike">
                <a:solidFill>
                  <a:srgbClr val="FFFFFF"/>
                </a:solidFill>
                <a:latin typeface="Calibri"/>
                <a:ea typeface="Calibri"/>
                <a:cs typeface="Calibri"/>
                <a:sym typeface="Calibri"/>
              </a:rPr>
              <a:t>1</a:t>
            </a:r>
            <a:endParaRPr b="0" i="0" sz="2245" u="none" cap="none" strike="noStrike">
              <a:solidFill>
                <a:schemeClr val="dk1"/>
              </a:solidFill>
              <a:latin typeface="Calibri"/>
              <a:ea typeface="Calibri"/>
              <a:cs typeface="Calibri"/>
              <a:sym typeface="Calibri"/>
            </a:endParaRPr>
          </a:p>
        </p:txBody>
      </p:sp>
      <p:sp>
        <p:nvSpPr>
          <p:cNvPr id="421" name="Google Shape;421;p26"/>
          <p:cNvSpPr/>
          <p:nvPr/>
        </p:nvSpPr>
        <p:spPr>
          <a:xfrm>
            <a:off x="5185549" y="2841356"/>
            <a:ext cx="513600" cy="513600"/>
          </a:xfrm>
          <a:prstGeom prst="ellipse">
            <a:avLst/>
          </a:prstGeom>
          <a:solidFill>
            <a:srgbClr val="667EEA"/>
          </a:solidFill>
          <a:ln>
            <a:noFill/>
          </a:ln>
        </p:spPr>
        <p:txBody>
          <a:bodyPr anchorCtr="0" anchor="ctr" bIns="85550" lIns="85550" spcFirstLastPara="1" rIns="85550" wrap="square" tIns="855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26"/>
          <p:cNvSpPr/>
          <p:nvPr/>
        </p:nvSpPr>
        <p:spPr>
          <a:xfrm>
            <a:off x="5242397" y="2884250"/>
            <a:ext cx="399900" cy="427800"/>
          </a:xfrm>
          <a:prstGeom prst="rect">
            <a:avLst/>
          </a:prstGeom>
          <a:noFill/>
          <a:ln>
            <a:noFill/>
          </a:ln>
        </p:spPr>
        <p:txBody>
          <a:bodyPr anchorCtr="0" anchor="ctr" bIns="48900" lIns="97825" spcFirstLastPara="1" rIns="97825" wrap="square" tIns="48900">
            <a:noAutofit/>
          </a:bodyPr>
          <a:lstStyle/>
          <a:p>
            <a:pPr indent="0" lvl="0" marL="0" marR="0" rtl="0" algn="ctr">
              <a:lnSpc>
                <a:spcPct val="100000"/>
              </a:lnSpc>
              <a:spcBef>
                <a:spcPts val="0"/>
              </a:spcBef>
              <a:spcAft>
                <a:spcPts val="0"/>
              </a:spcAft>
              <a:buClr>
                <a:srgbClr val="FFFFFF"/>
              </a:buClr>
              <a:buSzPts val="2568"/>
              <a:buFont typeface="Calibri"/>
              <a:buNone/>
            </a:pPr>
            <a:r>
              <a:rPr b="1" lang="en" sz="2567">
                <a:solidFill>
                  <a:srgbClr val="FFFFFF"/>
                </a:solidFill>
                <a:latin typeface="Calibri"/>
                <a:ea typeface="Calibri"/>
                <a:cs typeface="Calibri"/>
                <a:sym typeface="Calibri"/>
              </a:rPr>
              <a:t>4</a:t>
            </a:r>
            <a:endParaRPr b="0" i="0" sz="2567"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427" name="Shape 427"/>
        <p:cNvGrpSpPr/>
        <p:nvPr/>
      </p:nvGrpSpPr>
      <p:grpSpPr>
        <a:xfrm>
          <a:off x="0" y="0"/>
          <a:ext cx="0" cy="0"/>
          <a:chOff x="0" y="0"/>
          <a:chExt cx="0" cy="0"/>
        </a:xfrm>
      </p:grpSpPr>
      <p:sp>
        <p:nvSpPr>
          <p:cNvPr id="428" name="Google Shape;428;p27"/>
          <p:cNvSpPr/>
          <p:nvPr/>
        </p:nvSpPr>
        <p:spPr>
          <a:xfrm>
            <a:off x="457200" y="1828800"/>
            <a:ext cx="8229600" cy="9144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4800"/>
              <a:buFont typeface="Calibri"/>
              <a:buNone/>
            </a:pPr>
            <a:r>
              <a:rPr b="1" i="0" lang="en" sz="4800" u="none" cap="none" strike="noStrike">
                <a:solidFill>
                  <a:srgbClr val="FFFFFF"/>
                </a:solidFill>
                <a:latin typeface="Calibri"/>
                <a:ea typeface="Calibri"/>
                <a:cs typeface="Calibri"/>
                <a:sym typeface="Calibri"/>
              </a:rPr>
              <a:t>Thank You</a:t>
            </a:r>
            <a:endParaRPr b="0" i="0" sz="4800" u="none" cap="none" strike="noStrike">
              <a:solidFill>
                <a:schemeClr val="dk1"/>
              </a:solidFill>
              <a:latin typeface="Calibri"/>
              <a:ea typeface="Calibri"/>
              <a:cs typeface="Calibri"/>
              <a:sym typeface="Calibri"/>
            </a:endParaRPr>
          </a:p>
        </p:txBody>
      </p:sp>
      <p:sp>
        <p:nvSpPr>
          <p:cNvPr id="429" name="Google Shape;429;p27"/>
          <p:cNvSpPr/>
          <p:nvPr/>
        </p:nvSpPr>
        <p:spPr>
          <a:xfrm>
            <a:off x="457200" y="2926080"/>
            <a:ext cx="8229600" cy="457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2000"/>
              <a:buFont typeface="Calibri"/>
              <a:buNone/>
            </a:pPr>
            <a:r>
              <a:rPr b="0" i="0" lang="en" sz="2000" u="none" cap="none" strike="noStrike">
                <a:solidFill>
                  <a:srgbClr val="CADCFC"/>
                </a:solidFill>
                <a:latin typeface="Calibri"/>
                <a:ea typeface="Calibri"/>
                <a:cs typeface="Calibri"/>
                <a:sym typeface="Calibri"/>
              </a:rPr>
              <a:t>Automated Customer Reviews</a:t>
            </a:r>
            <a:endParaRPr b="0" i="0" sz="2000" u="none" cap="none" strike="noStrike">
              <a:solidFill>
                <a:schemeClr val="dk1"/>
              </a:solidFill>
              <a:latin typeface="Calibri"/>
              <a:ea typeface="Calibri"/>
              <a:cs typeface="Calibri"/>
              <a:sym typeface="Calibri"/>
            </a:endParaRPr>
          </a:p>
        </p:txBody>
      </p:sp>
      <p:sp>
        <p:nvSpPr>
          <p:cNvPr id="430" name="Google Shape;430;p27"/>
          <p:cNvSpPr/>
          <p:nvPr/>
        </p:nvSpPr>
        <p:spPr>
          <a:xfrm>
            <a:off x="526200" y="4071450"/>
            <a:ext cx="8229600" cy="3657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1800"/>
              <a:buFont typeface="Calibri"/>
              <a:buNone/>
            </a:pPr>
            <a:r>
              <a:rPr b="1" i="0" lang="en" sz="1800" u="none" cap="none" strike="noStrike">
                <a:solidFill>
                  <a:srgbClr val="CADCFC"/>
                </a:solidFill>
                <a:latin typeface="Calibri"/>
                <a:ea typeface="Calibri"/>
                <a:cs typeface="Calibri"/>
                <a:sym typeface="Calibri"/>
              </a:rPr>
              <a:t>Questions?</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435" name="Shape 435"/>
        <p:cNvGrpSpPr/>
        <p:nvPr/>
      </p:nvGrpSpPr>
      <p:grpSpPr>
        <a:xfrm>
          <a:off x="0" y="0"/>
          <a:ext cx="0" cy="0"/>
          <a:chOff x="0" y="0"/>
          <a:chExt cx="0" cy="0"/>
        </a:xfrm>
      </p:grpSpPr>
      <p:sp>
        <p:nvSpPr>
          <p:cNvPr id="436" name="Google Shape;436;p28"/>
          <p:cNvSpPr/>
          <p:nvPr/>
        </p:nvSpPr>
        <p:spPr>
          <a:xfrm>
            <a:off x="457200" y="1627950"/>
            <a:ext cx="8229600" cy="6999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4800"/>
              <a:buFont typeface="Calibri"/>
              <a:buNone/>
            </a:pPr>
            <a:r>
              <a:rPr b="1" lang="en" sz="4800">
                <a:solidFill>
                  <a:srgbClr val="FFFFFF"/>
                </a:solidFill>
                <a:latin typeface="Calibri"/>
                <a:ea typeface="Calibri"/>
                <a:cs typeface="Calibri"/>
                <a:sym typeface="Calibri"/>
              </a:rPr>
              <a:t>Demo</a:t>
            </a:r>
            <a:endParaRPr b="0" i="0" sz="4800" u="none" cap="none" strike="noStrike">
              <a:solidFill>
                <a:schemeClr val="dk1"/>
              </a:solidFill>
              <a:latin typeface="Calibri"/>
              <a:ea typeface="Calibri"/>
              <a:cs typeface="Calibri"/>
              <a:sym typeface="Calibri"/>
            </a:endParaRPr>
          </a:p>
        </p:txBody>
      </p:sp>
      <p:sp>
        <p:nvSpPr>
          <p:cNvPr id="437" name="Google Shape;437;p28"/>
          <p:cNvSpPr/>
          <p:nvPr/>
        </p:nvSpPr>
        <p:spPr>
          <a:xfrm>
            <a:off x="457200" y="2571755"/>
            <a:ext cx="8229600" cy="4572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CADCFC"/>
              </a:buClr>
              <a:buSzPts val="2000"/>
              <a:buFont typeface="Calibri"/>
              <a:buNone/>
            </a:pPr>
            <a:r>
              <a:rPr lang="en" sz="2000" u="sng">
                <a:solidFill>
                  <a:schemeClr val="lt1"/>
                </a:solidFill>
                <a:latin typeface="Calibri"/>
                <a:ea typeface="Calibri"/>
                <a:cs typeface="Calibri"/>
                <a:sym typeface="Calibri"/>
                <a:hlinkClick r:id="rId3">
                  <a:extLst>
                    <a:ext uri="{A12FA001-AC4F-418D-AE19-62706E023703}">
                      <ahyp:hlinkClr val="tx"/>
                    </a:ext>
                  </a:extLst>
                </a:hlinkClick>
              </a:rPr>
              <a:t>https://automated-customer-reviews.netlify.app/</a:t>
            </a:r>
            <a:endParaRPr b="0" i="0" sz="2000" u="none" cap="none" strike="noStrike">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