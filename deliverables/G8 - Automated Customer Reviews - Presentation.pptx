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2.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24.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23.xml"/>
  <Override ContentType="application/vnd.openxmlformats-officedocument.presentationml.slideLayout+xml" PartName="/ppt/slideLayouts/slideLayout8.xml"/>
  <Override ContentType="application/vnd.openxmlformats-officedocument.presentationml.slideLayout+xml" PartName="/ppt/slideLayouts/slideLayout21.xml"/>
  <Override ContentType="application/vnd.openxmlformats-officedocument.presentationml.slideMaster+xml" PartName="/ppt/slideMasters/slideMaster3.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12.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theme+xml" PartName="/ppt/theme/theme4.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72" r:id="rId4"/>
    <p:sldMasterId id="2147483673" r:id="rId5"/>
    <p:sldMasterId id="2147483674" r:id="rId6"/>
  </p:sldMasterIdLst>
  <p:notesMasterIdLst>
    <p:notesMasterId r:id="rId7"/>
  </p:notesMasterIdLst>
  <p:sldIdLst>
    <p:sldId id="256" r:id="rId8"/>
    <p:sldId id="257" r:id="rId9"/>
    <p:sldId id="258" r:id="rId10"/>
    <p:sldId id="259" r:id="rId11"/>
    <p:sldId id="260" r:id="rId12"/>
    <p:sldId id="261" r:id="rId13"/>
    <p:sldId id="262" r:id="rId14"/>
    <p:sldId id="263" r:id="rId15"/>
    <p:sldId id="264" r:id="rId16"/>
    <p:sldId id="265" r:id="rId17"/>
    <p:sldId id="266" r:id="rId18"/>
    <p:sldId id="267" r:id="rId19"/>
  </p:sldIdLst>
  <p:sldSz cy="5143500" cx="9144000"/>
  <p:notesSz cx="6858000" cy="9144000"/>
  <p:embeddedFontLst>
    <p:embeddedFont>
      <p:font typeface="Montserrat"/>
      <p:regular r:id="rId20"/>
      <p:bold r:id="rId21"/>
      <p:italic r:id="rId22"/>
      <p:boldItalic r:id="rId23"/>
    </p:embeddedFont>
    <p:embeddedFont>
      <p:font typeface="Lato"/>
      <p:regular r:id="rId24"/>
      <p:bold r:id="rId25"/>
      <p:italic r:id="rId26"/>
      <p:boldItalic r:id="rId27"/>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font" Target="fonts/Montserrat-regular.fntdata"/><Relationship Id="rId22" Type="http://schemas.openxmlformats.org/officeDocument/2006/relationships/font" Target="fonts/Montserrat-italic.fntdata"/><Relationship Id="rId21" Type="http://schemas.openxmlformats.org/officeDocument/2006/relationships/font" Target="fonts/Montserrat-bold.fntdata"/><Relationship Id="rId24" Type="http://schemas.openxmlformats.org/officeDocument/2006/relationships/font" Target="fonts/Lato-regular.fntdata"/><Relationship Id="rId23" Type="http://schemas.openxmlformats.org/officeDocument/2006/relationships/font" Target="fonts/Montserrat-boldItalic.fnt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2.xml"/><Relationship Id="rId26" Type="http://schemas.openxmlformats.org/officeDocument/2006/relationships/font" Target="fonts/Lato-italic.fntdata"/><Relationship Id="rId25" Type="http://schemas.openxmlformats.org/officeDocument/2006/relationships/font" Target="fonts/Lato-bold.fntdata"/><Relationship Id="rId27" Type="http://schemas.openxmlformats.org/officeDocument/2006/relationships/font" Target="fonts/Lato-boldItalic.fntdata"/><Relationship Id="rId5" Type="http://schemas.openxmlformats.org/officeDocument/2006/relationships/slideMaster" Target="slideMasters/slideMaster2.xml"/><Relationship Id="rId6" Type="http://schemas.openxmlformats.org/officeDocument/2006/relationships/slideMaster" Target="slideMasters/slideMaster3.xml"/><Relationship Id="rId7" Type="http://schemas.openxmlformats.org/officeDocument/2006/relationships/notesMaster" Target="notesMasters/notesMaster1.xml"/><Relationship Id="rId8" Type="http://schemas.openxmlformats.org/officeDocument/2006/relationships/slide" Target="slides/slide1.xml"/><Relationship Id="rId11" Type="http://schemas.openxmlformats.org/officeDocument/2006/relationships/slide" Target="slides/slide4.xml"/><Relationship Id="rId10" Type="http://schemas.openxmlformats.org/officeDocument/2006/relationships/slide" Target="slides/slide3.xml"/><Relationship Id="rId13" Type="http://schemas.openxmlformats.org/officeDocument/2006/relationships/slide" Target="slides/slide6.xml"/><Relationship Id="rId12" Type="http://schemas.openxmlformats.org/officeDocument/2006/relationships/slide" Target="slides/slide5.xml"/><Relationship Id="rId15" Type="http://schemas.openxmlformats.org/officeDocument/2006/relationships/slide" Target="slides/slide8.xml"/><Relationship Id="rId14" Type="http://schemas.openxmlformats.org/officeDocument/2006/relationships/slide" Target="slides/slide7.xml"/><Relationship Id="rId17" Type="http://schemas.openxmlformats.org/officeDocument/2006/relationships/slide" Target="slides/slide10.xml"/><Relationship Id="rId16" Type="http://schemas.openxmlformats.org/officeDocument/2006/relationships/slide" Target="slides/slide9.xml"/><Relationship Id="rId19" Type="http://schemas.openxmlformats.org/officeDocument/2006/relationships/slide" Target="slides/slide12.xml"/><Relationship Id="rId18" Type="http://schemas.openxmlformats.org/officeDocument/2006/relationships/slide" Target="slides/slide1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8" name="Shape 178"/>
        <p:cNvGrpSpPr/>
        <p:nvPr/>
      </p:nvGrpSpPr>
      <p:grpSpPr>
        <a:xfrm>
          <a:off x="0" y="0"/>
          <a:ext cx="0" cy="0"/>
          <a:chOff x="0" y="0"/>
          <a:chExt cx="0" cy="0"/>
        </a:xfrm>
      </p:grpSpPr>
      <p:sp>
        <p:nvSpPr>
          <p:cNvPr id="179" name="Google Shape;179;g3c98be1ab83_2_2: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80" name="Google Shape;180;g3c98be1ab83_2_2:notes"/>
          <p:cNvSpPr txBox="1"/>
          <p:nvPr>
            <p:ph idx="1" type="body"/>
          </p:nvPr>
        </p:nvSpPr>
        <p:spPr>
          <a:xfrm>
            <a:off x="0" y="0"/>
            <a:ext cx="4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br>
              <a:rPr b="0" i="0" lang="en" sz="1200" u="none" cap="none" strike="noStrike">
                <a:solidFill>
                  <a:schemeClr val="dk1"/>
                </a:solidFill>
                <a:latin typeface="Arial"/>
                <a:ea typeface="Arial"/>
                <a:cs typeface="Arial"/>
                <a:sym typeface="Arial"/>
              </a:rPr>
            </a:br>
            <a:r>
              <a:rPr b="0" i="0" lang="en" sz="1200" u="none" cap="none" strike="noStrike">
                <a:solidFill>
                  <a:schemeClr val="dk1"/>
                </a:solidFill>
                <a:latin typeface="Arial"/>
                <a:ea typeface="Arial"/>
                <a:cs typeface="Arial"/>
                <a:sym typeface="Arial"/>
              </a:rPr>
              <a:t>OPENING (30 seconds):</a:t>
            </a:r>
            <a:br>
              <a:rPr b="0" i="0" lang="en" sz="1200" u="none" cap="none" strike="noStrike">
                <a:solidFill>
                  <a:schemeClr val="dk1"/>
                </a:solidFill>
                <a:latin typeface="Arial"/>
                <a:ea typeface="Arial"/>
                <a:cs typeface="Arial"/>
                <a:sym typeface="Arial"/>
              </a:rPr>
            </a:br>
            <a:r>
              <a:rPr b="0" i="0" lang="en" sz="1200" u="none" cap="none" strike="noStrike">
                <a:solidFill>
                  <a:schemeClr val="dk1"/>
                </a:solidFill>
                <a:latin typeface="Arial"/>
                <a:ea typeface="Arial"/>
                <a:cs typeface="Arial"/>
                <a:sym typeface="Arial"/>
              </a:rPr>
              <a:t>"Good afternoon. Today I'm presenting </a:t>
            </a:r>
            <a:r>
              <a:rPr lang="en" sz="1200">
                <a:solidFill>
                  <a:schemeClr val="dk1"/>
                </a:solidFill>
              </a:rPr>
              <a:t>Generated Customer Reviews</a:t>
            </a:r>
            <a:r>
              <a:rPr b="0" i="0" lang="en" sz="1200" u="none" cap="none" strike="noStrike">
                <a:solidFill>
                  <a:schemeClr val="dk1"/>
                </a:solidFill>
                <a:latin typeface="Arial"/>
                <a:ea typeface="Arial"/>
                <a:cs typeface="Arial"/>
                <a:sym typeface="Arial"/>
              </a:rPr>
              <a:t>, an AI-powered system that analyzes Amazon product reviews and generates actionable recommendations.</a:t>
            </a:r>
            <a:br>
              <a:rPr b="0" i="0" lang="en" sz="1200" u="none" cap="none" strike="noStrike">
                <a:solidFill>
                  <a:schemeClr val="dk1"/>
                </a:solidFill>
                <a:latin typeface="Arial"/>
                <a:ea typeface="Arial"/>
                <a:cs typeface="Arial"/>
                <a:sym typeface="Arial"/>
              </a:rPr>
            </a:br>
            <a:br>
              <a:rPr b="0" i="0" lang="en" sz="1200" u="none" cap="none" strike="noStrike">
                <a:solidFill>
                  <a:schemeClr val="dk1"/>
                </a:solidFill>
                <a:latin typeface="Arial"/>
                <a:ea typeface="Arial"/>
                <a:cs typeface="Arial"/>
                <a:sym typeface="Arial"/>
              </a:rPr>
            </a:br>
            <a:r>
              <a:rPr b="0" i="0" lang="en" sz="1200" u="none" cap="none" strike="noStrike">
                <a:solidFill>
                  <a:schemeClr val="dk1"/>
                </a:solidFill>
                <a:latin typeface="Arial"/>
                <a:ea typeface="Arial"/>
                <a:cs typeface="Arial"/>
                <a:sym typeface="Arial"/>
              </a:rPr>
              <a:t>This project tackles three NLP challenges: sentiment classification, product clustering, and automated review summarization using large language models.</a:t>
            </a:r>
            <a:br>
              <a:rPr b="0" i="0" lang="en" sz="1200" u="none" cap="none" strike="noStrike">
                <a:solidFill>
                  <a:schemeClr val="dk1"/>
                </a:solidFill>
                <a:latin typeface="Arial"/>
                <a:ea typeface="Arial"/>
                <a:cs typeface="Arial"/>
                <a:sym typeface="Arial"/>
              </a:rPr>
            </a:br>
            <a:br>
              <a:rPr b="0" i="0" lang="en" sz="1200" u="none" cap="none" strike="noStrike">
                <a:solidFill>
                  <a:schemeClr val="dk1"/>
                </a:solidFill>
                <a:latin typeface="Arial"/>
                <a:ea typeface="Arial"/>
                <a:cs typeface="Arial"/>
                <a:sym typeface="Arial"/>
              </a:rPr>
            </a:br>
            <a:r>
              <a:rPr b="0" i="0" lang="en" sz="1200" u="none" cap="none" strike="noStrike">
                <a:solidFill>
                  <a:schemeClr val="dk1"/>
                </a:solidFill>
                <a:latin typeface="Arial"/>
                <a:ea typeface="Arial"/>
                <a:cs typeface="Arial"/>
                <a:sym typeface="Arial"/>
              </a:rPr>
              <a:t>The system processes over 30,000 customer reviews to help consumers make informed purchase decisions. Let's dive into the approach and results."</a:t>
            </a:r>
            <a:br>
              <a:rPr b="0" i="0" lang="en" sz="1200" u="none" cap="none" strike="noStrike">
                <a:solidFill>
                  <a:schemeClr val="dk1"/>
                </a:solidFill>
                <a:latin typeface="Arial"/>
                <a:ea typeface="Arial"/>
                <a:cs typeface="Arial"/>
                <a:sym typeface="Arial"/>
              </a:rPr>
            </a:br>
            <a:endParaRPr/>
          </a:p>
        </p:txBody>
      </p:sp>
      <p:sp>
        <p:nvSpPr>
          <p:cNvPr id="181" name="Google Shape;181;g3c98be1ab83_2_2:notes"/>
          <p:cNvSpPr txBox="1"/>
          <p:nvPr>
            <p:ph idx="12" type="sldNum"/>
          </p:nvPr>
        </p:nvSpPr>
        <p:spPr>
          <a:xfrm>
            <a:off x="0" y="0"/>
            <a:ext cx="4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b="0" i="0" lang="en" sz="1800" u="none" cap="none" strike="noStrike">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7" name="Shape 187"/>
        <p:cNvGrpSpPr/>
        <p:nvPr/>
      </p:nvGrpSpPr>
      <p:grpSpPr>
        <a:xfrm>
          <a:off x="0" y="0"/>
          <a:ext cx="0" cy="0"/>
          <a:chOff x="0" y="0"/>
          <a:chExt cx="0" cy="0"/>
        </a:xfrm>
      </p:grpSpPr>
      <p:sp>
        <p:nvSpPr>
          <p:cNvPr id="188" name="Google Shape;188;g3c98be1ab83_0_918: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89" name="Google Shape;189;g3c98be1ab83_0_918:notes"/>
          <p:cNvSpPr txBox="1"/>
          <p:nvPr>
            <p:ph idx="1" type="body"/>
          </p:nvPr>
        </p:nvSpPr>
        <p:spPr>
          <a:xfrm>
            <a:off x="914400" y="4400550"/>
            <a:ext cx="73152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br>
              <a:rPr lang="en"/>
            </a:br>
            <a:r>
              <a:rPr lang="en"/>
              <a:t>RESULTS SUMMARY (45 seconds):</a:t>
            </a:r>
            <a:br>
              <a:rPr lang="en"/>
            </a:br>
            <a:r>
              <a:rPr lang="en"/>
              <a:t>"Let's summarize what we achieved across all three tasks.</a:t>
            </a:r>
            <a:br>
              <a:rPr lang="en"/>
            </a:br>
            <a:br>
              <a:rPr lang="en"/>
            </a:br>
            <a:r>
              <a:rPr lang="en"/>
              <a:t>For Sentiment Analysis: 73.5% accuracy with our fine-tuned RoBERTa model and an F1 macro of 0.724. This represents strong performance on a class-imbalanced dataset, with particular success in identifying neutral reviews - the hardest class.</a:t>
            </a:r>
            <a:br>
              <a:rPr lang="en"/>
            </a:br>
            <a:br>
              <a:rPr lang="en"/>
            </a:br>
            <a:r>
              <a:rPr lang="en"/>
              <a:t>For Product Clustering: We successfully organized 71 products into 5 meaningful semantic categories using embeddings and K-Means. An Adjusted Rand Index of 0.42 indicates moderate alignment with ground truth, showing our semantic approach captured meaningful product relationships.</a:t>
            </a:r>
            <a:br>
              <a:rPr lang="en"/>
            </a:br>
            <a:br>
              <a:rPr lang="en"/>
            </a:br>
            <a:r>
              <a:rPr lang="en"/>
              <a:t>For Text Generation: We produced 10 high-quality recommendation articles using LLaMA 3.2-3B - that's 5 product categories with 2 writing styles each. BERTScore of 0.81 confirms strong semantic alignment with source reviews.</a:t>
            </a:r>
            <a:br>
              <a:rPr lang="en"/>
            </a:br>
            <a:br>
              <a:rPr lang="en"/>
            </a:br>
            <a:r>
              <a:rPr lang="en"/>
              <a:t>The bottom line: We successfully transformed nearly 40,000 customer reviews into actionable insights that help consumers make informed purchase decisions. Each component works together to create a complete product recommendation system."</a:t>
            </a:r>
            <a:br>
              <a:rPr lang="en"/>
            </a:br>
            <a:endParaRPr/>
          </a:p>
        </p:txBody>
      </p:sp>
      <p:sp>
        <p:nvSpPr>
          <p:cNvPr id="190" name="Google Shape;190;g3c98be1ab83_0_918:notes"/>
          <p:cNvSpPr txBox="1"/>
          <p:nvPr>
            <p:ph idx="12" type="sldNum"/>
          </p:nvPr>
        </p:nvSpPr>
        <p:spPr>
          <a:xfrm>
            <a:off x="5179484" y="8685213"/>
            <a:ext cx="39624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2" name="Shape 212"/>
        <p:cNvGrpSpPr/>
        <p:nvPr/>
      </p:nvGrpSpPr>
      <p:grpSpPr>
        <a:xfrm>
          <a:off x="0" y="0"/>
          <a:ext cx="0" cy="0"/>
          <a:chOff x="0" y="0"/>
          <a:chExt cx="0" cy="0"/>
        </a:xfrm>
      </p:grpSpPr>
      <p:sp>
        <p:nvSpPr>
          <p:cNvPr id="213" name="Google Shape;213;g3c98be1ab83_2_69: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14" name="Google Shape;214;g3c98be1ab83_2_69:notes"/>
          <p:cNvSpPr txBox="1"/>
          <p:nvPr>
            <p:ph idx="1" type="body"/>
          </p:nvPr>
        </p:nvSpPr>
        <p:spPr>
          <a:xfrm>
            <a:off x="0" y="0"/>
            <a:ext cx="4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br>
              <a:rPr lang="en" sz="1200">
                <a:solidFill>
                  <a:schemeClr val="dk1"/>
                </a:solidFill>
                <a:latin typeface="Arial"/>
                <a:ea typeface="Arial"/>
                <a:cs typeface="Arial"/>
                <a:sym typeface="Arial"/>
              </a:rPr>
            </a:br>
            <a:r>
              <a:rPr lang="en" sz="1200">
                <a:solidFill>
                  <a:schemeClr val="dk1"/>
                </a:solidFill>
                <a:latin typeface="Arial"/>
                <a:ea typeface="Arial"/>
                <a:cs typeface="Arial"/>
                <a:sym typeface="Arial"/>
              </a:rPr>
              <a:t>EDA &amp; DATA INSIGHTS (25 seconds):</a:t>
            </a:r>
            <a:br>
              <a:rPr lang="en" sz="1200">
                <a:solidFill>
                  <a:schemeClr val="dk1"/>
                </a:solidFill>
                <a:latin typeface="Arial"/>
                <a:ea typeface="Arial"/>
                <a:cs typeface="Arial"/>
                <a:sym typeface="Arial"/>
              </a:rPr>
            </a:br>
            <a:r>
              <a:rPr lang="en" sz="1200">
                <a:solidFill>
                  <a:schemeClr val="dk1"/>
                </a:solidFill>
                <a:latin typeface="Arial"/>
                <a:ea typeface="Arial"/>
                <a:cs typeface="Arial"/>
                <a:sym typeface="Arial"/>
              </a:rPr>
              <a:t>"Let me share key insights from our data analysis.</a:t>
            </a:r>
            <a:br>
              <a:rPr lang="en" sz="1200">
                <a:solidFill>
                  <a:schemeClr val="dk1"/>
                </a:solidFill>
                <a:latin typeface="Arial"/>
                <a:ea typeface="Arial"/>
                <a:cs typeface="Arial"/>
                <a:sym typeface="Arial"/>
              </a:rPr>
            </a:br>
            <a:br>
              <a:rPr lang="en" sz="1200">
                <a:solidFill>
                  <a:schemeClr val="dk1"/>
                </a:solidFill>
                <a:latin typeface="Arial"/>
                <a:ea typeface="Arial"/>
                <a:cs typeface="Arial"/>
                <a:sym typeface="Arial"/>
              </a:rPr>
            </a:br>
            <a:r>
              <a:rPr lang="en" sz="1200">
                <a:solidFill>
                  <a:schemeClr val="dk1"/>
                </a:solidFill>
                <a:latin typeface="Arial"/>
                <a:ea typeface="Arial"/>
                <a:cs typeface="Arial"/>
                <a:sym typeface="Arial"/>
              </a:rPr>
              <a:t>We worked with nearly 40,000 Amazon reviews covering 71 products across 5 categories: Fire Tablets, Kindle, Echo, Fire Kids, and Fire TV.</a:t>
            </a:r>
            <a:endParaRPr sz="1200">
              <a:solidFill>
                <a:schemeClr val="dk1"/>
              </a:solidFill>
              <a:latin typeface="Arial"/>
              <a:ea typeface="Arial"/>
              <a:cs typeface="Arial"/>
              <a:sym typeface="Arial"/>
            </a:endParaRPr>
          </a:p>
          <a:p>
            <a:pPr indent="0" lvl="0" marL="0" marR="0" rtl="0" algn="l">
              <a:spcBef>
                <a:spcPts val="0"/>
              </a:spcBef>
              <a:spcAft>
                <a:spcPts val="0"/>
              </a:spcAft>
              <a:buNone/>
            </a:pPr>
            <a:r>
              <a:t/>
            </a:r>
            <a:endParaRPr sz="1200">
              <a:solidFill>
                <a:schemeClr val="dk1"/>
              </a:solidFill>
            </a:endParaRPr>
          </a:p>
          <a:p>
            <a:pPr indent="0" lvl="0" marL="0" marR="0" rtl="0" algn="l">
              <a:spcBef>
                <a:spcPts val="0"/>
              </a:spcBef>
              <a:spcAft>
                <a:spcPts val="0"/>
              </a:spcAft>
              <a:buNone/>
            </a:pPr>
            <a:r>
              <a:rPr lang="en" sz="1200">
                <a:solidFill>
                  <a:schemeClr val="dk1"/>
                </a:solidFill>
              </a:rPr>
              <a:t>As you can see from this chart, 91% of our reviews are positive - that's over 36,000 reviews. Meanwhile, neutral and negative reviews each represent less than 5% of the data.</a:t>
            </a:r>
            <a:br>
              <a:rPr lang="en" sz="1200">
                <a:solidFill>
                  <a:schemeClr val="dk1"/>
                </a:solidFill>
                <a:latin typeface="Arial"/>
                <a:ea typeface="Arial"/>
                <a:cs typeface="Arial"/>
                <a:sym typeface="Arial"/>
              </a:rPr>
            </a:br>
            <a:br>
              <a:rPr lang="en" sz="1200">
                <a:solidFill>
                  <a:schemeClr val="dk1"/>
                </a:solidFill>
                <a:latin typeface="Arial"/>
                <a:ea typeface="Arial"/>
                <a:cs typeface="Arial"/>
                <a:sym typeface="Arial"/>
              </a:rPr>
            </a:br>
            <a:r>
              <a:rPr lang="en" sz="1200">
                <a:solidFill>
                  <a:schemeClr val="dk1"/>
                </a:solidFill>
              </a:rPr>
              <a:t>This is actually realistic - Amazon products generally receive positive reviews - but it creates a machine learning problem. Without intervention, models will simply predict 'positive' for everything and achieve very high accuracy while learning nothing useful about neutral or negative sentiment.</a:t>
            </a:r>
            <a:br>
              <a:rPr lang="en" sz="1200">
                <a:solidFill>
                  <a:schemeClr val="dk1"/>
                </a:solidFill>
              </a:rPr>
            </a:br>
            <a:br>
              <a:rPr lang="en" sz="1200">
                <a:solidFill>
                  <a:schemeClr val="dk1"/>
                </a:solidFill>
              </a:rPr>
            </a:br>
            <a:r>
              <a:rPr lang="en" sz="1200">
                <a:solidFill>
                  <a:schemeClr val="dk1"/>
                </a:solidFill>
              </a:rPr>
              <a:t>Our solution has three components: First, weighted loss during training, which penalizes misclassifications on minority classes more heavily. Second, a balanced test set with equal representation from each class for fair evaluation. Third, we chose not to undersample the majority class because that would throw away valuable data.</a:t>
            </a:r>
            <a:br>
              <a:rPr lang="en" sz="1200">
                <a:solidFill>
                  <a:schemeClr val="dk1"/>
                </a:solidFill>
                <a:latin typeface="Arial"/>
                <a:ea typeface="Arial"/>
                <a:cs typeface="Arial"/>
                <a:sym typeface="Arial"/>
              </a:rPr>
            </a:br>
            <a:br>
              <a:rPr lang="en" sz="1200">
                <a:solidFill>
                  <a:schemeClr val="dk1"/>
                </a:solidFill>
                <a:latin typeface="Arial"/>
                <a:ea typeface="Arial"/>
                <a:cs typeface="Arial"/>
                <a:sym typeface="Arial"/>
              </a:rPr>
            </a:br>
            <a:r>
              <a:rPr lang="en" sz="1200">
                <a:solidFill>
                  <a:schemeClr val="dk1"/>
                </a:solidFill>
              </a:rPr>
              <a:t>This approach allowed us to train on the full dataset while still learning to identify neutral and negative reviews effectively."</a:t>
            </a:r>
            <a:br>
              <a:rPr lang="en" sz="1200">
                <a:solidFill>
                  <a:schemeClr val="dk1"/>
                </a:solidFill>
                <a:latin typeface="Arial"/>
                <a:ea typeface="Arial"/>
                <a:cs typeface="Arial"/>
                <a:sym typeface="Arial"/>
              </a:rPr>
            </a:br>
            <a:endParaRPr/>
          </a:p>
        </p:txBody>
      </p:sp>
      <p:sp>
        <p:nvSpPr>
          <p:cNvPr id="215" name="Google Shape;215;g3c98be1ab83_2_69:notes"/>
          <p:cNvSpPr txBox="1"/>
          <p:nvPr>
            <p:ph idx="12" type="sldNum"/>
          </p:nvPr>
        </p:nvSpPr>
        <p:spPr>
          <a:xfrm>
            <a:off x="0" y="0"/>
            <a:ext cx="4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3" name="Shape 253"/>
        <p:cNvGrpSpPr/>
        <p:nvPr/>
      </p:nvGrpSpPr>
      <p:grpSpPr>
        <a:xfrm>
          <a:off x="0" y="0"/>
          <a:ext cx="0" cy="0"/>
          <a:chOff x="0" y="0"/>
          <a:chExt cx="0" cy="0"/>
        </a:xfrm>
      </p:grpSpPr>
      <p:sp>
        <p:nvSpPr>
          <p:cNvPr id="254" name="Google Shape;254;g3c98be1ab83_2_39: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55" name="Google Shape;255;g3c98be1ab83_2_39:notes"/>
          <p:cNvSpPr txBox="1"/>
          <p:nvPr>
            <p:ph idx="1" type="body"/>
          </p:nvPr>
        </p:nvSpPr>
        <p:spPr>
          <a:xfrm>
            <a:off x="0" y="0"/>
            <a:ext cx="4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br>
              <a:rPr lang="en" sz="1200">
                <a:solidFill>
                  <a:schemeClr val="dk1"/>
                </a:solidFill>
                <a:latin typeface="Arial"/>
                <a:ea typeface="Arial"/>
                <a:cs typeface="Arial"/>
                <a:sym typeface="Arial"/>
              </a:rPr>
            </a:br>
            <a:r>
              <a:rPr lang="en" sz="1200">
                <a:solidFill>
                  <a:schemeClr val="dk1"/>
                </a:solidFill>
                <a:latin typeface="Arial"/>
                <a:ea typeface="Arial"/>
                <a:cs typeface="Arial"/>
                <a:sym typeface="Arial"/>
              </a:rPr>
              <a:t>MODELS &amp; APPROACH (25 seconds):</a:t>
            </a:r>
            <a:br>
              <a:rPr lang="en" sz="1200">
                <a:solidFill>
                  <a:schemeClr val="dk1"/>
                </a:solidFill>
                <a:latin typeface="Arial"/>
                <a:ea typeface="Arial"/>
                <a:cs typeface="Arial"/>
                <a:sym typeface="Arial"/>
              </a:rPr>
            </a:br>
            <a:endParaRPr/>
          </a:p>
          <a:p>
            <a:pPr indent="0" lvl="0" marL="0" marR="0" rtl="0" algn="l">
              <a:spcBef>
                <a:spcPts val="0"/>
              </a:spcBef>
              <a:spcAft>
                <a:spcPts val="0"/>
              </a:spcAft>
              <a:buNone/>
            </a:pPr>
            <a:r>
              <a:rPr lang="en" sz="1200">
                <a:solidFill>
                  <a:schemeClr val="dk1"/>
                </a:solidFill>
                <a:latin typeface="Arial"/>
                <a:ea typeface="Arial"/>
                <a:cs typeface="Arial"/>
                <a:sym typeface="Arial"/>
              </a:rPr>
              <a:t>Our methodology combines classical ML and modern deep learning.</a:t>
            </a:r>
            <a:br>
              <a:rPr lang="en" sz="1200">
                <a:solidFill>
                  <a:schemeClr val="dk1"/>
                </a:solidFill>
                <a:latin typeface="Arial"/>
                <a:ea typeface="Arial"/>
                <a:cs typeface="Arial"/>
                <a:sym typeface="Arial"/>
              </a:rPr>
            </a:br>
            <a:br>
              <a:rPr lang="en" sz="1200">
                <a:solidFill>
                  <a:schemeClr val="dk1"/>
                </a:solidFill>
                <a:latin typeface="Arial"/>
                <a:ea typeface="Arial"/>
                <a:cs typeface="Arial"/>
                <a:sym typeface="Arial"/>
              </a:rPr>
            </a:br>
            <a:r>
              <a:rPr lang="en" sz="1200">
                <a:solidFill>
                  <a:schemeClr val="dk1"/>
                </a:solidFill>
                <a:latin typeface="Arial"/>
                <a:ea typeface="Arial"/>
                <a:cs typeface="Arial"/>
                <a:sym typeface="Arial"/>
              </a:rPr>
              <a:t>For sentiment analysis, we compared three approaches: a TF-IDF baseline, zero-shot RoBERTa, and fine-tuned RoBERTa. Fine-tuning was essential for domain adaptation from Twitter to Amazon reviews.</a:t>
            </a:r>
            <a:br>
              <a:rPr lang="en" sz="1200">
                <a:solidFill>
                  <a:schemeClr val="dk1"/>
                </a:solidFill>
                <a:latin typeface="Arial"/>
                <a:ea typeface="Arial"/>
                <a:cs typeface="Arial"/>
                <a:sym typeface="Arial"/>
              </a:rPr>
            </a:br>
            <a:br>
              <a:rPr lang="en" sz="1200">
                <a:solidFill>
                  <a:schemeClr val="dk1"/>
                </a:solidFill>
                <a:latin typeface="Arial"/>
                <a:ea typeface="Arial"/>
                <a:cs typeface="Arial"/>
                <a:sym typeface="Arial"/>
              </a:rPr>
            </a:br>
            <a:r>
              <a:rPr lang="en" sz="1200">
                <a:solidFill>
                  <a:schemeClr val="dk1"/>
                </a:solidFill>
                <a:latin typeface="Arial"/>
                <a:ea typeface="Arial"/>
                <a:cs typeface="Arial"/>
                <a:sym typeface="Arial"/>
              </a:rPr>
              <a:t>For clustering, we used Sentence Transformers to generate semantic embeddings, then applied K-Means to group products into 5 categories.</a:t>
            </a:r>
            <a:br>
              <a:rPr lang="en" sz="1200">
                <a:solidFill>
                  <a:schemeClr val="dk1"/>
                </a:solidFill>
                <a:latin typeface="Arial"/>
                <a:ea typeface="Arial"/>
                <a:cs typeface="Arial"/>
                <a:sym typeface="Arial"/>
              </a:rPr>
            </a:br>
            <a:br>
              <a:rPr lang="en" sz="1200">
                <a:solidFill>
                  <a:schemeClr val="dk1"/>
                </a:solidFill>
                <a:latin typeface="Arial"/>
                <a:ea typeface="Arial"/>
                <a:cs typeface="Arial"/>
                <a:sym typeface="Arial"/>
              </a:rPr>
            </a:br>
            <a:r>
              <a:rPr lang="en" sz="1200">
                <a:solidFill>
                  <a:schemeClr val="dk1"/>
                </a:solidFill>
                <a:latin typeface="Arial"/>
                <a:ea typeface="Arial"/>
                <a:cs typeface="Arial"/>
                <a:sym typeface="Arial"/>
              </a:rPr>
              <a:t>For text generation, we used LLaMA 3.2-3B with iterative prompt engineering, improving from V1 to V3 through systematic refinement.</a:t>
            </a:r>
            <a:br>
              <a:rPr lang="en" sz="1200">
                <a:solidFill>
                  <a:schemeClr val="dk1"/>
                </a:solidFill>
                <a:latin typeface="Arial"/>
                <a:ea typeface="Arial"/>
                <a:cs typeface="Arial"/>
                <a:sym typeface="Arial"/>
              </a:rPr>
            </a:br>
            <a:br>
              <a:rPr lang="en" sz="1200">
                <a:solidFill>
                  <a:schemeClr val="dk1"/>
                </a:solidFill>
                <a:latin typeface="Arial"/>
                <a:ea typeface="Arial"/>
                <a:cs typeface="Arial"/>
                <a:sym typeface="Arial"/>
              </a:rPr>
            </a:br>
            <a:r>
              <a:rPr lang="en" sz="1200">
                <a:solidFill>
                  <a:schemeClr val="dk1"/>
                </a:solidFill>
                <a:latin typeface="Arial"/>
                <a:ea typeface="Arial"/>
                <a:cs typeface="Arial"/>
                <a:sym typeface="Arial"/>
              </a:rPr>
              <a:t>Key decisions included weighted loss for class imbalance, creating a custom grounding metric to detect hallucination, and using balanced test sets for fair evaluation.</a:t>
            </a:r>
            <a:br>
              <a:rPr lang="en" sz="1200">
                <a:solidFill>
                  <a:schemeClr val="dk1"/>
                </a:solidFill>
                <a:latin typeface="Arial"/>
                <a:ea typeface="Arial"/>
                <a:cs typeface="Arial"/>
                <a:sym typeface="Arial"/>
              </a:rPr>
            </a:br>
            <a:endParaRPr/>
          </a:p>
        </p:txBody>
      </p:sp>
      <p:sp>
        <p:nvSpPr>
          <p:cNvPr id="256" name="Google Shape;256;g3c98be1ab83_2_39:notes"/>
          <p:cNvSpPr txBox="1"/>
          <p:nvPr>
            <p:ph idx="12" type="sldNum"/>
          </p:nvPr>
        </p:nvSpPr>
        <p:spPr>
          <a:xfrm>
            <a:off x="0" y="0"/>
            <a:ext cx="4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0" name="Shape 280"/>
        <p:cNvGrpSpPr/>
        <p:nvPr/>
      </p:nvGrpSpPr>
      <p:grpSpPr>
        <a:xfrm>
          <a:off x="0" y="0"/>
          <a:ext cx="0" cy="0"/>
          <a:chOff x="0" y="0"/>
          <a:chExt cx="0" cy="0"/>
        </a:xfrm>
      </p:grpSpPr>
      <p:sp>
        <p:nvSpPr>
          <p:cNvPr id="281" name="Google Shape;281;g3c98be1ab83_0_292: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82" name="Google Shape;282;g3c98be1ab83_0_292:notes"/>
          <p:cNvSpPr txBox="1"/>
          <p:nvPr>
            <p:ph idx="1" type="body"/>
          </p:nvPr>
        </p:nvSpPr>
        <p:spPr>
          <a:xfrm>
            <a:off x="914400" y="4400550"/>
            <a:ext cx="73152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br>
              <a:rPr lang="en"/>
            </a:br>
            <a:r>
              <a:rPr lang="en"/>
              <a:t>SENTIMENT RESULTS (75 seconds):</a:t>
            </a:r>
            <a:br>
              <a:rPr lang="en"/>
            </a:br>
            <a:r>
              <a:rPr lang="en"/>
              <a:t>"The results clearly demonstrate the value of fine-tuning.</a:t>
            </a:r>
            <a:br>
              <a:rPr lang="en"/>
            </a:br>
            <a:br>
              <a:rPr lang="en"/>
            </a:br>
            <a:r>
              <a:rPr lang="en"/>
              <a:t>Looking at this comparison table, Logistic Regression achieved 69.7% accuracy - a respectable baseline. RoBERTa zero-shot actually performed WORSE at 63.6%, which was surprising but revealing.</a:t>
            </a:r>
            <a:br>
              <a:rPr lang="en"/>
            </a:br>
            <a:br>
              <a:rPr lang="en"/>
            </a:br>
            <a:r>
              <a:rPr lang="en"/>
              <a:t>The fine-tuned RoBERTa achieved 73.5% accuracy with an F1 macro of 0.724 - our best performer.</a:t>
            </a:r>
            <a:br>
              <a:rPr lang="en"/>
            </a:br>
            <a:br>
              <a:rPr lang="en"/>
            </a:br>
            <a:r>
              <a:rPr lang="en"/>
              <a:t>But the most important metric is Neutral F1, shown in the last column. This reveals the domain mismatch problem: zero-shot could barely identify neutral reviews with an F1 of just 0.29. Fine-tuning doubled this to 0.57, proving that domain adaptation is essential.</a:t>
            </a:r>
            <a:br>
              <a:rPr lang="en"/>
            </a:br>
            <a:br>
              <a:rPr lang="en"/>
            </a:br>
            <a:r>
              <a:rPr lang="en"/>
              <a:t>Why did zero-shot fail? The model was trained on Twitter sentiment - short, casual tweets with clear emotional signals. Amazon reviews are longer, more descriptive, and use different language patterns. Without fine-tuning, the model couldn't adapt.</a:t>
            </a:r>
            <a:br>
              <a:rPr lang="en"/>
            </a:br>
            <a:br>
              <a:rPr lang="en"/>
            </a:br>
            <a:r>
              <a:rPr lang="en"/>
              <a:t>The takeaway: For specialized domains like product reviews, investing in fine-tuning delivers substantial improvements, especially for minority classes. Confusion matrices in our notebook show this pattern clearly across all three classes."</a:t>
            </a:r>
            <a:br>
              <a:rPr lang="en"/>
            </a:br>
            <a:endParaRPr/>
          </a:p>
        </p:txBody>
      </p:sp>
      <p:sp>
        <p:nvSpPr>
          <p:cNvPr id="283" name="Google Shape;283;g3c98be1ab83_0_292:notes"/>
          <p:cNvSpPr txBox="1"/>
          <p:nvPr>
            <p:ph idx="12" type="sldNum"/>
          </p:nvPr>
        </p:nvSpPr>
        <p:spPr>
          <a:xfrm>
            <a:off x="5179484" y="8685213"/>
            <a:ext cx="39624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0" name="Shape 310"/>
        <p:cNvGrpSpPr/>
        <p:nvPr/>
      </p:nvGrpSpPr>
      <p:grpSpPr>
        <a:xfrm>
          <a:off x="0" y="0"/>
          <a:ext cx="0" cy="0"/>
          <a:chOff x="0" y="0"/>
          <a:chExt cx="0" cy="0"/>
        </a:xfrm>
      </p:grpSpPr>
      <p:sp>
        <p:nvSpPr>
          <p:cNvPr id="311" name="Google Shape;311;g3c98be1ab83_0_454: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12" name="Google Shape;312;g3c98be1ab83_0_454:notes"/>
          <p:cNvSpPr txBox="1"/>
          <p:nvPr>
            <p:ph idx="1" type="body"/>
          </p:nvPr>
        </p:nvSpPr>
        <p:spPr>
          <a:xfrm>
            <a:off x="914400" y="4400550"/>
            <a:ext cx="73152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br>
              <a:rPr lang="en"/>
            </a:br>
            <a:r>
              <a:rPr lang="en"/>
              <a:t>CLUSTERING APPROACH (45 seconds):</a:t>
            </a:r>
            <a:br>
              <a:rPr lang="en"/>
            </a:br>
            <a:r>
              <a:rPr lang="en"/>
              <a:t>"For Task 2, we needed to group 71 individual products into 5 meaningful categories.</a:t>
            </a:r>
            <a:br>
              <a:rPr lang="en"/>
            </a:br>
            <a:br>
              <a:rPr lang="en"/>
            </a:br>
            <a:r>
              <a:rPr lang="en"/>
              <a:t>Our approach uses semantic embeddings rather than simple keyword matching. Here's the process:</a:t>
            </a:r>
            <a:br>
              <a:rPr lang="en"/>
            </a:br>
            <a:br>
              <a:rPr lang="en"/>
            </a:br>
            <a:r>
              <a:rPr lang="en"/>
              <a:t>Step 1: We start with product names - things like 'Fire HD 8 tablet' or 'Kindle Paperwhite'.</a:t>
            </a:r>
            <a:br>
              <a:rPr lang="en"/>
            </a:br>
            <a:br>
              <a:rPr lang="en"/>
            </a:br>
            <a:r>
              <a:rPr lang="en"/>
              <a:t>Step 2: We use Sentence Transformers to convert each product name into a 384-dimensional vector that captures semantic meaning.</a:t>
            </a:r>
            <a:br>
              <a:rPr lang="en"/>
            </a:br>
            <a:br>
              <a:rPr lang="en"/>
            </a:br>
            <a:r>
              <a:rPr lang="en"/>
              <a:t>Step 3: We apply K-Means clustering with k=5 to group these vectors based on similarity.</a:t>
            </a:r>
            <a:br>
              <a:rPr lang="en"/>
            </a:br>
            <a:br>
              <a:rPr lang="en"/>
            </a:br>
            <a:r>
              <a:rPr lang="en"/>
              <a:t>Step 4: This produces our five categories: Fire Tablets, Kindle E-Readers, Echo Speakers, Fire Kids Edition, and Fire TV.</a:t>
            </a:r>
            <a:br>
              <a:rPr lang="en"/>
            </a:br>
            <a:br>
              <a:rPr lang="en"/>
            </a:br>
            <a:r>
              <a:rPr lang="en"/>
              <a:t>Why semantic embeddings instead of TF-IDF? Because they capture meaning, not just keywords. For example, 'Fire HD 8' and 'Fire 7' are semantically similar even though they share few words. The embeddings understand they're both tablets in the Fire family.</a:t>
            </a:r>
            <a:br>
              <a:rPr lang="en"/>
            </a:br>
            <a:br>
              <a:rPr lang="en"/>
            </a:br>
            <a:r>
              <a:rPr lang="en"/>
              <a:t>This semantic understanding allows us to group products by concept rather than by simple word matching. The result is more meaningful categories that align with how humans naturally think about these products."</a:t>
            </a:r>
            <a:br>
              <a:rPr lang="en"/>
            </a:br>
            <a:endParaRPr/>
          </a:p>
        </p:txBody>
      </p:sp>
      <p:sp>
        <p:nvSpPr>
          <p:cNvPr id="313" name="Google Shape;313;g3c98be1ab83_0_454:notes"/>
          <p:cNvSpPr txBox="1"/>
          <p:nvPr>
            <p:ph idx="12" type="sldNum"/>
          </p:nvPr>
        </p:nvSpPr>
        <p:spPr>
          <a:xfrm>
            <a:off x="5179484" y="8685213"/>
            <a:ext cx="39624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1" name="Shape 341"/>
        <p:cNvGrpSpPr/>
        <p:nvPr/>
      </p:nvGrpSpPr>
      <p:grpSpPr>
        <a:xfrm>
          <a:off x="0" y="0"/>
          <a:ext cx="0" cy="0"/>
          <a:chOff x="0" y="0"/>
          <a:chExt cx="0" cy="0"/>
        </a:xfrm>
      </p:grpSpPr>
      <p:sp>
        <p:nvSpPr>
          <p:cNvPr id="342" name="Google Shape;342;g3c98be1ab83_0_0: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43" name="Google Shape;343;g3c98be1ab83_0_0:notes"/>
          <p:cNvSpPr txBox="1"/>
          <p:nvPr>
            <p:ph idx="1" type="body"/>
          </p:nvPr>
        </p:nvSpPr>
        <p:spPr>
          <a:xfrm>
            <a:off x="914400" y="4400550"/>
            <a:ext cx="73152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br>
              <a:rPr lang="en"/>
            </a:br>
            <a:r>
              <a:rPr lang="en"/>
              <a:t>CLUSTERING VISUALIZATION (45 seconds):</a:t>
            </a:r>
            <a:br>
              <a:rPr lang="en"/>
            </a:br>
            <a:r>
              <a:rPr lang="en"/>
              <a:t>"This slide shows our UMAP visualization</a:t>
            </a:r>
            <a:br>
              <a:rPr lang="en"/>
            </a:br>
            <a:br>
              <a:rPr lang="en"/>
            </a:br>
            <a:r>
              <a:rPr lang="en"/>
              <a:t>What you should see in the plot are distinct clusters representing our five categories. UMAP reduces the 384 dimensions down to 2 for visualization while preserving the semantic relationships.</a:t>
            </a:r>
            <a:br>
              <a:rPr lang="en"/>
            </a:br>
            <a:br>
              <a:rPr lang="en"/>
            </a:br>
            <a:r>
              <a:rPr lang="en"/>
              <a:t>The plot helps visualize semantic groupings learned by the embedding space. After clustering, we observe that products of the same type often occupy similar regions—for example, Fire Tablets tend to cluster together, Kindles concentrate in a separate region, and Echo devices form another group. Some overlap is expected where products share features, such as Fire Kids devices appearing close to standard Fire Tablets due to their shared tablet functionality.</a:t>
            </a:r>
            <a:endParaRPr/>
          </a:p>
          <a:p>
            <a:pPr indent="0" lvl="0" marL="0" rtl="0" algn="l">
              <a:spcBef>
                <a:spcPts val="0"/>
              </a:spcBef>
              <a:spcAft>
                <a:spcPts val="0"/>
              </a:spcAft>
              <a:buNone/>
            </a:pPr>
            <a:br>
              <a:rPr lang="en"/>
            </a:br>
            <a:r>
              <a:rPr lang="en"/>
              <a:t>Our quantitative result is an Adjusted Rand Index of 0.42. ARI ranges from -1 to 1, where 1 is perfect agreement with ground truth and 0 is random assignment. Our score of 0.42 reflects moderate alignment - the semantic approach successfully captured meaningful product similarities, though not perfectly, given the overlapping product lines and shared features.</a:t>
            </a:r>
            <a:br>
              <a:rPr lang="en"/>
            </a:br>
            <a:br>
              <a:rPr lang="en"/>
            </a:br>
            <a:r>
              <a:rPr lang="en"/>
              <a:t>The visualization makes the semantic relationships intuitive and demonstrates that our clustering approach is working as intended."</a:t>
            </a:r>
            <a:br>
              <a:rPr lang="en"/>
            </a:br>
            <a:endParaRPr/>
          </a:p>
        </p:txBody>
      </p:sp>
      <p:sp>
        <p:nvSpPr>
          <p:cNvPr id="344" name="Google Shape;344;g3c98be1ab83_0_0:notes"/>
          <p:cNvSpPr txBox="1"/>
          <p:nvPr>
            <p:ph idx="12" type="sldNum"/>
          </p:nvPr>
        </p:nvSpPr>
        <p:spPr>
          <a:xfrm>
            <a:off x="5179484" y="8685213"/>
            <a:ext cx="39624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1" name="Shape 351"/>
        <p:cNvGrpSpPr/>
        <p:nvPr/>
      </p:nvGrpSpPr>
      <p:grpSpPr>
        <a:xfrm>
          <a:off x="0" y="0"/>
          <a:ext cx="0" cy="0"/>
          <a:chOff x="0" y="0"/>
          <a:chExt cx="0" cy="0"/>
        </a:xfrm>
      </p:grpSpPr>
      <p:sp>
        <p:nvSpPr>
          <p:cNvPr id="352" name="Google Shape;352;g3c98be1ab83_0_610: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53" name="Google Shape;353;g3c98be1ab83_0_610:notes"/>
          <p:cNvSpPr txBox="1"/>
          <p:nvPr>
            <p:ph idx="1" type="body"/>
          </p:nvPr>
        </p:nvSpPr>
        <p:spPr>
          <a:xfrm>
            <a:off x="914400" y="4400550"/>
            <a:ext cx="73152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br>
              <a:rPr lang="en"/>
            </a:br>
            <a:r>
              <a:rPr lang="en"/>
              <a:t>MODEL &amp; STRATEGY (45 seconds):</a:t>
            </a:r>
            <a:br>
              <a:rPr lang="en"/>
            </a:br>
            <a:r>
              <a:rPr lang="en"/>
              <a:t>"For text generation, we chose LLaMA 3.2-3B-Instruct - a 3 billion parameter model from Meta that's instruction-tuned and open source.</a:t>
            </a:r>
            <a:br>
              <a:rPr lang="en"/>
            </a:br>
            <a:br>
              <a:rPr lang="en"/>
            </a:br>
            <a:r>
              <a:rPr lang="en"/>
              <a:t>Why not GPT-4? Four reasons: First, this is a learning objective - we wanted to demonstrate that smaller, open-source models can produce quality results with good prompt engineering. Second, cost - LLaMA is free while GPT-4 charges per thousand tokens. Third, reproducibility - open source models allow others to replicate our work. Fourth, control - we can run this locally and understand exactly how it works.</a:t>
            </a:r>
            <a:br>
              <a:rPr lang="en"/>
            </a:br>
            <a:br>
              <a:rPr lang="en"/>
            </a:br>
            <a:r>
              <a:rPr lang="en"/>
              <a:t>We tested two decoding strategies: Controlled with temperature 0.15, which produces stable, grounded, predictable outputs - minimizing hallucination risk. And Creative with temperature 0.35, which generates more natural, engaging, varied language while accepting slightly more randomness.</a:t>
            </a:r>
            <a:br>
              <a:rPr lang="en"/>
            </a:br>
            <a:br>
              <a:rPr lang="en"/>
            </a:br>
            <a:r>
              <a:rPr lang="en"/>
              <a:t>Both strategies use the same model and prompts, just different sampling parameters. This lets us compare whether controlled or creative generation better serves our use case of creating helpful product recommendations.</a:t>
            </a:r>
            <a:br>
              <a:rPr lang="en"/>
            </a:br>
            <a:br>
              <a:rPr lang="en"/>
            </a:br>
            <a:r>
              <a:rPr lang="en"/>
              <a:t>The key insight: A well-prompted 3B model outperforms a poorly-prompted larger model."</a:t>
            </a:r>
            <a:br>
              <a:rPr lang="en"/>
            </a:br>
            <a:endParaRPr/>
          </a:p>
        </p:txBody>
      </p:sp>
      <p:sp>
        <p:nvSpPr>
          <p:cNvPr id="354" name="Google Shape;354;g3c98be1ab83_0_610:notes"/>
          <p:cNvSpPr txBox="1"/>
          <p:nvPr>
            <p:ph idx="12" type="sldNum"/>
          </p:nvPr>
        </p:nvSpPr>
        <p:spPr>
          <a:xfrm>
            <a:off x="5179484" y="8685213"/>
            <a:ext cx="39624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5" name="Shape 375"/>
        <p:cNvGrpSpPr/>
        <p:nvPr/>
      </p:nvGrpSpPr>
      <p:grpSpPr>
        <a:xfrm>
          <a:off x="0" y="0"/>
          <a:ext cx="0" cy="0"/>
          <a:chOff x="0" y="0"/>
          <a:chExt cx="0" cy="0"/>
        </a:xfrm>
      </p:grpSpPr>
      <p:sp>
        <p:nvSpPr>
          <p:cNvPr id="376" name="Google Shape;376;g3c98be1ab83_0_765: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77" name="Google Shape;377;g3c98be1ab83_0_765:notes"/>
          <p:cNvSpPr txBox="1"/>
          <p:nvPr>
            <p:ph idx="1" type="body"/>
          </p:nvPr>
        </p:nvSpPr>
        <p:spPr>
          <a:xfrm>
            <a:off x="914400" y="4400550"/>
            <a:ext cx="73152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br>
              <a:rPr lang="en"/>
            </a:br>
            <a:r>
              <a:rPr lang="en"/>
              <a:t>EVALUATION METRICS (45 seconds):</a:t>
            </a:r>
            <a:br>
              <a:rPr lang="en"/>
            </a:br>
            <a:r>
              <a:rPr lang="en"/>
              <a:t>"Evaluating text generation requires multiple metrics because no single measure captures all quality dimensions.</a:t>
            </a:r>
            <a:br>
              <a:rPr lang="en"/>
            </a:br>
            <a:br>
              <a:rPr lang="en"/>
            </a:br>
            <a:r>
              <a:rPr lang="en"/>
              <a:t>BERTScore at 0.811 measures semantic alignment using contextual embeddings. It answers: Does the generated text capture the meaning of source reviews, even when using different words? Our score of 0.81 indicates strong semantic preservation.</a:t>
            </a:r>
            <a:br>
              <a:rPr lang="en"/>
            </a:br>
            <a:br>
              <a:rPr lang="en"/>
            </a:br>
            <a:r>
              <a:rPr lang="en"/>
              <a:t>Our custom grounding metric shows 60% vocabulary overlap between generated text and source reviews. This is our hallucination detector - when the model invents information not present in reviews, grounding drops. 60% is a healthy balance: enough grounding to ensure faithfulness, but not so high that we're just copying text.</a:t>
            </a:r>
            <a:br>
              <a:rPr lang="en"/>
            </a:br>
            <a:br>
              <a:rPr lang="en"/>
            </a:br>
            <a:r>
              <a:rPr lang="en"/>
              <a:t>ROUGE-1 at 0.306 measures lexical overlap. This might seem low, but it's actually appropriate for abstractive summarization. We're not trying to extract sentences verbatim; we're creating new text that captures review insights in blog form.</a:t>
            </a:r>
            <a:br>
              <a:rPr lang="en"/>
            </a:br>
            <a:br>
              <a:rPr lang="en"/>
            </a:br>
            <a:r>
              <a:rPr lang="en"/>
              <a:t>Compression ratio of 0.291 means generated articles are about 29% the length of source reviews - we're effectively condensing thousands of words into 400-word recommendations.</a:t>
            </a:r>
            <a:br>
              <a:rPr lang="en"/>
            </a:br>
            <a:br>
              <a:rPr lang="en"/>
            </a:br>
            <a:r>
              <a:rPr lang="en"/>
              <a:t>Together, these metrics confirm we're achieving our goal: semantically aligned, well-grounded, concise recommendations that don't just copy review text."</a:t>
            </a:r>
            <a:br>
              <a:rPr lang="en"/>
            </a:br>
            <a:endParaRPr/>
          </a:p>
        </p:txBody>
      </p:sp>
      <p:sp>
        <p:nvSpPr>
          <p:cNvPr id="378" name="Google Shape;378;g3c98be1ab83_0_765:notes"/>
          <p:cNvSpPr txBox="1"/>
          <p:nvPr>
            <p:ph idx="12" type="sldNum"/>
          </p:nvPr>
        </p:nvSpPr>
        <p:spPr>
          <a:xfrm>
            <a:off x="5179484" y="8685213"/>
            <a:ext cx="39624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3" name="Shape 403"/>
        <p:cNvGrpSpPr/>
        <p:nvPr/>
      </p:nvGrpSpPr>
      <p:grpSpPr>
        <a:xfrm>
          <a:off x="0" y="0"/>
          <a:ext cx="0" cy="0"/>
          <a:chOff x="0" y="0"/>
          <a:chExt cx="0" cy="0"/>
        </a:xfrm>
      </p:grpSpPr>
      <p:sp>
        <p:nvSpPr>
          <p:cNvPr id="404" name="Google Shape;404;g3c98be1ab83_2_109: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05" name="Google Shape;405;g3c98be1ab83_2_109:notes"/>
          <p:cNvSpPr txBox="1"/>
          <p:nvPr>
            <p:ph idx="1" type="body"/>
          </p:nvPr>
        </p:nvSpPr>
        <p:spPr>
          <a:xfrm>
            <a:off x="0" y="0"/>
            <a:ext cx="4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br>
              <a:rPr lang="en" sz="1200">
                <a:solidFill>
                  <a:schemeClr val="dk1"/>
                </a:solidFill>
                <a:latin typeface="Arial"/>
                <a:ea typeface="Arial"/>
                <a:cs typeface="Arial"/>
                <a:sym typeface="Arial"/>
              </a:rPr>
            </a:br>
            <a:r>
              <a:rPr lang="en" sz="1200">
                <a:solidFill>
                  <a:schemeClr val="dk1"/>
                </a:solidFill>
                <a:latin typeface="Arial"/>
                <a:ea typeface="Arial"/>
                <a:cs typeface="Arial"/>
                <a:sym typeface="Arial"/>
              </a:rPr>
              <a:t>EVALUATION RESULTS (30 seconds):</a:t>
            </a:r>
            <a:br>
              <a:rPr lang="en" sz="1200">
                <a:solidFill>
                  <a:schemeClr val="dk1"/>
                </a:solidFill>
                <a:latin typeface="Arial"/>
                <a:ea typeface="Arial"/>
                <a:cs typeface="Arial"/>
                <a:sym typeface="Arial"/>
              </a:rPr>
            </a:br>
            <a:r>
              <a:rPr lang="en" sz="1200">
                <a:solidFill>
                  <a:schemeClr val="dk1"/>
                </a:solidFill>
                <a:latin typeface="Arial"/>
                <a:ea typeface="Arial"/>
                <a:cs typeface="Arial"/>
                <a:sym typeface="Arial"/>
              </a:rPr>
              <a:t>"Now let's look at the results.</a:t>
            </a:r>
            <a:br>
              <a:rPr lang="en" sz="1200">
                <a:solidFill>
                  <a:schemeClr val="dk1"/>
                </a:solidFill>
                <a:latin typeface="Arial"/>
                <a:ea typeface="Arial"/>
                <a:cs typeface="Arial"/>
                <a:sym typeface="Arial"/>
              </a:rPr>
            </a:br>
            <a:br>
              <a:rPr lang="en" sz="1200">
                <a:solidFill>
                  <a:schemeClr val="dk1"/>
                </a:solidFill>
                <a:latin typeface="Arial"/>
                <a:ea typeface="Arial"/>
                <a:cs typeface="Arial"/>
                <a:sym typeface="Arial"/>
              </a:rPr>
            </a:br>
            <a:r>
              <a:rPr lang="en" sz="1200">
                <a:solidFill>
                  <a:schemeClr val="dk1"/>
                </a:solidFill>
                <a:latin typeface="Arial"/>
                <a:ea typeface="Arial"/>
                <a:cs typeface="Arial"/>
                <a:sym typeface="Arial"/>
              </a:rPr>
              <a:t>For Sentiment Analysis: The fine-tuned RoBERTa achieved 73.5% accuracy with an F1 macro of 0.724. The key win was improving neutral class F1 from 0.29 in zero-shot to 0.57 through fine-tuning, proving domain adaptation is essential.</a:t>
            </a:r>
            <a:br>
              <a:rPr lang="en" sz="1200">
                <a:solidFill>
                  <a:schemeClr val="dk1"/>
                </a:solidFill>
                <a:latin typeface="Arial"/>
                <a:ea typeface="Arial"/>
                <a:cs typeface="Arial"/>
                <a:sym typeface="Arial"/>
              </a:rPr>
            </a:br>
            <a:br>
              <a:rPr lang="en" sz="1200">
                <a:solidFill>
                  <a:schemeClr val="dk1"/>
                </a:solidFill>
                <a:latin typeface="Arial"/>
                <a:ea typeface="Arial"/>
                <a:cs typeface="Arial"/>
                <a:sym typeface="Arial"/>
              </a:rPr>
            </a:br>
            <a:r>
              <a:rPr lang="en" sz="1200">
                <a:solidFill>
                  <a:schemeClr val="dk1"/>
                </a:solidFill>
                <a:latin typeface="Arial"/>
                <a:ea typeface="Arial"/>
                <a:cs typeface="Arial"/>
                <a:sym typeface="Arial"/>
              </a:rPr>
              <a:t>For Clustering: K-Means with 384-dimensional embeddings achieved an Adjusted Rand Index of 0.42. The semantic embeddings successfully captured product similarities beyond simple keyword matching.</a:t>
            </a:r>
            <a:br>
              <a:rPr lang="en" sz="1200">
                <a:solidFill>
                  <a:schemeClr val="dk1"/>
                </a:solidFill>
                <a:latin typeface="Arial"/>
                <a:ea typeface="Arial"/>
                <a:cs typeface="Arial"/>
                <a:sym typeface="Arial"/>
              </a:rPr>
            </a:br>
            <a:br>
              <a:rPr lang="en" sz="1200">
                <a:solidFill>
                  <a:schemeClr val="dk1"/>
                </a:solidFill>
                <a:latin typeface="Arial"/>
                <a:ea typeface="Arial"/>
                <a:cs typeface="Arial"/>
                <a:sym typeface="Arial"/>
              </a:rPr>
            </a:br>
            <a:r>
              <a:rPr lang="en" sz="1200">
                <a:solidFill>
                  <a:schemeClr val="dk1"/>
                </a:solidFill>
              </a:rPr>
              <a:t>For text generation, LLaMA 3.2-3B achieved a BERTScore of 0.811 with 60% grounding. Because the task is abstractive summarization, partial vocabulary overlap is expected; this level of grounding suggests the model preserves source information while still generating concise, rephrased summaries.</a:t>
            </a:r>
            <a:br>
              <a:rPr lang="en" sz="1200">
                <a:solidFill>
                  <a:schemeClr val="dk1"/>
                </a:solidFill>
                <a:latin typeface="Arial"/>
                <a:ea typeface="Arial"/>
                <a:cs typeface="Arial"/>
                <a:sym typeface="Arial"/>
              </a:rPr>
            </a:br>
            <a:br>
              <a:rPr lang="en" sz="1200">
                <a:solidFill>
                  <a:schemeClr val="dk1"/>
                </a:solidFill>
                <a:latin typeface="Arial"/>
                <a:ea typeface="Arial"/>
                <a:cs typeface="Arial"/>
                <a:sym typeface="Arial"/>
              </a:rPr>
            </a:br>
            <a:r>
              <a:rPr lang="en" sz="1200">
                <a:solidFill>
                  <a:schemeClr val="dk1"/>
                </a:solidFill>
                <a:latin typeface="Arial"/>
                <a:ea typeface="Arial"/>
                <a:cs typeface="Arial"/>
                <a:sym typeface="Arial"/>
              </a:rPr>
              <a:t>The bottom chart shows our iterative improvement process. From V1 to V3, we improved grounding by 12.7% through systematic prompt engineering and data quality improvements. This demonstrates that thoughtful iteration matters more than just using a larger model."</a:t>
            </a:r>
            <a:br>
              <a:rPr lang="en" sz="1200">
                <a:solidFill>
                  <a:schemeClr val="dk1"/>
                </a:solidFill>
                <a:latin typeface="Arial"/>
                <a:ea typeface="Arial"/>
                <a:cs typeface="Arial"/>
                <a:sym typeface="Arial"/>
              </a:rPr>
            </a:br>
            <a:endParaRPr/>
          </a:p>
        </p:txBody>
      </p:sp>
      <p:sp>
        <p:nvSpPr>
          <p:cNvPr id="406" name="Google Shape;406;g3c98be1ab83_2_109:notes"/>
          <p:cNvSpPr txBox="1"/>
          <p:nvPr>
            <p:ph idx="12" type="sldNum"/>
          </p:nvPr>
        </p:nvSpPr>
        <p:spPr>
          <a:xfrm>
            <a:off x="0" y="0"/>
            <a:ext cx="4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5" name="Shape 445"/>
        <p:cNvGrpSpPr/>
        <p:nvPr/>
      </p:nvGrpSpPr>
      <p:grpSpPr>
        <a:xfrm>
          <a:off x="0" y="0"/>
          <a:ext cx="0" cy="0"/>
          <a:chOff x="0" y="0"/>
          <a:chExt cx="0" cy="0"/>
        </a:xfrm>
      </p:grpSpPr>
      <p:sp>
        <p:nvSpPr>
          <p:cNvPr id="446" name="Google Shape;446;g3c98be1ab83_2_150: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47" name="Google Shape;447;g3c98be1ab83_2_150:notes"/>
          <p:cNvSpPr txBox="1"/>
          <p:nvPr>
            <p:ph idx="1" type="body"/>
          </p:nvPr>
        </p:nvSpPr>
        <p:spPr>
          <a:xfrm>
            <a:off x="0" y="0"/>
            <a:ext cx="4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br>
              <a:rPr lang="en" sz="1200">
                <a:solidFill>
                  <a:schemeClr val="dk1"/>
                </a:solidFill>
                <a:latin typeface="Arial"/>
                <a:ea typeface="Arial"/>
                <a:cs typeface="Arial"/>
                <a:sym typeface="Arial"/>
              </a:rPr>
            </a:br>
            <a:r>
              <a:rPr lang="en" sz="1200">
                <a:solidFill>
                  <a:schemeClr val="dk1"/>
                </a:solidFill>
                <a:latin typeface="Arial"/>
                <a:ea typeface="Arial"/>
                <a:cs typeface="Arial"/>
                <a:sym typeface="Arial"/>
              </a:rPr>
              <a:t>KEY TAKEAWAYS (25 seconds):</a:t>
            </a:r>
            <a:br>
              <a:rPr lang="en" sz="1200">
                <a:solidFill>
                  <a:schemeClr val="dk1"/>
                </a:solidFill>
                <a:latin typeface="Arial"/>
                <a:ea typeface="Arial"/>
                <a:cs typeface="Arial"/>
                <a:sym typeface="Arial"/>
              </a:rPr>
            </a:br>
            <a:r>
              <a:rPr lang="en" sz="1200">
                <a:solidFill>
                  <a:schemeClr val="dk1"/>
                </a:solidFill>
                <a:latin typeface="Arial"/>
                <a:ea typeface="Arial"/>
                <a:cs typeface="Arial"/>
                <a:sym typeface="Arial"/>
              </a:rPr>
              <a:t>"To conclude, here are five key learnings from this project:</a:t>
            </a:r>
            <a:br>
              <a:rPr lang="en" sz="1200">
                <a:solidFill>
                  <a:schemeClr val="dk1"/>
                </a:solidFill>
                <a:latin typeface="Arial"/>
                <a:ea typeface="Arial"/>
                <a:cs typeface="Arial"/>
                <a:sym typeface="Arial"/>
              </a:rPr>
            </a:br>
            <a:br>
              <a:rPr lang="en" sz="1200">
                <a:solidFill>
                  <a:schemeClr val="dk1"/>
                </a:solidFill>
                <a:latin typeface="Arial"/>
                <a:ea typeface="Arial"/>
                <a:cs typeface="Arial"/>
                <a:sym typeface="Arial"/>
              </a:rPr>
            </a:br>
            <a:r>
              <a:rPr lang="en" sz="1200">
                <a:solidFill>
                  <a:schemeClr val="dk1"/>
                </a:solidFill>
                <a:latin typeface="Arial"/>
                <a:ea typeface="Arial"/>
                <a:cs typeface="Arial"/>
                <a:sym typeface="Arial"/>
              </a:rPr>
              <a:t>First, data quality matters more than model size. Our improvements came from cleaning noisy categories and careful preprocessing, not just using bigger models.</a:t>
            </a:r>
            <a:br>
              <a:rPr lang="en" sz="1200">
                <a:solidFill>
                  <a:schemeClr val="dk1"/>
                </a:solidFill>
                <a:latin typeface="Arial"/>
                <a:ea typeface="Arial"/>
                <a:cs typeface="Arial"/>
                <a:sym typeface="Arial"/>
              </a:rPr>
            </a:br>
            <a:br>
              <a:rPr lang="en" sz="1200">
                <a:solidFill>
                  <a:schemeClr val="dk1"/>
                </a:solidFill>
                <a:latin typeface="Arial"/>
                <a:ea typeface="Arial"/>
                <a:cs typeface="Arial"/>
                <a:sym typeface="Arial"/>
              </a:rPr>
            </a:br>
            <a:r>
              <a:rPr lang="en" sz="1200">
                <a:solidFill>
                  <a:schemeClr val="dk1"/>
                </a:solidFill>
                <a:latin typeface="Arial"/>
                <a:ea typeface="Arial"/>
                <a:cs typeface="Arial"/>
                <a:sym typeface="Arial"/>
              </a:rPr>
              <a:t>Second, prompt engineering is crucial for LLMs. Our iterative refinement from V1 to V3 had massive impact on output quality.</a:t>
            </a:r>
            <a:br>
              <a:rPr lang="en" sz="1200">
                <a:solidFill>
                  <a:schemeClr val="dk1"/>
                </a:solidFill>
                <a:latin typeface="Arial"/>
                <a:ea typeface="Arial"/>
                <a:cs typeface="Arial"/>
                <a:sym typeface="Arial"/>
              </a:rPr>
            </a:br>
            <a:br>
              <a:rPr lang="en" sz="1200">
                <a:solidFill>
                  <a:schemeClr val="dk1"/>
                </a:solidFill>
                <a:latin typeface="Arial"/>
                <a:ea typeface="Arial"/>
                <a:cs typeface="Arial"/>
                <a:sym typeface="Arial"/>
              </a:rPr>
            </a:br>
            <a:r>
              <a:rPr lang="en" sz="1200">
                <a:solidFill>
                  <a:schemeClr val="dk1"/>
                </a:solidFill>
                <a:latin typeface="Arial"/>
                <a:ea typeface="Arial"/>
                <a:cs typeface="Arial"/>
                <a:sym typeface="Arial"/>
              </a:rPr>
              <a:t>Third, domain adaptation is essential. The zero-shot model underperformed significantly; fine-tuning on Amazon reviews was necessary for good results.</a:t>
            </a:r>
            <a:br>
              <a:rPr lang="en" sz="1200">
                <a:solidFill>
                  <a:schemeClr val="dk1"/>
                </a:solidFill>
                <a:latin typeface="Arial"/>
                <a:ea typeface="Arial"/>
                <a:cs typeface="Arial"/>
                <a:sym typeface="Arial"/>
              </a:rPr>
            </a:br>
            <a:br>
              <a:rPr lang="en" sz="1200">
                <a:solidFill>
                  <a:schemeClr val="dk1"/>
                </a:solidFill>
                <a:latin typeface="Arial"/>
                <a:ea typeface="Arial"/>
                <a:cs typeface="Arial"/>
                <a:sym typeface="Arial"/>
              </a:rPr>
            </a:br>
            <a:r>
              <a:rPr lang="en" sz="1200">
                <a:solidFill>
                  <a:schemeClr val="dk1"/>
                </a:solidFill>
                <a:latin typeface="Arial"/>
                <a:ea typeface="Arial"/>
                <a:cs typeface="Arial"/>
                <a:sym typeface="Arial"/>
              </a:rPr>
              <a:t>Fourth, systematic iteration works. Each version addressed specific issues we identified through rigorous evaluation.</a:t>
            </a:r>
            <a:br>
              <a:rPr lang="en" sz="1200">
                <a:solidFill>
                  <a:schemeClr val="dk1"/>
                </a:solidFill>
                <a:latin typeface="Arial"/>
                <a:ea typeface="Arial"/>
                <a:cs typeface="Arial"/>
                <a:sym typeface="Arial"/>
              </a:rPr>
            </a:br>
            <a:br>
              <a:rPr lang="en" sz="1200">
                <a:solidFill>
                  <a:schemeClr val="dk1"/>
                </a:solidFill>
                <a:latin typeface="Arial"/>
                <a:ea typeface="Arial"/>
                <a:cs typeface="Arial"/>
                <a:sym typeface="Arial"/>
              </a:rPr>
            </a:br>
            <a:r>
              <a:rPr lang="en" sz="1200">
                <a:solidFill>
                  <a:schemeClr val="dk1"/>
                </a:solidFill>
                <a:latin typeface="Arial"/>
                <a:ea typeface="Arial"/>
                <a:cs typeface="Arial"/>
                <a:sym typeface="Arial"/>
              </a:rPr>
              <a:t>Finally, custom metrics help. Our grounding ratio provided valuable signal for detecting hallucination that standard metrics like ROUGE couldn't capture.</a:t>
            </a:r>
            <a:br>
              <a:rPr lang="en" sz="1200">
                <a:solidFill>
                  <a:schemeClr val="dk1"/>
                </a:solidFill>
                <a:latin typeface="Arial"/>
                <a:ea typeface="Arial"/>
                <a:cs typeface="Arial"/>
                <a:sym typeface="Arial"/>
              </a:rPr>
            </a:br>
            <a:br>
              <a:rPr lang="en" sz="1200">
                <a:solidFill>
                  <a:schemeClr val="dk1"/>
                </a:solidFill>
                <a:latin typeface="Arial"/>
                <a:ea typeface="Arial"/>
                <a:cs typeface="Arial"/>
                <a:sym typeface="Arial"/>
              </a:rPr>
            </a:br>
            <a:r>
              <a:rPr lang="en" sz="1200">
                <a:solidFill>
                  <a:schemeClr val="dk1"/>
                </a:solidFill>
                <a:latin typeface="Arial"/>
                <a:ea typeface="Arial"/>
                <a:cs typeface="Arial"/>
                <a:sym typeface="Arial"/>
              </a:rPr>
              <a:t>Thank you. I'm happy to take questions."</a:t>
            </a:r>
            <a:br>
              <a:rPr lang="en" sz="1200">
                <a:solidFill>
                  <a:schemeClr val="dk1"/>
                </a:solidFill>
                <a:latin typeface="Arial"/>
                <a:ea typeface="Arial"/>
                <a:cs typeface="Arial"/>
                <a:sym typeface="Arial"/>
              </a:rPr>
            </a:br>
            <a:br>
              <a:rPr lang="en" sz="1200">
                <a:solidFill>
                  <a:schemeClr val="dk1"/>
                </a:solidFill>
                <a:latin typeface="Arial"/>
                <a:ea typeface="Arial"/>
                <a:cs typeface="Arial"/>
                <a:sym typeface="Arial"/>
              </a:rPr>
            </a:br>
            <a:r>
              <a:rPr lang="en" sz="1200">
                <a:solidFill>
                  <a:schemeClr val="dk1"/>
                </a:solidFill>
                <a:latin typeface="Arial"/>
                <a:ea typeface="Arial"/>
                <a:cs typeface="Arial"/>
                <a:sym typeface="Arial"/>
              </a:rPr>
              <a:t>BACKUP ANSWERS:</a:t>
            </a:r>
            <a:br>
              <a:rPr lang="en" sz="1200">
                <a:solidFill>
                  <a:schemeClr val="dk1"/>
                </a:solidFill>
                <a:latin typeface="Arial"/>
                <a:ea typeface="Arial"/>
                <a:cs typeface="Arial"/>
                <a:sym typeface="Arial"/>
              </a:rPr>
            </a:br>
            <a:r>
              <a:rPr lang="en" sz="1200">
                <a:solidFill>
                  <a:schemeClr val="dk1"/>
                </a:solidFill>
                <a:latin typeface="Arial"/>
                <a:ea typeface="Arial"/>
                <a:cs typeface="Arial"/>
                <a:sym typeface="Arial"/>
              </a:rPr>
              <a:t>Q: "Why LLaMA 3.2-3B and not GPT-4?"</a:t>
            </a:r>
            <a:br>
              <a:rPr lang="en" sz="1200">
                <a:solidFill>
                  <a:schemeClr val="dk1"/>
                </a:solidFill>
                <a:latin typeface="Arial"/>
                <a:ea typeface="Arial"/>
                <a:cs typeface="Arial"/>
                <a:sym typeface="Arial"/>
              </a:rPr>
            </a:br>
            <a:r>
              <a:rPr lang="en" sz="1200">
                <a:solidFill>
                  <a:schemeClr val="dk1"/>
                </a:solidFill>
                <a:latin typeface="Arial"/>
                <a:ea typeface="Arial"/>
                <a:cs typeface="Arial"/>
                <a:sym typeface="Arial"/>
              </a:rPr>
              <a:t>A: "We wanted to demonstrate that good results are achievable with smaller, open-source models through careful prompt engineering. LLaMA 3.2-3B is also more cost-effective and can run locally."</a:t>
            </a:r>
            <a:br>
              <a:rPr lang="en" sz="1200">
                <a:solidFill>
                  <a:schemeClr val="dk1"/>
                </a:solidFill>
                <a:latin typeface="Arial"/>
                <a:ea typeface="Arial"/>
                <a:cs typeface="Arial"/>
                <a:sym typeface="Arial"/>
              </a:rPr>
            </a:br>
            <a:br>
              <a:rPr lang="en" sz="1200">
                <a:solidFill>
                  <a:schemeClr val="dk1"/>
                </a:solidFill>
                <a:latin typeface="Arial"/>
                <a:ea typeface="Arial"/>
                <a:cs typeface="Arial"/>
                <a:sym typeface="Arial"/>
              </a:rPr>
            </a:br>
            <a:r>
              <a:rPr lang="en" sz="1200">
                <a:solidFill>
                  <a:schemeClr val="dk1"/>
                </a:solidFill>
                <a:latin typeface="Arial"/>
                <a:ea typeface="Arial"/>
                <a:cs typeface="Arial"/>
                <a:sym typeface="Arial"/>
              </a:rPr>
              <a:t>Q: "How would you improve this further?"</a:t>
            </a:r>
            <a:br>
              <a:rPr lang="en" sz="1200">
                <a:solidFill>
                  <a:schemeClr val="dk1"/>
                </a:solidFill>
                <a:latin typeface="Arial"/>
                <a:ea typeface="Arial"/>
                <a:cs typeface="Arial"/>
                <a:sym typeface="Arial"/>
              </a:rPr>
            </a:br>
            <a:r>
              <a:rPr lang="en" sz="1200">
                <a:solidFill>
                  <a:schemeClr val="dk1"/>
                </a:solidFill>
                <a:latin typeface="Arial"/>
                <a:ea typeface="Arial"/>
                <a:cs typeface="Arial"/>
                <a:sym typeface="Arial"/>
              </a:rPr>
              <a:t>A: "Three directions: fine-tune LLaMA on product review summarization data, add product-level comparisons within categories, and implement a user study to validate that our summaries actually help consumers make decisions."</a:t>
            </a:r>
            <a:br>
              <a:rPr lang="en" sz="1200">
                <a:solidFill>
                  <a:schemeClr val="dk1"/>
                </a:solidFill>
                <a:latin typeface="Arial"/>
                <a:ea typeface="Arial"/>
                <a:cs typeface="Arial"/>
                <a:sym typeface="Arial"/>
              </a:rPr>
            </a:br>
            <a:br>
              <a:rPr lang="en" sz="1200">
                <a:solidFill>
                  <a:schemeClr val="dk1"/>
                </a:solidFill>
                <a:latin typeface="Arial"/>
                <a:ea typeface="Arial"/>
                <a:cs typeface="Arial"/>
                <a:sym typeface="Arial"/>
              </a:rPr>
            </a:br>
            <a:r>
              <a:rPr lang="en" sz="1200">
                <a:solidFill>
                  <a:schemeClr val="dk1"/>
                </a:solidFill>
                <a:latin typeface="Arial"/>
                <a:ea typeface="Arial"/>
                <a:cs typeface="Arial"/>
                <a:sym typeface="Arial"/>
              </a:rPr>
              <a:t>Q: "What about other product categories?"</a:t>
            </a:r>
            <a:br>
              <a:rPr lang="en" sz="1200">
                <a:solidFill>
                  <a:schemeClr val="dk1"/>
                </a:solidFill>
                <a:latin typeface="Arial"/>
                <a:ea typeface="Arial"/>
                <a:cs typeface="Arial"/>
                <a:sym typeface="Arial"/>
              </a:rPr>
            </a:br>
            <a:r>
              <a:rPr lang="en" sz="1200">
                <a:solidFill>
                  <a:schemeClr val="dk1"/>
                </a:solidFill>
                <a:latin typeface="Arial"/>
                <a:ea typeface="Arial"/>
                <a:cs typeface="Arial"/>
                <a:sym typeface="Arial"/>
              </a:rPr>
              <a:t>A: "The approach is generalizable. We'd need sufficient review data and category-appropriate prompt templates, but the pipeline would remain the same."</a:t>
            </a:r>
            <a:br>
              <a:rPr lang="en" sz="1200">
                <a:solidFill>
                  <a:schemeClr val="dk1"/>
                </a:solidFill>
                <a:latin typeface="Arial"/>
                <a:ea typeface="Arial"/>
                <a:cs typeface="Arial"/>
                <a:sym typeface="Arial"/>
              </a:rPr>
            </a:br>
            <a:endParaRPr/>
          </a:p>
        </p:txBody>
      </p:sp>
      <p:sp>
        <p:nvSpPr>
          <p:cNvPr id="448" name="Google Shape;448;g3c98be1ab83_2_150:notes"/>
          <p:cNvSpPr txBox="1"/>
          <p:nvPr>
            <p:ph idx="12" type="sldNum"/>
          </p:nvPr>
        </p:nvSpPr>
        <p:spPr>
          <a:xfrm>
            <a:off x="0" y="0"/>
            <a:ext cx="4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7" name="Shape 477"/>
        <p:cNvGrpSpPr/>
        <p:nvPr/>
      </p:nvGrpSpPr>
      <p:grpSpPr>
        <a:xfrm>
          <a:off x="0" y="0"/>
          <a:ext cx="0" cy="0"/>
          <a:chOff x="0" y="0"/>
          <a:chExt cx="0" cy="0"/>
        </a:xfrm>
      </p:grpSpPr>
      <p:sp>
        <p:nvSpPr>
          <p:cNvPr id="478" name="Google Shape;478;g3c98be1ab83_0_1071: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79" name="Google Shape;479;g3c98be1ab83_0_1071:notes"/>
          <p:cNvSpPr txBox="1"/>
          <p:nvPr>
            <p:ph idx="1" type="body"/>
          </p:nvPr>
        </p:nvSpPr>
        <p:spPr>
          <a:xfrm>
            <a:off x="914400" y="4400550"/>
            <a:ext cx="73152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br>
              <a:rPr lang="en"/>
            </a:br>
            <a:r>
              <a:rPr lang="en"/>
              <a:t>CLOSING (15 seconds):</a:t>
            </a:r>
            <a:br>
              <a:rPr lang="en"/>
            </a:br>
            <a:r>
              <a:rPr lang="en"/>
              <a:t>"Thank you for your attention.</a:t>
            </a:r>
            <a:br>
              <a:rPr lang="en"/>
            </a:br>
            <a:br>
              <a:rPr lang="en"/>
            </a:br>
            <a:r>
              <a:rPr lang="en"/>
              <a:t>The GitHub repository with all code, notebooks, and the interactive demo is available.</a:t>
            </a:r>
            <a:br>
              <a:rPr lang="en"/>
            </a:br>
            <a:br>
              <a:rPr lang="en"/>
            </a:br>
            <a:r>
              <a:rPr lang="en"/>
              <a:t>I'm happy to take questions.</a:t>
            </a:r>
            <a:br>
              <a:rPr lang="en"/>
            </a:br>
            <a:br>
              <a:rPr lang="en"/>
            </a:br>
            <a:r>
              <a:rPr lang="en"/>
              <a:t>[BACKUP Q&amp;A]</a:t>
            </a:r>
            <a:br>
              <a:rPr lang="en"/>
            </a:br>
            <a:br>
              <a:rPr lang="en"/>
            </a:br>
            <a:r>
              <a:rPr lang="en"/>
              <a:t>Q: "Why LLaMA 3.2-3B and not GPT-4?"</a:t>
            </a:r>
            <a:br>
              <a:rPr lang="en"/>
            </a:br>
            <a:r>
              <a:rPr lang="en"/>
              <a:t>A: "We wanted to show that smaller, open-source models can deliver quality results with good engineering. Also: zero cost, full reproducibility, and can run locally for privacy."</a:t>
            </a:r>
            <a:br>
              <a:rPr lang="en"/>
            </a:br>
            <a:br>
              <a:rPr lang="en"/>
            </a:br>
            <a:r>
              <a:rPr lang="en"/>
              <a:t>Q: "How would you improve this further?"</a:t>
            </a:r>
            <a:br>
              <a:rPr lang="en"/>
            </a:br>
            <a:r>
              <a:rPr lang="en"/>
              <a:t>A: "Three priorities: fine-tune LLaMA specifically on product review summarization, implement product-level comparisons, and conduct user studies to validate the recommendations actually help purchase decisions."</a:t>
            </a:r>
            <a:br>
              <a:rPr lang="en"/>
            </a:br>
            <a:br>
              <a:rPr lang="en"/>
            </a:br>
            <a:r>
              <a:rPr lang="en"/>
              <a:t>Q: "Can this work for other product categories?"</a:t>
            </a:r>
            <a:br>
              <a:rPr lang="en"/>
            </a:br>
            <a:r>
              <a:rPr lang="en"/>
              <a:t>A: "Absolutely. The approach is generalizable - we'd need sufficient review data and category-appropriate prompts, but the pipeline architecture remains the same."</a:t>
            </a:r>
            <a:br>
              <a:rPr lang="en"/>
            </a:br>
            <a:br>
              <a:rPr lang="en"/>
            </a:br>
            <a:r>
              <a:rPr lang="en"/>
              <a:t>Q: "What about real-time deployment?"</a:t>
            </a:r>
            <a:br>
              <a:rPr lang="en"/>
            </a:br>
            <a:r>
              <a:rPr lang="en"/>
              <a:t>A: "We'd wrap this in a FastAPI backend, host the model on GPU infrastructure, implement caching for common queries, and add a React frontend. The core ML is done; deployment is engineering."</a:t>
            </a:r>
            <a:br>
              <a:rPr lang="en"/>
            </a:br>
            <a:endParaRPr/>
          </a:p>
        </p:txBody>
      </p:sp>
      <p:sp>
        <p:nvSpPr>
          <p:cNvPr id="480" name="Google Shape;480;g3c98be1ab83_0_1071:notes"/>
          <p:cNvSpPr txBox="1"/>
          <p:nvPr>
            <p:ph idx="12" type="sldNum"/>
          </p:nvPr>
        </p:nvSpPr>
        <p:spPr>
          <a:xfrm>
            <a:off x="5179484" y="8685213"/>
            <a:ext cx="39624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51" name="Shape 51"/>
        <p:cNvGrpSpPr/>
        <p:nvPr/>
      </p:nvGrpSpPr>
      <p:grpSpPr>
        <a:xfrm>
          <a:off x="0" y="0"/>
          <a:ext cx="0" cy="0"/>
          <a:chOff x="0" y="0"/>
          <a:chExt cx="0" cy="0"/>
        </a:xfrm>
      </p:grpSpPr>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56" name="Shape 56"/>
        <p:cNvGrpSpPr/>
        <p:nvPr/>
      </p:nvGrpSpPr>
      <p:grpSpPr>
        <a:xfrm>
          <a:off x="0" y="0"/>
          <a:ext cx="0" cy="0"/>
          <a:chOff x="0" y="0"/>
          <a:chExt cx="0" cy="0"/>
        </a:xfrm>
      </p:grpSpPr>
      <p:sp>
        <p:nvSpPr>
          <p:cNvPr id="57" name="Google Shape;57;p16"/>
          <p:cNvSpPr/>
          <p:nvPr/>
        </p:nvSpPr>
        <p:spPr>
          <a:xfrm rot="5400000">
            <a:off x="7500300" y="505"/>
            <a:ext cx="1643700" cy="1643700"/>
          </a:xfrm>
          <a:prstGeom prst="diagStripe">
            <a:avLst>
              <a:gd fmla="val 0" name="adj"/>
            </a:avLst>
          </a:prstGeom>
          <a:solidFill>
            <a:schemeClr val="lt1">
              <a:alpha val="303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58" name="Google Shape;58;p16"/>
          <p:cNvGrpSpPr/>
          <p:nvPr/>
        </p:nvGrpSpPr>
        <p:grpSpPr>
          <a:xfrm>
            <a:off x="0" y="490"/>
            <a:ext cx="5153705" cy="5134399"/>
            <a:chOff x="0" y="75"/>
            <a:chExt cx="5153705" cy="5152950"/>
          </a:xfrm>
        </p:grpSpPr>
        <p:sp>
          <p:nvSpPr>
            <p:cNvPr id="59" name="Google Shape;59;p16"/>
            <p:cNvSpPr/>
            <p:nvPr/>
          </p:nvSpPr>
          <p:spPr>
            <a:xfrm rot="-5400000">
              <a:off x="455" y="-225"/>
              <a:ext cx="5152800" cy="5153700"/>
            </a:xfrm>
            <a:prstGeom prst="diagStripe">
              <a:avLst>
                <a:gd fmla="val 50000" name="adj"/>
              </a:avLst>
            </a:prstGeom>
            <a:solidFill>
              <a:schemeClr val="lt1">
                <a:alpha val="303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 name="Google Shape;60;p16"/>
            <p:cNvSpPr/>
            <p:nvPr/>
          </p:nvSpPr>
          <p:spPr>
            <a:xfrm rot="-5400000">
              <a:off x="150" y="1145825"/>
              <a:ext cx="3996600" cy="3996900"/>
            </a:xfrm>
            <a:prstGeom prst="diagStripe">
              <a:avLst>
                <a:gd fmla="val 58774" name="adj"/>
              </a:avLst>
            </a:prstGeom>
            <a:solidFill>
              <a:schemeClr val="lt1">
                <a:alpha val="303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 name="Google Shape;61;p16"/>
            <p:cNvSpPr/>
            <p:nvPr/>
          </p:nvSpPr>
          <p:spPr>
            <a:xfrm rot="-5400000">
              <a:off x="1646" y="-75"/>
              <a:ext cx="2299800" cy="23001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 name="Google Shape;62;p16"/>
            <p:cNvSpPr/>
            <p:nvPr/>
          </p:nvSpPr>
          <p:spPr>
            <a:xfrm flipH="1">
              <a:off x="652821" y="590035"/>
              <a:ext cx="2300100" cy="2299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63" name="Google Shape;63;p16"/>
          <p:cNvSpPr txBox="1"/>
          <p:nvPr>
            <p:ph type="ctrTitle"/>
          </p:nvPr>
        </p:nvSpPr>
        <p:spPr>
          <a:xfrm>
            <a:off x="3537150" y="1578400"/>
            <a:ext cx="5017500" cy="1578900"/>
          </a:xfrm>
          <a:prstGeom prst="rect">
            <a:avLst/>
          </a:prstGeom>
        </p:spPr>
        <p:txBody>
          <a:bodyPr anchorCtr="0" anchor="t" bIns="91425" lIns="91425" spcFirstLastPara="1" rIns="91425" wrap="square" tIns="91425">
            <a:normAutofit/>
          </a:bodyPr>
          <a:lstStyle>
            <a:lvl1pPr lvl="0">
              <a:spcBef>
                <a:spcPts val="0"/>
              </a:spcBef>
              <a:spcAft>
                <a:spcPts val="0"/>
              </a:spcAft>
              <a:buSzPts val="4000"/>
              <a:buNone/>
              <a:defRPr sz="4000"/>
            </a:lvl1pPr>
            <a:lvl2pPr lvl="1">
              <a:spcBef>
                <a:spcPts val="0"/>
              </a:spcBef>
              <a:spcAft>
                <a:spcPts val="0"/>
              </a:spcAft>
              <a:buSzPts val="4000"/>
              <a:buNone/>
              <a:defRPr sz="4000"/>
            </a:lvl2pPr>
            <a:lvl3pPr lvl="2">
              <a:spcBef>
                <a:spcPts val="0"/>
              </a:spcBef>
              <a:spcAft>
                <a:spcPts val="0"/>
              </a:spcAft>
              <a:buSzPts val="4000"/>
              <a:buNone/>
              <a:defRPr sz="4000"/>
            </a:lvl3pPr>
            <a:lvl4pPr lvl="3">
              <a:spcBef>
                <a:spcPts val="0"/>
              </a:spcBef>
              <a:spcAft>
                <a:spcPts val="0"/>
              </a:spcAft>
              <a:buSzPts val="4000"/>
              <a:buNone/>
              <a:defRPr sz="4000"/>
            </a:lvl4pPr>
            <a:lvl5pPr lvl="4">
              <a:spcBef>
                <a:spcPts val="0"/>
              </a:spcBef>
              <a:spcAft>
                <a:spcPts val="0"/>
              </a:spcAft>
              <a:buSzPts val="4000"/>
              <a:buNone/>
              <a:defRPr sz="4000"/>
            </a:lvl5pPr>
            <a:lvl6pPr lvl="5">
              <a:spcBef>
                <a:spcPts val="0"/>
              </a:spcBef>
              <a:spcAft>
                <a:spcPts val="0"/>
              </a:spcAft>
              <a:buSzPts val="4000"/>
              <a:buNone/>
              <a:defRPr sz="4000"/>
            </a:lvl6pPr>
            <a:lvl7pPr lvl="6">
              <a:spcBef>
                <a:spcPts val="0"/>
              </a:spcBef>
              <a:spcAft>
                <a:spcPts val="0"/>
              </a:spcAft>
              <a:buSzPts val="4000"/>
              <a:buNone/>
              <a:defRPr sz="4000"/>
            </a:lvl7pPr>
            <a:lvl8pPr lvl="7">
              <a:spcBef>
                <a:spcPts val="0"/>
              </a:spcBef>
              <a:spcAft>
                <a:spcPts val="0"/>
              </a:spcAft>
              <a:buSzPts val="4000"/>
              <a:buNone/>
              <a:defRPr sz="4000"/>
            </a:lvl8pPr>
            <a:lvl9pPr lvl="8">
              <a:spcBef>
                <a:spcPts val="0"/>
              </a:spcBef>
              <a:spcAft>
                <a:spcPts val="0"/>
              </a:spcAft>
              <a:buSzPts val="4000"/>
              <a:buNone/>
              <a:defRPr sz="4000"/>
            </a:lvl9pPr>
          </a:lstStyle>
          <a:p/>
        </p:txBody>
      </p:sp>
      <p:sp>
        <p:nvSpPr>
          <p:cNvPr id="64" name="Google Shape;64;p16"/>
          <p:cNvSpPr txBox="1"/>
          <p:nvPr>
            <p:ph idx="1" type="subTitle"/>
          </p:nvPr>
        </p:nvSpPr>
        <p:spPr>
          <a:xfrm>
            <a:off x="5083950" y="3924925"/>
            <a:ext cx="3470700" cy="5061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SzPts val="1300"/>
              <a:buNone/>
              <a:defRPr/>
            </a:lvl1pPr>
            <a:lvl2pPr lvl="1">
              <a:lnSpc>
                <a:spcPct val="100000"/>
              </a:lnSpc>
              <a:spcBef>
                <a:spcPts val="0"/>
              </a:spcBef>
              <a:spcAft>
                <a:spcPts val="0"/>
              </a:spcAft>
              <a:buSzPts val="1300"/>
              <a:buNone/>
              <a:defRPr sz="1300"/>
            </a:lvl2pPr>
            <a:lvl3pPr lvl="2">
              <a:lnSpc>
                <a:spcPct val="100000"/>
              </a:lnSpc>
              <a:spcBef>
                <a:spcPts val="0"/>
              </a:spcBef>
              <a:spcAft>
                <a:spcPts val="0"/>
              </a:spcAft>
              <a:buSzPts val="1300"/>
              <a:buNone/>
              <a:defRPr sz="1300"/>
            </a:lvl3pPr>
            <a:lvl4pPr lvl="3">
              <a:lnSpc>
                <a:spcPct val="100000"/>
              </a:lnSpc>
              <a:spcBef>
                <a:spcPts val="0"/>
              </a:spcBef>
              <a:spcAft>
                <a:spcPts val="0"/>
              </a:spcAft>
              <a:buSzPts val="1300"/>
              <a:buNone/>
              <a:defRPr sz="1300"/>
            </a:lvl4pPr>
            <a:lvl5pPr lvl="4">
              <a:lnSpc>
                <a:spcPct val="100000"/>
              </a:lnSpc>
              <a:spcBef>
                <a:spcPts val="0"/>
              </a:spcBef>
              <a:spcAft>
                <a:spcPts val="0"/>
              </a:spcAft>
              <a:buSzPts val="1300"/>
              <a:buNone/>
              <a:defRPr sz="1300"/>
            </a:lvl5pPr>
            <a:lvl6pPr lvl="5">
              <a:lnSpc>
                <a:spcPct val="100000"/>
              </a:lnSpc>
              <a:spcBef>
                <a:spcPts val="0"/>
              </a:spcBef>
              <a:spcAft>
                <a:spcPts val="0"/>
              </a:spcAft>
              <a:buSzPts val="1300"/>
              <a:buNone/>
              <a:defRPr sz="1300"/>
            </a:lvl6pPr>
            <a:lvl7pPr lvl="6">
              <a:lnSpc>
                <a:spcPct val="100000"/>
              </a:lnSpc>
              <a:spcBef>
                <a:spcPts val="0"/>
              </a:spcBef>
              <a:spcAft>
                <a:spcPts val="0"/>
              </a:spcAft>
              <a:buSzPts val="1300"/>
              <a:buNone/>
              <a:defRPr sz="1300"/>
            </a:lvl7pPr>
            <a:lvl8pPr lvl="7">
              <a:lnSpc>
                <a:spcPct val="100000"/>
              </a:lnSpc>
              <a:spcBef>
                <a:spcPts val="0"/>
              </a:spcBef>
              <a:spcAft>
                <a:spcPts val="0"/>
              </a:spcAft>
              <a:buSzPts val="1300"/>
              <a:buNone/>
              <a:defRPr sz="1300"/>
            </a:lvl8pPr>
            <a:lvl9pPr lvl="8">
              <a:lnSpc>
                <a:spcPct val="100000"/>
              </a:lnSpc>
              <a:spcBef>
                <a:spcPts val="0"/>
              </a:spcBef>
              <a:spcAft>
                <a:spcPts val="0"/>
              </a:spcAft>
              <a:buSzPts val="1300"/>
              <a:buNone/>
              <a:defRPr sz="1300"/>
            </a:lvl9pPr>
          </a:lstStyle>
          <a:p/>
        </p:txBody>
      </p:sp>
      <p:sp>
        <p:nvSpPr>
          <p:cNvPr id="65" name="Google Shape;65;p1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66" name="Shape 66"/>
        <p:cNvGrpSpPr/>
        <p:nvPr/>
      </p:nvGrpSpPr>
      <p:grpSpPr>
        <a:xfrm>
          <a:off x="0" y="0"/>
          <a:ext cx="0" cy="0"/>
          <a:chOff x="0" y="0"/>
          <a:chExt cx="0" cy="0"/>
        </a:xfrm>
      </p:grpSpPr>
      <p:grpSp>
        <p:nvGrpSpPr>
          <p:cNvPr id="67" name="Google Shape;67;p17"/>
          <p:cNvGrpSpPr/>
          <p:nvPr/>
        </p:nvGrpSpPr>
        <p:grpSpPr>
          <a:xfrm>
            <a:off x="4406400" y="0"/>
            <a:ext cx="4737600" cy="5143065"/>
            <a:chOff x="4406400" y="0"/>
            <a:chExt cx="4737600" cy="5143065"/>
          </a:xfrm>
        </p:grpSpPr>
        <p:sp>
          <p:nvSpPr>
            <p:cNvPr id="68" name="Google Shape;68;p17"/>
            <p:cNvSpPr/>
            <p:nvPr/>
          </p:nvSpPr>
          <p:spPr>
            <a:xfrm rot="5400000">
              <a:off x="4408200" y="-1800"/>
              <a:ext cx="4734000" cy="4737600"/>
            </a:xfrm>
            <a:prstGeom prst="diagStripe">
              <a:avLst>
                <a:gd fmla="val 49469" name="adj"/>
              </a:avLst>
            </a:prstGeom>
            <a:solidFill>
              <a:schemeClr val="lt1">
                <a:alpha val="346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 name="Google Shape;69;p17"/>
            <p:cNvSpPr/>
            <p:nvPr/>
          </p:nvSpPr>
          <p:spPr>
            <a:xfrm rot="5400000">
              <a:off x="4841125" y="5700"/>
              <a:ext cx="4298100" cy="4286700"/>
            </a:xfrm>
            <a:prstGeom prst="diagStripe">
              <a:avLst>
                <a:gd fmla="val 0" name="adj"/>
              </a:avLst>
            </a:prstGeom>
            <a:solidFill>
              <a:schemeClr val="lt1">
                <a:alpha val="346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 name="Google Shape;70;p17"/>
            <p:cNvSpPr/>
            <p:nvPr/>
          </p:nvSpPr>
          <p:spPr>
            <a:xfrm rot="-5400000">
              <a:off x="5618399" y="1236468"/>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 name="Google Shape;71;p17"/>
            <p:cNvSpPr/>
            <p:nvPr/>
          </p:nvSpPr>
          <p:spPr>
            <a:xfrm flipH="1">
              <a:off x="5849857" y="1443956"/>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 name="Google Shape;72;p17"/>
            <p:cNvSpPr/>
            <p:nvPr/>
          </p:nvSpPr>
          <p:spPr>
            <a:xfrm rot="-5400000">
              <a:off x="5987081" y="246946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 name="Google Shape;73;p17"/>
            <p:cNvSpPr/>
            <p:nvPr/>
          </p:nvSpPr>
          <p:spPr>
            <a:xfrm flipH="1">
              <a:off x="6222115" y="267695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 name="Google Shape;74;p17"/>
            <p:cNvSpPr/>
            <p:nvPr/>
          </p:nvSpPr>
          <p:spPr>
            <a:xfrm rot="-5400000">
              <a:off x="6675341" y="1862018"/>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 name="Google Shape;75;p17"/>
            <p:cNvSpPr/>
            <p:nvPr/>
          </p:nvSpPr>
          <p:spPr>
            <a:xfrm flipH="1">
              <a:off x="6908099" y="2069505"/>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 name="Google Shape;76;p17"/>
            <p:cNvSpPr/>
            <p:nvPr/>
          </p:nvSpPr>
          <p:spPr>
            <a:xfrm rot="-5400000">
              <a:off x="6861141" y="2477810"/>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 name="Google Shape;77;p17"/>
            <p:cNvSpPr/>
            <p:nvPr/>
          </p:nvSpPr>
          <p:spPr>
            <a:xfrm flipH="1">
              <a:off x="7965266" y="269296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 name="Google Shape;78;p17"/>
            <p:cNvSpPr/>
            <p:nvPr/>
          </p:nvSpPr>
          <p:spPr>
            <a:xfrm flipH="1">
              <a:off x="8145082" y="330875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 name="Google Shape;79;p17"/>
            <p:cNvSpPr/>
            <p:nvPr/>
          </p:nvSpPr>
          <p:spPr>
            <a:xfrm rot="-5400000">
              <a:off x="7047599" y="309501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 name="Google Shape;80;p17"/>
            <p:cNvSpPr/>
            <p:nvPr/>
          </p:nvSpPr>
          <p:spPr>
            <a:xfrm flipH="1">
              <a:off x="7276649" y="3302502"/>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 name="Google Shape;81;p17"/>
            <p:cNvSpPr/>
            <p:nvPr/>
          </p:nvSpPr>
          <p:spPr>
            <a:xfrm rot="-5400000">
              <a:off x="7227414" y="3710807"/>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p17"/>
            <p:cNvSpPr/>
            <p:nvPr/>
          </p:nvSpPr>
          <p:spPr>
            <a:xfrm flipH="1">
              <a:off x="7462448" y="3918294"/>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 name="Google Shape;83;p17"/>
            <p:cNvSpPr/>
            <p:nvPr/>
          </p:nvSpPr>
          <p:spPr>
            <a:xfrm rot="-5400000">
              <a:off x="8102491" y="371847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 name="Google Shape;84;p17"/>
            <p:cNvSpPr/>
            <p:nvPr/>
          </p:nvSpPr>
          <p:spPr>
            <a:xfrm flipH="1">
              <a:off x="8334533" y="3925960"/>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 name="Google Shape;85;p17"/>
            <p:cNvSpPr/>
            <p:nvPr/>
          </p:nvSpPr>
          <p:spPr>
            <a:xfrm rot="-5400000">
              <a:off x="8288290" y="433426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86" name="Google Shape;86;p17"/>
          <p:cNvSpPr txBox="1"/>
          <p:nvPr>
            <p:ph type="title"/>
          </p:nvPr>
        </p:nvSpPr>
        <p:spPr>
          <a:xfrm>
            <a:off x="823850" y="2053000"/>
            <a:ext cx="4587000" cy="1148700"/>
          </a:xfrm>
          <a:prstGeom prst="rect">
            <a:avLst/>
          </a:prstGeom>
        </p:spPr>
        <p:txBody>
          <a:bodyPr anchorCtr="0" anchor="ctr"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87" name="Google Shape;87;p1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88" name="Shape 88"/>
        <p:cNvGrpSpPr/>
        <p:nvPr/>
      </p:nvGrpSpPr>
      <p:grpSpPr>
        <a:xfrm>
          <a:off x="0" y="0"/>
          <a:ext cx="0" cy="0"/>
          <a:chOff x="0" y="0"/>
          <a:chExt cx="0" cy="0"/>
        </a:xfrm>
      </p:grpSpPr>
      <p:grpSp>
        <p:nvGrpSpPr>
          <p:cNvPr id="89" name="Google Shape;89;p18"/>
          <p:cNvGrpSpPr/>
          <p:nvPr/>
        </p:nvGrpSpPr>
        <p:grpSpPr>
          <a:xfrm>
            <a:off x="0" y="381001"/>
            <a:ext cx="1037850" cy="1016287"/>
            <a:chOff x="0" y="381001"/>
            <a:chExt cx="1037850" cy="1016287"/>
          </a:xfrm>
        </p:grpSpPr>
        <p:sp>
          <p:nvSpPr>
            <p:cNvPr id="90" name="Google Shape;90;p18"/>
            <p:cNvSpPr/>
            <p:nvPr/>
          </p:nvSpPr>
          <p:spPr>
            <a:xfrm rot="-5400000">
              <a:off x="0" y="381001"/>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 name="Google Shape;91;p18"/>
            <p:cNvSpPr/>
            <p:nvPr/>
          </p:nvSpPr>
          <p:spPr>
            <a:xfrm flipH="1">
              <a:off x="229050" y="588489"/>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92" name="Google Shape;92;p18"/>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93" name="Google Shape;93;p18"/>
          <p:cNvSpPr txBox="1"/>
          <p:nvPr>
            <p:ph idx="1" type="body"/>
          </p:nvPr>
        </p:nvSpPr>
        <p:spPr>
          <a:xfrm>
            <a:off x="1297500" y="1567550"/>
            <a:ext cx="7038900" cy="29112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94" name="Google Shape;94;p1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95" name="Shape 95"/>
        <p:cNvGrpSpPr/>
        <p:nvPr/>
      </p:nvGrpSpPr>
      <p:grpSpPr>
        <a:xfrm>
          <a:off x="0" y="0"/>
          <a:ext cx="0" cy="0"/>
          <a:chOff x="0" y="0"/>
          <a:chExt cx="0" cy="0"/>
        </a:xfrm>
      </p:grpSpPr>
      <p:grpSp>
        <p:nvGrpSpPr>
          <p:cNvPr id="96" name="Google Shape;96;p19"/>
          <p:cNvGrpSpPr/>
          <p:nvPr/>
        </p:nvGrpSpPr>
        <p:grpSpPr>
          <a:xfrm>
            <a:off x="0" y="381001"/>
            <a:ext cx="1037850" cy="1016287"/>
            <a:chOff x="0" y="381001"/>
            <a:chExt cx="1037850" cy="1016287"/>
          </a:xfrm>
        </p:grpSpPr>
        <p:sp>
          <p:nvSpPr>
            <p:cNvPr id="97" name="Google Shape;97;p19"/>
            <p:cNvSpPr/>
            <p:nvPr/>
          </p:nvSpPr>
          <p:spPr>
            <a:xfrm rot="-5400000">
              <a:off x="0" y="381001"/>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 name="Google Shape;98;p19"/>
            <p:cNvSpPr/>
            <p:nvPr/>
          </p:nvSpPr>
          <p:spPr>
            <a:xfrm flipH="1">
              <a:off x="229050" y="588489"/>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99" name="Google Shape;99;p19"/>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100" name="Google Shape;100;p19"/>
          <p:cNvSpPr txBox="1"/>
          <p:nvPr>
            <p:ph idx="1" type="body"/>
          </p:nvPr>
        </p:nvSpPr>
        <p:spPr>
          <a:xfrm>
            <a:off x="1297500" y="1567550"/>
            <a:ext cx="3403200" cy="29112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101" name="Google Shape;101;p19"/>
          <p:cNvSpPr txBox="1"/>
          <p:nvPr>
            <p:ph idx="2" type="body"/>
          </p:nvPr>
        </p:nvSpPr>
        <p:spPr>
          <a:xfrm>
            <a:off x="4933221" y="1567550"/>
            <a:ext cx="3403200" cy="29112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102" name="Google Shape;102;p1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103" name="Shape 103"/>
        <p:cNvGrpSpPr/>
        <p:nvPr/>
      </p:nvGrpSpPr>
      <p:grpSpPr>
        <a:xfrm>
          <a:off x="0" y="0"/>
          <a:ext cx="0" cy="0"/>
          <a:chOff x="0" y="0"/>
          <a:chExt cx="0" cy="0"/>
        </a:xfrm>
      </p:grpSpPr>
      <p:grpSp>
        <p:nvGrpSpPr>
          <p:cNvPr id="104" name="Google Shape;104;p20"/>
          <p:cNvGrpSpPr/>
          <p:nvPr/>
        </p:nvGrpSpPr>
        <p:grpSpPr>
          <a:xfrm>
            <a:off x="0" y="381001"/>
            <a:ext cx="1037850" cy="1016287"/>
            <a:chOff x="0" y="381001"/>
            <a:chExt cx="1037850" cy="1016287"/>
          </a:xfrm>
        </p:grpSpPr>
        <p:sp>
          <p:nvSpPr>
            <p:cNvPr id="105" name="Google Shape;105;p20"/>
            <p:cNvSpPr/>
            <p:nvPr/>
          </p:nvSpPr>
          <p:spPr>
            <a:xfrm rot="-5400000">
              <a:off x="0" y="381001"/>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 name="Google Shape;106;p20"/>
            <p:cNvSpPr/>
            <p:nvPr/>
          </p:nvSpPr>
          <p:spPr>
            <a:xfrm flipH="1">
              <a:off x="229050" y="588489"/>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07" name="Google Shape;107;p20"/>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108" name="Google Shape;108;p2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109" name="Shape 109"/>
        <p:cNvGrpSpPr/>
        <p:nvPr/>
      </p:nvGrpSpPr>
      <p:grpSpPr>
        <a:xfrm>
          <a:off x="0" y="0"/>
          <a:ext cx="0" cy="0"/>
          <a:chOff x="0" y="0"/>
          <a:chExt cx="0" cy="0"/>
        </a:xfrm>
      </p:grpSpPr>
      <p:grpSp>
        <p:nvGrpSpPr>
          <p:cNvPr id="110" name="Google Shape;110;p21"/>
          <p:cNvGrpSpPr/>
          <p:nvPr/>
        </p:nvGrpSpPr>
        <p:grpSpPr>
          <a:xfrm>
            <a:off x="0" y="381001"/>
            <a:ext cx="1037850" cy="1016287"/>
            <a:chOff x="0" y="381001"/>
            <a:chExt cx="1037850" cy="1016287"/>
          </a:xfrm>
        </p:grpSpPr>
        <p:sp>
          <p:nvSpPr>
            <p:cNvPr id="111" name="Google Shape;111;p21"/>
            <p:cNvSpPr/>
            <p:nvPr/>
          </p:nvSpPr>
          <p:spPr>
            <a:xfrm rot="-5400000">
              <a:off x="0" y="381001"/>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 name="Google Shape;112;p21"/>
            <p:cNvSpPr/>
            <p:nvPr/>
          </p:nvSpPr>
          <p:spPr>
            <a:xfrm flipH="1">
              <a:off x="229050" y="588489"/>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13" name="Google Shape;113;p21"/>
          <p:cNvSpPr txBox="1"/>
          <p:nvPr>
            <p:ph type="title"/>
          </p:nvPr>
        </p:nvSpPr>
        <p:spPr>
          <a:xfrm>
            <a:off x="1297500" y="393750"/>
            <a:ext cx="3798900" cy="1493100"/>
          </a:xfrm>
          <a:prstGeom prst="rect">
            <a:avLst/>
          </a:prstGeom>
        </p:spPr>
        <p:txBody>
          <a:bodyPr anchorCtr="0" anchor="t"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114" name="Google Shape;114;p21"/>
          <p:cNvSpPr txBox="1"/>
          <p:nvPr>
            <p:ph idx="1" type="body"/>
          </p:nvPr>
        </p:nvSpPr>
        <p:spPr>
          <a:xfrm>
            <a:off x="1297500" y="1972550"/>
            <a:ext cx="3798900" cy="24159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115" name="Google Shape;115;p2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116" name="Shape 116"/>
        <p:cNvGrpSpPr/>
        <p:nvPr/>
      </p:nvGrpSpPr>
      <p:grpSpPr>
        <a:xfrm>
          <a:off x="0" y="0"/>
          <a:ext cx="0" cy="0"/>
          <a:chOff x="0" y="0"/>
          <a:chExt cx="0" cy="0"/>
        </a:xfrm>
      </p:grpSpPr>
      <p:grpSp>
        <p:nvGrpSpPr>
          <p:cNvPr id="117" name="Google Shape;117;p22"/>
          <p:cNvGrpSpPr/>
          <p:nvPr/>
        </p:nvGrpSpPr>
        <p:grpSpPr>
          <a:xfrm>
            <a:off x="4406400" y="0"/>
            <a:ext cx="4737600" cy="5143500"/>
            <a:chOff x="4406400" y="0"/>
            <a:chExt cx="4737600" cy="5143500"/>
          </a:xfrm>
        </p:grpSpPr>
        <p:sp>
          <p:nvSpPr>
            <p:cNvPr id="118" name="Google Shape;118;p22"/>
            <p:cNvSpPr/>
            <p:nvPr/>
          </p:nvSpPr>
          <p:spPr>
            <a:xfrm rot="5400000">
              <a:off x="4407900" y="-1500"/>
              <a:ext cx="4734600" cy="4737600"/>
            </a:xfrm>
            <a:prstGeom prst="diagStripe">
              <a:avLst>
                <a:gd fmla="val 49469" name="adj"/>
              </a:avLst>
            </a:prstGeom>
            <a:solidFill>
              <a:schemeClr val="lt1">
                <a:alpha val="346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 name="Google Shape;119;p22"/>
            <p:cNvSpPr/>
            <p:nvPr/>
          </p:nvSpPr>
          <p:spPr>
            <a:xfrm rot="5400000">
              <a:off x="4840825" y="6000"/>
              <a:ext cx="4298700" cy="4286700"/>
            </a:xfrm>
            <a:prstGeom prst="diagStripe">
              <a:avLst>
                <a:gd fmla="val 0" name="adj"/>
              </a:avLst>
            </a:prstGeom>
            <a:solidFill>
              <a:schemeClr val="lt1">
                <a:alpha val="346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 name="Google Shape;120;p22"/>
            <p:cNvSpPr/>
            <p:nvPr/>
          </p:nvSpPr>
          <p:spPr>
            <a:xfrm rot="-5400000">
              <a:off x="5618399" y="1236641"/>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 name="Google Shape;121;p22"/>
            <p:cNvSpPr/>
            <p:nvPr/>
          </p:nvSpPr>
          <p:spPr>
            <a:xfrm flipH="1">
              <a:off x="5849857" y="1444078"/>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 name="Google Shape;122;p22"/>
            <p:cNvSpPr/>
            <p:nvPr/>
          </p:nvSpPr>
          <p:spPr>
            <a:xfrm rot="-5400000">
              <a:off x="5987081" y="246974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 name="Google Shape;123;p22"/>
            <p:cNvSpPr/>
            <p:nvPr/>
          </p:nvSpPr>
          <p:spPr>
            <a:xfrm flipH="1">
              <a:off x="6222115" y="2677179"/>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 name="Google Shape;124;p22"/>
            <p:cNvSpPr/>
            <p:nvPr/>
          </p:nvSpPr>
          <p:spPr>
            <a:xfrm rot="-5400000">
              <a:off x="6675341" y="1862244"/>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 name="Google Shape;125;p22"/>
            <p:cNvSpPr/>
            <p:nvPr/>
          </p:nvSpPr>
          <p:spPr>
            <a:xfrm flipH="1">
              <a:off x="6908099" y="2069680"/>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 name="Google Shape;126;p22"/>
            <p:cNvSpPr/>
            <p:nvPr/>
          </p:nvSpPr>
          <p:spPr>
            <a:xfrm rot="-5400000">
              <a:off x="6861141" y="2478088"/>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 name="Google Shape;127;p22"/>
            <p:cNvSpPr/>
            <p:nvPr/>
          </p:nvSpPr>
          <p:spPr>
            <a:xfrm flipH="1">
              <a:off x="7965266" y="2693191"/>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 name="Google Shape;128;p22"/>
            <p:cNvSpPr/>
            <p:nvPr/>
          </p:nvSpPr>
          <p:spPr>
            <a:xfrm flipH="1">
              <a:off x="8145082" y="3309036"/>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 name="Google Shape;129;p22"/>
            <p:cNvSpPr/>
            <p:nvPr/>
          </p:nvSpPr>
          <p:spPr>
            <a:xfrm rot="-5400000">
              <a:off x="7047599" y="309534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 name="Google Shape;130;p22"/>
            <p:cNvSpPr/>
            <p:nvPr/>
          </p:nvSpPr>
          <p:spPr>
            <a:xfrm flipH="1">
              <a:off x="7276649" y="3302781"/>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 name="Google Shape;131;p22"/>
            <p:cNvSpPr/>
            <p:nvPr/>
          </p:nvSpPr>
          <p:spPr>
            <a:xfrm rot="-5400000">
              <a:off x="7227414" y="3711189"/>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 name="Google Shape;132;p22"/>
            <p:cNvSpPr/>
            <p:nvPr/>
          </p:nvSpPr>
          <p:spPr>
            <a:xfrm flipH="1">
              <a:off x="7462448" y="391862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 name="Google Shape;133;p22"/>
            <p:cNvSpPr/>
            <p:nvPr/>
          </p:nvSpPr>
          <p:spPr>
            <a:xfrm rot="-5400000">
              <a:off x="8102491" y="3718856"/>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 name="Google Shape;134;p22"/>
            <p:cNvSpPr/>
            <p:nvPr/>
          </p:nvSpPr>
          <p:spPr>
            <a:xfrm flipH="1">
              <a:off x="8334533" y="3926292"/>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 name="Google Shape;135;p22"/>
            <p:cNvSpPr/>
            <p:nvPr/>
          </p:nvSpPr>
          <p:spPr>
            <a:xfrm rot="-5400000">
              <a:off x="8288290" y="4334700"/>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36" name="Google Shape;136;p22"/>
          <p:cNvSpPr txBox="1"/>
          <p:nvPr>
            <p:ph type="title"/>
          </p:nvPr>
        </p:nvSpPr>
        <p:spPr>
          <a:xfrm>
            <a:off x="823850" y="866775"/>
            <a:ext cx="4587000" cy="3521100"/>
          </a:xfrm>
          <a:prstGeom prst="rect">
            <a:avLst/>
          </a:prstGeom>
        </p:spPr>
        <p:txBody>
          <a:bodyPr anchorCtr="0" anchor="ctr"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37" name="Google Shape;137;p2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138" name="Shape 138"/>
        <p:cNvGrpSpPr/>
        <p:nvPr/>
      </p:nvGrpSpPr>
      <p:grpSpPr>
        <a:xfrm>
          <a:off x="0" y="0"/>
          <a:ext cx="0" cy="0"/>
          <a:chOff x="0" y="0"/>
          <a:chExt cx="0" cy="0"/>
        </a:xfrm>
      </p:grpSpPr>
      <p:grpSp>
        <p:nvGrpSpPr>
          <p:cNvPr id="139" name="Google Shape;139;p23"/>
          <p:cNvGrpSpPr/>
          <p:nvPr/>
        </p:nvGrpSpPr>
        <p:grpSpPr>
          <a:xfrm>
            <a:off x="0" y="381001"/>
            <a:ext cx="1037850" cy="1016287"/>
            <a:chOff x="0" y="381001"/>
            <a:chExt cx="1037850" cy="1016287"/>
          </a:xfrm>
        </p:grpSpPr>
        <p:sp>
          <p:nvSpPr>
            <p:cNvPr id="140" name="Google Shape;140;p23"/>
            <p:cNvSpPr/>
            <p:nvPr/>
          </p:nvSpPr>
          <p:spPr>
            <a:xfrm rot="-5400000">
              <a:off x="0" y="381001"/>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 name="Google Shape;141;p23"/>
            <p:cNvSpPr/>
            <p:nvPr/>
          </p:nvSpPr>
          <p:spPr>
            <a:xfrm flipH="1">
              <a:off x="229050" y="588489"/>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42" name="Google Shape;142;p23"/>
          <p:cNvSpPr txBox="1"/>
          <p:nvPr>
            <p:ph type="title"/>
          </p:nvPr>
        </p:nvSpPr>
        <p:spPr>
          <a:xfrm>
            <a:off x="1297500" y="1658325"/>
            <a:ext cx="3036300" cy="1751700"/>
          </a:xfrm>
          <a:prstGeom prst="rect">
            <a:avLst/>
          </a:prstGeom>
        </p:spPr>
        <p:txBody>
          <a:bodyPr anchorCtr="0" anchor="t"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143" name="Google Shape;143;p23"/>
          <p:cNvSpPr txBox="1"/>
          <p:nvPr>
            <p:ph idx="1" type="subTitle"/>
          </p:nvPr>
        </p:nvSpPr>
        <p:spPr>
          <a:xfrm>
            <a:off x="1297500" y="3538000"/>
            <a:ext cx="3036300" cy="5061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SzPts val="1300"/>
              <a:buNone/>
              <a:defRPr/>
            </a:lvl1pPr>
            <a:lvl2pPr lvl="1">
              <a:lnSpc>
                <a:spcPct val="100000"/>
              </a:lnSpc>
              <a:spcBef>
                <a:spcPts val="0"/>
              </a:spcBef>
              <a:spcAft>
                <a:spcPts val="0"/>
              </a:spcAft>
              <a:buSzPts val="1300"/>
              <a:buNone/>
              <a:defRPr sz="1300"/>
            </a:lvl2pPr>
            <a:lvl3pPr lvl="2">
              <a:lnSpc>
                <a:spcPct val="100000"/>
              </a:lnSpc>
              <a:spcBef>
                <a:spcPts val="0"/>
              </a:spcBef>
              <a:spcAft>
                <a:spcPts val="0"/>
              </a:spcAft>
              <a:buSzPts val="1300"/>
              <a:buNone/>
              <a:defRPr sz="1300"/>
            </a:lvl3pPr>
            <a:lvl4pPr lvl="3">
              <a:lnSpc>
                <a:spcPct val="100000"/>
              </a:lnSpc>
              <a:spcBef>
                <a:spcPts val="0"/>
              </a:spcBef>
              <a:spcAft>
                <a:spcPts val="0"/>
              </a:spcAft>
              <a:buSzPts val="1300"/>
              <a:buNone/>
              <a:defRPr sz="1300"/>
            </a:lvl4pPr>
            <a:lvl5pPr lvl="4">
              <a:lnSpc>
                <a:spcPct val="100000"/>
              </a:lnSpc>
              <a:spcBef>
                <a:spcPts val="0"/>
              </a:spcBef>
              <a:spcAft>
                <a:spcPts val="0"/>
              </a:spcAft>
              <a:buSzPts val="1300"/>
              <a:buNone/>
              <a:defRPr sz="1300"/>
            </a:lvl5pPr>
            <a:lvl6pPr lvl="5">
              <a:lnSpc>
                <a:spcPct val="100000"/>
              </a:lnSpc>
              <a:spcBef>
                <a:spcPts val="0"/>
              </a:spcBef>
              <a:spcAft>
                <a:spcPts val="0"/>
              </a:spcAft>
              <a:buSzPts val="1300"/>
              <a:buNone/>
              <a:defRPr sz="1300"/>
            </a:lvl6pPr>
            <a:lvl7pPr lvl="6">
              <a:lnSpc>
                <a:spcPct val="100000"/>
              </a:lnSpc>
              <a:spcBef>
                <a:spcPts val="0"/>
              </a:spcBef>
              <a:spcAft>
                <a:spcPts val="0"/>
              </a:spcAft>
              <a:buSzPts val="1300"/>
              <a:buNone/>
              <a:defRPr sz="1300"/>
            </a:lvl7pPr>
            <a:lvl8pPr lvl="7">
              <a:lnSpc>
                <a:spcPct val="100000"/>
              </a:lnSpc>
              <a:spcBef>
                <a:spcPts val="0"/>
              </a:spcBef>
              <a:spcAft>
                <a:spcPts val="0"/>
              </a:spcAft>
              <a:buSzPts val="1300"/>
              <a:buNone/>
              <a:defRPr sz="1300"/>
            </a:lvl8pPr>
            <a:lvl9pPr lvl="8">
              <a:lnSpc>
                <a:spcPct val="100000"/>
              </a:lnSpc>
              <a:spcBef>
                <a:spcPts val="0"/>
              </a:spcBef>
              <a:spcAft>
                <a:spcPts val="0"/>
              </a:spcAft>
              <a:buSzPts val="1300"/>
              <a:buNone/>
              <a:defRPr sz="1300"/>
            </a:lvl9pPr>
          </a:lstStyle>
          <a:p/>
        </p:txBody>
      </p:sp>
      <p:sp>
        <p:nvSpPr>
          <p:cNvPr id="144" name="Google Shape;144;p23"/>
          <p:cNvSpPr txBox="1"/>
          <p:nvPr>
            <p:ph idx="2" type="body"/>
          </p:nvPr>
        </p:nvSpPr>
        <p:spPr>
          <a:xfrm>
            <a:off x="4648200" y="1696600"/>
            <a:ext cx="3676800" cy="23475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145" name="Google Shape;145;p2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146" name="Shape 146"/>
        <p:cNvGrpSpPr/>
        <p:nvPr/>
      </p:nvGrpSpPr>
      <p:grpSpPr>
        <a:xfrm>
          <a:off x="0" y="0"/>
          <a:ext cx="0" cy="0"/>
          <a:chOff x="0" y="0"/>
          <a:chExt cx="0" cy="0"/>
        </a:xfrm>
      </p:grpSpPr>
      <p:grpSp>
        <p:nvGrpSpPr>
          <p:cNvPr id="147" name="Google Shape;147;p24"/>
          <p:cNvGrpSpPr/>
          <p:nvPr/>
        </p:nvGrpSpPr>
        <p:grpSpPr>
          <a:xfrm>
            <a:off x="0" y="4128572"/>
            <a:ext cx="698925" cy="684657"/>
            <a:chOff x="0" y="3785672"/>
            <a:chExt cx="698925" cy="684657"/>
          </a:xfrm>
        </p:grpSpPr>
        <p:sp>
          <p:nvSpPr>
            <p:cNvPr id="148" name="Google Shape;148;p24"/>
            <p:cNvSpPr/>
            <p:nvPr/>
          </p:nvSpPr>
          <p:spPr>
            <a:xfrm rot="-5400000">
              <a:off x="0" y="3785672"/>
              <a:ext cx="544800" cy="544800"/>
            </a:xfrm>
            <a:prstGeom prst="diagStripe">
              <a:avLst>
                <a:gd fmla="val 50000" name="adj"/>
              </a:avLst>
            </a:prstGeom>
            <a:solidFill>
              <a:schemeClr val="lt1">
                <a:alpha val="96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 name="Google Shape;149;p24"/>
            <p:cNvSpPr/>
            <p:nvPr/>
          </p:nvSpPr>
          <p:spPr>
            <a:xfrm flipH="1">
              <a:off x="154125" y="3925529"/>
              <a:ext cx="544800" cy="544800"/>
            </a:xfrm>
            <a:prstGeom prst="diagStripe">
              <a:avLst>
                <a:gd fmla="val 50000" name="adj"/>
              </a:avLst>
            </a:prstGeom>
            <a:solidFill>
              <a:schemeClr val="lt1">
                <a:alpha val="96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50" name="Google Shape;150;p24"/>
          <p:cNvSpPr txBox="1"/>
          <p:nvPr>
            <p:ph idx="1" type="body"/>
          </p:nvPr>
        </p:nvSpPr>
        <p:spPr>
          <a:xfrm>
            <a:off x="812725" y="4305375"/>
            <a:ext cx="6936000" cy="5238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300"/>
              <a:buNone/>
              <a:defRPr/>
            </a:lvl1pPr>
          </a:lstStyle>
          <a:p/>
        </p:txBody>
      </p:sp>
      <p:sp>
        <p:nvSpPr>
          <p:cNvPr id="151" name="Google Shape;151;p2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152" name="Shape 152"/>
        <p:cNvGrpSpPr/>
        <p:nvPr/>
      </p:nvGrpSpPr>
      <p:grpSpPr>
        <a:xfrm>
          <a:off x="0" y="0"/>
          <a:ext cx="0" cy="0"/>
          <a:chOff x="0" y="0"/>
          <a:chExt cx="0" cy="0"/>
        </a:xfrm>
      </p:grpSpPr>
      <p:grpSp>
        <p:nvGrpSpPr>
          <p:cNvPr id="153" name="Google Shape;153;p25"/>
          <p:cNvGrpSpPr/>
          <p:nvPr/>
        </p:nvGrpSpPr>
        <p:grpSpPr>
          <a:xfrm>
            <a:off x="4406400" y="0"/>
            <a:ext cx="4737600" cy="5143065"/>
            <a:chOff x="4406400" y="0"/>
            <a:chExt cx="4737600" cy="5143065"/>
          </a:xfrm>
        </p:grpSpPr>
        <p:sp>
          <p:nvSpPr>
            <p:cNvPr id="154" name="Google Shape;154;p25"/>
            <p:cNvSpPr/>
            <p:nvPr/>
          </p:nvSpPr>
          <p:spPr>
            <a:xfrm rot="5400000">
              <a:off x="4408200" y="-1800"/>
              <a:ext cx="4734000" cy="4737600"/>
            </a:xfrm>
            <a:prstGeom prst="diagStripe">
              <a:avLst>
                <a:gd fmla="val 49469" name="adj"/>
              </a:avLst>
            </a:prstGeom>
            <a:solidFill>
              <a:schemeClr val="lt1">
                <a:alpha val="346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5" name="Google Shape;155;p25"/>
            <p:cNvSpPr/>
            <p:nvPr/>
          </p:nvSpPr>
          <p:spPr>
            <a:xfrm rot="5400000">
              <a:off x="4841125" y="5700"/>
              <a:ext cx="4298100" cy="4286700"/>
            </a:xfrm>
            <a:prstGeom prst="diagStripe">
              <a:avLst>
                <a:gd fmla="val 0" name="adj"/>
              </a:avLst>
            </a:prstGeom>
            <a:solidFill>
              <a:schemeClr val="lt1">
                <a:alpha val="346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 name="Google Shape;156;p25"/>
            <p:cNvSpPr/>
            <p:nvPr/>
          </p:nvSpPr>
          <p:spPr>
            <a:xfrm rot="-5400000">
              <a:off x="5618399" y="1236468"/>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7" name="Google Shape;157;p25"/>
            <p:cNvSpPr/>
            <p:nvPr/>
          </p:nvSpPr>
          <p:spPr>
            <a:xfrm flipH="1">
              <a:off x="5849857" y="1443956"/>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8" name="Google Shape;158;p25"/>
            <p:cNvSpPr/>
            <p:nvPr/>
          </p:nvSpPr>
          <p:spPr>
            <a:xfrm rot="-5400000">
              <a:off x="5987081" y="246946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9" name="Google Shape;159;p25"/>
            <p:cNvSpPr/>
            <p:nvPr/>
          </p:nvSpPr>
          <p:spPr>
            <a:xfrm flipH="1">
              <a:off x="6222115" y="267695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0" name="Google Shape;160;p25"/>
            <p:cNvSpPr/>
            <p:nvPr/>
          </p:nvSpPr>
          <p:spPr>
            <a:xfrm rot="-5400000">
              <a:off x="6675341" y="1862018"/>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 name="Google Shape;161;p25"/>
            <p:cNvSpPr/>
            <p:nvPr/>
          </p:nvSpPr>
          <p:spPr>
            <a:xfrm flipH="1">
              <a:off x="6908099" y="2069505"/>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 name="Google Shape;162;p25"/>
            <p:cNvSpPr/>
            <p:nvPr/>
          </p:nvSpPr>
          <p:spPr>
            <a:xfrm rot="-5400000">
              <a:off x="6861141" y="2477810"/>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3" name="Google Shape;163;p25"/>
            <p:cNvSpPr/>
            <p:nvPr/>
          </p:nvSpPr>
          <p:spPr>
            <a:xfrm flipH="1">
              <a:off x="7965266" y="269296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4" name="Google Shape;164;p25"/>
            <p:cNvSpPr/>
            <p:nvPr/>
          </p:nvSpPr>
          <p:spPr>
            <a:xfrm flipH="1">
              <a:off x="8145082" y="330875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 name="Google Shape;165;p25"/>
            <p:cNvSpPr/>
            <p:nvPr/>
          </p:nvSpPr>
          <p:spPr>
            <a:xfrm rot="-5400000">
              <a:off x="7047599" y="309501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 name="Google Shape;166;p25"/>
            <p:cNvSpPr/>
            <p:nvPr/>
          </p:nvSpPr>
          <p:spPr>
            <a:xfrm flipH="1">
              <a:off x="7276649" y="3302502"/>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 name="Google Shape;167;p25"/>
            <p:cNvSpPr/>
            <p:nvPr/>
          </p:nvSpPr>
          <p:spPr>
            <a:xfrm rot="-5400000">
              <a:off x="7227414" y="3710807"/>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 name="Google Shape;168;p25"/>
            <p:cNvSpPr/>
            <p:nvPr/>
          </p:nvSpPr>
          <p:spPr>
            <a:xfrm flipH="1">
              <a:off x="7462448" y="3918294"/>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9" name="Google Shape;169;p25"/>
            <p:cNvSpPr/>
            <p:nvPr/>
          </p:nvSpPr>
          <p:spPr>
            <a:xfrm rot="-5400000">
              <a:off x="8102491" y="371847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0" name="Google Shape;170;p25"/>
            <p:cNvSpPr/>
            <p:nvPr/>
          </p:nvSpPr>
          <p:spPr>
            <a:xfrm flipH="1">
              <a:off x="8334533" y="3925960"/>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1" name="Google Shape;171;p25"/>
            <p:cNvSpPr/>
            <p:nvPr/>
          </p:nvSpPr>
          <p:spPr>
            <a:xfrm rot="-5400000">
              <a:off x="8288290" y="433426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72" name="Google Shape;172;p25"/>
          <p:cNvSpPr txBox="1"/>
          <p:nvPr>
            <p:ph hasCustomPrompt="1" type="title"/>
          </p:nvPr>
        </p:nvSpPr>
        <p:spPr>
          <a:xfrm>
            <a:off x="823850" y="1284675"/>
            <a:ext cx="4776000" cy="1300800"/>
          </a:xfrm>
          <a:prstGeom prst="rect">
            <a:avLst/>
          </a:prstGeom>
        </p:spPr>
        <p:txBody>
          <a:bodyPr anchorCtr="0" anchor="t" bIns="91425" lIns="91425" spcFirstLastPara="1" rIns="91425" wrap="square" tIns="91425">
            <a:normAutofit/>
          </a:bodyPr>
          <a:lstStyle>
            <a:lvl1pPr lvl="0">
              <a:spcBef>
                <a:spcPts val="0"/>
              </a:spcBef>
              <a:spcAft>
                <a:spcPts val="0"/>
              </a:spcAft>
              <a:buSzPts val="8000"/>
              <a:buNone/>
              <a:defRPr sz="8000"/>
            </a:lvl1pPr>
            <a:lvl2pPr lvl="1">
              <a:spcBef>
                <a:spcPts val="0"/>
              </a:spcBef>
              <a:spcAft>
                <a:spcPts val="0"/>
              </a:spcAft>
              <a:buSzPts val="8000"/>
              <a:buNone/>
              <a:defRPr sz="8000"/>
            </a:lvl2pPr>
            <a:lvl3pPr lvl="2">
              <a:spcBef>
                <a:spcPts val="0"/>
              </a:spcBef>
              <a:spcAft>
                <a:spcPts val="0"/>
              </a:spcAft>
              <a:buSzPts val="8000"/>
              <a:buNone/>
              <a:defRPr sz="8000"/>
            </a:lvl3pPr>
            <a:lvl4pPr lvl="3">
              <a:spcBef>
                <a:spcPts val="0"/>
              </a:spcBef>
              <a:spcAft>
                <a:spcPts val="0"/>
              </a:spcAft>
              <a:buSzPts val="8000"/>
              <a:buNone/>
              <a:defRPr sz="8000"/>
            </a:lvl4pPr>
            <a:lvl5pPr lvl="4">
              <a:spcBef>
                <a:spcPts val="0"/>
              </a:spcBef>
              <a:spcAft>
                <a:spcPts val="0"/>
              </a:spcAft>
              <a:buSzPts val="8000"/>
              <a:buNone/>
              <a:defRPr sz="8000"/>
            </a:lvl5pPr>
            <a:lvl6pPr lvl="5">
              <a:spcBef>
                <a:spcPts val="0"/>
              </a:spcBef>
              <a:spcAft>
                <a:spcPts val="0"/>
              </a:spcAft>
              <a:buSzPts val="8000"/>
              <a:buNone/>
              <a:defRPr sz="8000"/>
            </a:lvl6pPr>
            <a:lvl7pPr lvl="6">
              <a:spcBef>
                <a:spcPts val="0"/>
              </a:spcBef>
              <a:spcAft>
                <a:spcPts val="0"/>
              </a:spcAft>
              <a:buSzPts val="8000"/>
              <a:buNone/>
              <a:defRPr sz="8000"/>
            </a:lvl7pPr>
            <a:lvl8pPr lvl="7">
              <a:spcBef>
                <a:spcPts val="0"/>
              </a:spcBef>
              <a:spcAft>
                <a:spcPts val="0"/>
              </a:spcAft>
              <a:buSzPts val="8000"/>
              <a:buNone/>
              <a:defRPr sz="8000"/>
            </a:lvl8pPr>
            <a:lvl9pPr lvl="8">
              <a:spcBef>
                <a:spcPts val="0"/>
              </a:spcBef>
              <a:spcAft>
                <a:spcPts val="0"/>
              </a:spcAft>
              <a:buSzPts val="8000"/>
              <a:buNone/>
              <a:defRPr sz="8000"/>
            </a:lvl9pPr>
          </a:lstStyle>
          <a:p>
            <a:r>
              <a:t>xx%</a:t>
            </a:r>
          </a:p>
        </p:txBody>
      </p:sp>
      <p:sp>
        <p:nvSpPr>
          <p:cNvPr id="173" name="Google Shape;173;p25"/>
          <p:cNvSpPr txBox="1"/>
          <p:nvPr>
            <p:ph idx="1" type="body"/>
          </p:nvPr>
        </p:nvSpPr>
        <p:spPr>
          <a:xfrm>
            <a:off x="823850" y="2643124"/>
            <a:ext cx="4776000" cy="12189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174" name="Google Shape;174;p2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75" name="Shape 175"/>
        <p:cNvGrpSpPr/>
        <p:nvPr/>
      </p:nvGrpSpPr>
      <p:grpSpPr>
        <a:xfrm>
          <a:off x="0" y="0"/>
          <a:ext cx="0" cy="0"/>
          <a:chOff x="0" y="0"/>
          <a:chExt cx="0" cy="0"/>
        </a:xfrm>
      </p:grpSpPr>
      <p:sp>
        <p:nvSpPr>
          <p:cNvPr id="176" name="Google Shape;176;p2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177" name="Shape 177"/>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11" Type="http://schemas.openxmlformats.org/officeDocument/2006/relationships/slideLayout" Target="../slideLayouts/slideLayout23.xml"/><Relationship Id="rId10" Type="http://schemas.openxmlformats.org/officeDocument/2006/relationships/slideLayout" Target="../slideLayouts/slideLayout22.xml"/><Relationship Id="rId13" Type="http://schemas.openxmlformats.org/officeDocument/2006/relationships/theme" Target="../theme/theme3.xml"/><Relationship Id="rId12" Type="http://schemas.openxmlformats.org/officeDocument/2006/relationships/slideLayout" Target="../slideLayouts/slideLayout24.xml"/><Relationship Id="rId1" Type="http://schemas.openxmlformats.org/officeDocument/2006/relationships/slideLayout" Target="../slideLayouts/slideLayout13.xml"/><Relationship Id="rId2" Type="http://schemas.openxmlformats.org/officeDocument/2006/relationships/slideLayout" Target="../slideLayouts/slideLayout14.xml"/><Relationship Id="rId3" Type="http://schemas.openxmlformats.org/officeDocument/2006/relationships/slideLayout" Target="../slideLayouts/slideLayout15.xml"/><Relationship Id="rId4" Type="http://schemas.openxmlformats.org/officeDocument/2006/relationships/slideLayout" Target="../slideLayouts/slideLayout16.xml"/><Relationship Id="rId9" Type="http://schemas.openxmlformats.org/officeDocument/2006/relationships/slideLayout" Target="../slideLayouts/slideLayout21.xml"/><Relationship Id="rId5" Type="http://schemas.openxmlformats.org/officeDocument/2006/relationships/slideLayout" Target="../slideLayouts/slideLayout17.xml"/><Relationship Id="rId6" Type="http://schemas.openxmlformats.org/officeDocument/2006/relationships/slideLayout" Target="../slideLayouts/slideLayout18.xml"/><Relationship Id="rId7" Type="http://schemas.openxmlformats.org/officeDocument/2006/relationships/slideLayout" Target="../slideLayouts/slideLayout19.xml"/><Relationship Id="rId8"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0" name="Shape 50"/>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59"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3.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focus">
    <p:bg>
      <p:bgPr>
        <a:solidFill>
          <a:schemeClr val="dk1"/>
        </a:solidFill>
      </p:bgPr>
    </p:bg>
    <p:spTree>
      <p:nvGrpSpPr>
        <p:cNvPr id="52" name="Shape 52"/>
        <p:cNvGrpSpPr/>
        <p:nvPr/>
      </p:nvGrpSpPr>
      <p:grpSpPr>
        <a:xfrm>
          <a:off x="0" y="0"/>
          <a:ext cx="0" cy="0"/>
          <a:chOff x="0" y="0"/>
          <a:chExt cx="0" cy="0"/>
        </a:xfrm>
      </p:grpSpPr>
      <p:sp>
        <p:nvSpPr>
          <p:cNvPr id="53" name="Google Shape;53;p15"/>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1pPr>
            <a:lvl2pPr lvl="1">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2pPr>
            <a:lvl3pPr lvl="2">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3pPr>
            <a:lvl4pPr lvl="3">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4pPr>
            <a:lvl5pPr lvl="4">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5pPr>
            <a:lvl6pPr lvl="5">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6pPr>
            <a:lvl7pPr lvl="6">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7pPr>
            <a:lvl8pPr lvl="7">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8pPr>
            <a:lvl9pPr lvl="8">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9pPr>
          </a:lstStyle>
          <a:p/>
        </p:txBody>
      </p:sp>
      <p:sp>
        <p:nvSpPr>
          <p:cNvPr id="54" name="Google Shape;54;p15"/>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11150" lvl="0" marL="457200">
              <a:lnSpc>
                <a:spcPct val="115000"/>
              </a:lnSpc>
              <a:spcBef>
                <a:spcPts val="0"/>
              </a:spcBef>
              <a:spcAft>
                <a:spcPts val="0"/>
              </a:spcAft>
              <a:buClr>
                <a:schemeClr val="lt1"/>
              </a:buClr>
              <a:buSzPts val="1300"/>
              <a:buFont typeface="Lato"/>
              <a:buChar char="●"/>
              <a:defRPr sz="1300">
                <a:solidFill>
                  <a:schemeClr val="lt1"/>
                </a:solidFill>
                <a:latin typeface="Lato"/>
                <a:ea typeface="Lato"/>
                <a:cs typeface="Lato"/>
                <a:sym typeface="Lato"/>
              </a:defRPr>
            </a:lvl1pPr>
            <a:lvl2pPr indent="-298450" lvl="1" marL="9144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2pPr>
            <a:lvl3pPr indent="-298450" lvl="2" marL="13716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3pPr>
            <a:lvl4pPr indent="-298450" lvl="3" marL="18288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4pPr>
            <a:lvl5pPr indent="-298450" lvl="4" marL="22860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5pPr>
            <a:lvl6pPr indent="-298450" lvl="5" marL="27432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6pPr>
            <a:lvl7pPr indent="-298450" lvl="6" marL="32004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7pPr>
            <a:lvl8pPr indent="-298450" lvl="7" marL="36576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8pPr>
            <a:lvl9pPr indent="-298450" lvl="8" marL="41148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9pPr>
          </a:lstStyle>
          <a:p/>
        </p:txBody>
      </p:sp>
      <p:sp>
        <p:nvSpPr>
          <p:cNvPr id="55" name="Google Shape;55;p15"/>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lt1"/>
                </a:solidFill>
                <a:latin typeface="Lato"/>
                <a:ea typeface="Lato"/>
                <a:cs typeface="Lato"/>
                <a:sym typeface="Lato"/>
              </a:defRPr>
            </a:lvl1pPr>
            <a:lvl2pPr lvl="1" algn="r">
              <a:buNone/>
              <a:defRPr sz="1000">
                <a:solidFill>
                  <a:schemeClr val="lt1"/>
                </a:solidFill>
                <a:latin typeface="Lato"/>
                <a:ea typeface="Lato"/>
                <a:cs typeface="Lato"/>
                <a:sym typeface="Lato"/>
              </a:defRPr>
            </a:lvl2pPr>
            <a:lvl3pPr lvl="2" algn="r">
              <a:buNone/>
              <a:defRPr sz="1000">
                <a:solidFill>
                  <a:schemeClr val="lt1"/>
                </a:solidFill>
                <a:latin typeface="Lato"/>
                <a:ea typeface="Lato"/>
                <a:cs typeface="Lato"/>
                <a:sym typeface="Lato"/>
              </a:defRPr>
            </a:lvl3pPr>
            <a:lvl4pPr lvl="3" algn="r">
              <a:buNone/>
              <a:defRPr sz="1000">
                <a:solidFill>
                  <a:schemeClr val="lt1"/>
                </a:solidFill>
                <a:latin typeface="Lato"/>
                <a:ea typeface="Lato"/>
                <a:cs typeface="Lato"/>
                <a:sym typeface="Lato"/>
              </a:defRPr>
            </a:lvl4pPr>
            <a:lvl5pPr lvl="4" algn="r">
              <a:buNone/>
              <a:defRPr sz="1000">
                <a:solidFill>
                  <a:schemeClr val="lt1"/>
                </a:solidFill>
                <a:latin typeface="Lato"/>
                <a:ea typeface="Lato"/>
                <a:cs typeface="Lato"/>
                <a:sym typeface="Lato"/>
              </a:defRPr>
            </a:lvl5pPr>
            <a:lvl6pPr lvl="5" algn="r">
              <a:buNone/>
              <a:defRPr sz="1000">
                <a:solidFill>
                  <a:schemeClr val="lt1"/>
                </a:solidFill>
                <a:latin typeface="Lato"/>
                <a:ea typeface="Lato"/>
                <a:cs typeface="Lato"/>
                <a:sym typeface="Lato"/>
              </a:defRPr>
            </a:lvl6pPr>
            <a:lvl7pPr lvl="6" algn="r">
              <a:buNone/>
              <a:defRPr sz="1000">
                <a:solidFill>
                  <a:schemeClr val="lt1"/>
                </a:solidFill>
                <a:latin typeface="Lato"/>
                <a:ea typeface="Lato"/>
                <a:cs typeface="Lato"/>
                <a:sym typeface="Lato"/>
              </a:defRPr>
            </a:lvl7pPr>
            <a:lvl8pPr lvl="7" algn="r">
              <a:buNone/>
              <a:defRPr sz="1000">
                <a:solidFill>
                  <a:schemeClr val="lt1"/>
                </a:solidFill>
                <a:latin typeface="Lato"/>
                <a:ea typeface="Lato"/>
                <a:cs typeface="Lato"/>
                <a:sym typeface="Lato"/>
              </a:defRPr>
            </a:lvl8pPr>
            <a:lvl9pPr lvl="8" algn="r">
              <a:buNone/>
              <a:defRPr sz="1000">
                <a:solidFill>
                  <a:schemeClr val="l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60" r:id="rId1"/>
    <p:sldLayoutId id="2147483661" r:id="rId2"/>
    <p:sldLayoutId id="2147483662" r:id="rId3"/>
    <p:sldLayoutId id="2147483663" r:id="rId4"/>
    <p:sldLayoutId id="2147483664" r:id="rId5"/>
    <p:sldLayoutId id="2147483665" r:id="rId6"/>
    <p:sldLayoutId id="2147483666" r:id="rId7"/>
    <p:sldLayoutId id="2147483667" r:id="rId8"/>
    <p:sldLayoutId id="2147483668" r:id="rId9"/>
    <p:sldLayoutId id="2147483669" r:id="rId10"/>
    <p:sldLayoutId id="2147483670" r:id="rId11"/>
    <p:sldLayoutId id="2147483671"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7.xml"/><Relationship Id="rId3" Type="http://schemas.openxmlformats.org/officeDocument/2006/relationships/image" Target="../media/image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E2761"/>
        </a:solidFill>
      </p:bgPr>
    </p:bg>
    <p:spTree>
      <p:nvGrpSpPr>
        <p:cNvPr id="182" name="Shape 182"/>
        <p:cNvGrpSpPr/>
        <p:nvPr/>
      </p:nvGrpSpPr>
      <p:grpSpPr>
        <a:xfrm>
          <a:off x="0" y="0"/>
          <a:ext cx="0" cy="0"/>
          <a:chOff x="0" y="0"/>
          <a:chExt cx="0" cy="0"/>
        </a:xfrm>
      </p:grpSpPr>
      <p:sp>
        <p:nvSpPr>
          <p:cNvPr id="183" name="Google Shape;183;p28"/>
          <p:cNvSpPr/>
          <p:nvPr/>
        </p:nvSpPr>
        <p:spPr>
          <a:xfrm>
            <a:off x="1204525" y="1337313"/>
            <a:ext cx="6795300" cy="13716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5400"/>
              <a:buFont typeface="Calibri"/>
              <a:buNone/>
            </a:pPr>
            <a:r>
              <a:rPr b="1" lang="en" sz="3900">
                <a:solidFill>
                  <a:srgbClr val="FFFFFF"/>
                </a:solidFill>
                <a:latin typeface="Calibri"/>
                <a:ea typeface="Calibri"/>
                <a:cs typeface="Calibri"/>
                <a:sym typeface="Calibri"/>
              </a:rPr>
              <a:t>Automated Customer Reviews</a:t>
            </a:r>
            <a:endParaRPr b="0" i="0" sz="3900" u="none" cap="none" strike="noStrike">
              <a:solidFill>
                <a:schemeClr val="dk1"/>
              </a:solidFill>
              <a:latin typeface="Calibri"/>
              <a:ea typeface="Calibri"/>
              <a:cs typeface="Calibri"/>
              <a:sym typeface="Calibri"/>
            </a:endParaRPr>
          </a:p>
        </p:txBody>
      </p:sp>
      <p:sp>
        <p:nvSpPr>
          <p:cNvPr id="184" name="Google Shape;184;p28"/>
          <p:cNvSpPr/>
          <p:nvPr/>
        </p:nvSpPr>
        <p:spPr>
          <a:xfrm>
            <a:off x="457200" y="2526039"/>
            <a:ext cx="8229600" cy="7008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CADCFC"/>
              </a:buClr>
              <a:buSzPts val="2400"/>
              <a:buFont typeface="Calibri"/>
              <a:buNone/>
            </a:pPr>
            <a:r>
              <a:rPr lang="en" sz="2400">
                <a:solidFill>
                  <a:srgbClr val="CADCFC"/>
                </a:solidFill>
                <a:latin typeface="Calibri"/>
                <a:ea typeface="Calibri"/>
                <a:cs typeface="Calibri"/>
                <a:sym typeface="Calibri"/>
              </a:rPr>
              <a:t>Group 8 </a:t>
            </a:r>
            <a:endParaRPr sz="2400">
              <a:solidFill>
                <a:srgbClr val="CADCFC"/>
              </a:solidFill>
              <a:latin typeface="Calibri"/>
              <a:ea typeface="Calibri"/>
              <a:cs typeface="Calibri"/>
              <a:sym typeface="Calibri"/>
            </a:endParaRPr>
          </a:p>
          <a:p>
            <a:pPr indent="0" lvl="0" marL="0" marR="0" rtl="0" algn="ctr">
              <a:spcBef>
                <a:spcPts val="0"/>
              </a:spcBef>
              <a:spcAft>
                <a:spcPts val="0"/>
              </a:spcAft>
              <a:buClr>
                <a:srgbClr val="CADCFC"/>
              </a:buClr>
              <a:buSzPts val="2400"/>
              <a:buFont typeface="Calibri"/>
              <a:buNone/>
            </a:pPr>
            <a:r>
              <a:rPr lang="en" sz="2400">
                <a:solidFill>
                  <a:srgbClr val="CADCFC"/>
                </a:solidFill>
                <a:latin typeface="Calibri"/>
                <a:ea typeface="Calibri"/>
                <a:cs typeface="Calibri"/>
                <a:sym typeface="Calibri"/>
              </a:rPr>
              <a:t>Marcos Sousa</a:t>
            </a:r>
            <a:endParaRPr sz="2400">
              <a:solidFill>
                <a:srgbClr val="CADCFC"/>
              </a:solidFill>
              <a:latin typeface="Calibri"/>
              <a:ea typeface="Calibri"/>
              <a:cs typeface="Calibri"/>
              <a:sym typeface="Calibri"/>
            </a:endParaRPr>
          </a:p>
        </p:txBody>
      </p:sp>
      <p:sp>
        <p:nvSpPr>
          <p:cNvPr id="185" name="Google Shape;185;p28"/>
          <p:cNvSpPr/>
          <p:nvPr/>
        </p:nvSpPr>
        <p:spPr>
          <a:xfrm>
            <a:off x="457200" y="3348993"/>
            <a:ext cx="8229600" cy="4572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CADCFC"/>
              </a:buClr>
              <a:buSzPts val="1600"/>
              <a:buFont typeface="Calibri"/>
              <a:buNone/>
            </a:pPr>
            <a:r>
              <a:rPr b="0" i="1" lang="en" sz="1600" u="none" cap="none" strike="noStrike">
                <a:solidFill>
                  <a:srgbClr val="CADCFC"/>
                </a:solidFill>
                <a:latin typeface="Calibri"/>
                <a:ea typeface="Calibri"/>
                <a:cs typeface="Calibri"/>
                <a:sym typeface="Calibri"/>
              </a:rPr>
              <a:t>Sentiment Analysis • Product Clustering • LLM Summarization</a:t>
            </a:r>
            <a:endParaRPr b="0" i="0" sz="1600" u="none" cap="none" strike="noStrike">
              <a:solidFill>
                <a:schemeClr val="dk1"/>
              </a:solidFill>
              <a:latin typeface="Calibri"/>
              <a:ea typeface="Calibri"/>
              <a:cs typeface="Calibri"/>
              <a:sym typeface="Calibri"/>
            </a:endParaRPr>
          </a:p>
        </p:txBody>
      </p:sp>
      <p:sp>
        <p:nvSpPr>
          <p:cNvPr id="186" name="Google Shape;186;p28"/>
          <p:cNvSpPr/>
          <p:nvPr/>
        </p:nvSpPr>
        <p:spPr>
          <a:xfrm>
            <a:off x="457200" y="6217920"/>
            <a:ext cx="8229600" cy="36576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CADCFC"/>
              </a:buClr>
              <a:buSzPts val="1200"/>
              <a:buFont typeface="Calibri"/>
              <a:buNone/>
            </a:pPr>
            <a:r>
              <a:rPr b="0" i="0" lang="en" sz="1200" u="none" cap="none" strike="noStrike">
                <a:solidFill>
                  <a:srgbClr val="CADCFC"/>
                </a:solidFill>
                <a:latin typeface="Calibri"/>
                <a:ea typeface="Calibri"/>
                <a:cs typeface="Calibri"/>
                <a:sym typeface="Calibri"/>
              </a:rPr>
              <a:t>Ironhack AI Engineering Bootcamp | February 2025</a:t>
            </a:r>
            <a:endParaRPr b="0" i="0" sz="1200" u="none" cap="none" strike="noStrike">
              <a:solidFill>
                <a:schemeClr val="dk1"/>
              </a:solidFill>
              <a:latin typeface="Calibri"/>
              <a:ea typeface="Calibri"/>
              <a:cs typeface="Calibri"/>
              <a:sym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E2761"/>
        </a:solidFill>
      </p:bgPr>
    </p:bg>
    <p:spTree>
      <p:nvGrpSpPr>
        <p:cNvPr id="191" name="Shape 191"/>
        <p:cNvGrpSpPr/>
        <p:nvPr/>
      </p:nvGrpSpPr>
      <p:grpSpPr>
        <a:xfrm>
          <a:off x="0" y="0"/>
          <a:ext cx="0" cy="0"/>
          <a:chOff x="0" y="0"/>
          <a:chExt cx="0" cy="0"/>
        </a:xfrm>
      </p:grpSpPr>
      <p:sp>
        <p:nvSpPr>
          <p:cNvPr id="192" name="Google Shape;192;p29"/>
          <p:cNvSpPr/>
          <p:nvPr/>
        </p:nvSpPr>
        <p:spPr>
          <a:xfrm>
            <a:off x="457200" y="640080"/>
            <a:ext cx="8229600" cy="5487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4000"/>
              <a:buFont typeface="Calibri"/>
              <a:buNone/>
            </a:pPr>
            <a:r>
              <a:rPr b="1" i="0" lang="en" sz="4000" u="none" cap="none" strike="noStrike">
                <a:solidFill>
                  <a:srgbClr val="FFFFFF"/>
                </a:solidFill>
                <a:latin typeface="Calibri"/>
                <a:ea typeface="Calibri"/>
                <a:cs typeface="Calibri"/>
                <a:sym typeface="Calibri"/>
              </a:rPr>
              <a:t>Results Summary</a:t>
            </a:r>
            <a:endParaRPr b="0" i="0" sz="4000" u="none" cap="none" strike="noStrike">
              <a:solidFill>
                <a:schemeClr val="dk1"/>
              </a:solidFill>
              <a:latin typeface="Calibri"/>
              <a:ea typeface="Calibri"/>
              <a:cs typeface="Calibri"/>
              <a:sym typeface="Calibri"/>
            </a:endParaRPr>
          </a:p>
        </p:txBody>
      </p:sp>
      <p:sp>
        <p:nvSpPr>
          <p:cNvPr id="193" name="Google Shape;193;p29"/>
          <p:cNvSpPr/>
          <p:nvPr/>
        </p:nvSpPr>
        <p:spPr>
          <a:xfrm>
            <a:off x="640055" y="1361170"/>
            <a:ext cx="2377500" cy="3474600"/>
          </a:xfrm>
          <a:prstGeom prst="roundRect">
            <a:avLst>
              <a:gd fmla="val 16667" name="adj"/>
            </a:avLst>
          </a:prstGeom>
          <a:solidFill>
            <a:srgbClr val="FFFFFF"/>
          </a:solidFill>
          <a:ln cap="flat" cmpd="sng" w="38100">
            <a:solidFill>
              <a:srgbClr val="CADCF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4" name="Google Shape;194;p29"/>
          <p:cNvSpPr/>
          <p:nvPr/>
        </p:nvSpPr>
        <p:spPr>
          <a:xfrm>
            <a:off x="640055" y="1498330"/>
            <a:ext cx="2377500" cy="5487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000000"/>
              </a:buClr>
              <a:buSzPts val="4800"/>
              <a:buFont typeface="Calibri"/>
              <a:buNone/>
            </a:pPr>
            <a:r>
              <a:rPr b="0" i="0" lang="en" sz="4800" u="none" cap="none" strike="noStrike">
                <a:solidFill>
                  <a:srgbClr val="000000"/>
                </a:solidFill>
                <a:latin typeface="Calibri"/>
                <a:ea typeface="Calibri"/>
                <a:cs typeface="Calibri"/>
                <a:sym typeface="Calibri"/>
              </a:rPr>
              <a:t>📊</a:t>
            </a:r>
            <a:endParaRPr b="0" i="0" sz="4800" u="none" cap="none" strike="noStrike">
              <a:solidFill>
                <a:schemeClr val="dk1"/>
              </a:solidFill>
              <a:latin typeface="Calibri"/>
              <a:ea typeface="Calibri"/>
              <a:cs typeface="Calibri"/>
              <a:sym typeface="Calibri"/>
            </a:endParaRPr>
          </a:p>
        </p:txBody>
      </p:sp>
      <p:sp>
        <p:nvSpPr>
          <p:cNvPr id="195" name="Google Shape;195;p29"/>
          <p:cNvSpPr/>
          <p:nvPr/>
        </p:nvSpPr>
        <p:spPr>
          <a:xfrm>
            <a:off x="822935" y="2184130"/>
            <a:ext cx="2011800" cy="3657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1E2761"/>
              </a:buClr>
              <a:buSzPts val="1300"/>
              <a:buFont typeface="Calibri"/>
              <a:buNone/>
            </a:pPr>
            <a:r>
              <a:rPr b="1" i="0" lang="en" sz="1300" u="none" cap="none" strike="noStrike">
                <a:solidFill>
                  <a:srgbClr val="1E2761"/>
                </a:solidFill>
                <a:latin typeface="Calibri"/>
                <a:ea typeface="Calibri"/>
                <a:cs typeface="Calibri"/>
                <a:sym typeface="Calibri"/>
              </a:rPr>
              <a:t>Sentiment Analysis</a:t>
            </a:r>
            <a:endParaRPr b="0" i="0" sz="1300" u="none" cap="none" strike="noStrike">
              <a:solidFill>
                <a:schemeClr val="dk1"/>
              </a:solidFill>
              <a:latin typeface="Calibri"/>
              <a:ea typeface="Calibri"/>
              <a:cs typeface="Calibri"/>
              <a:sym typeface="Calibri"/>
            </a:endParaRPr>
          </a:p>
        </p:txBody>
      </p:sp>
      <p:sp>
        <p:nvSpPr>
          <p:cNvPr id="196" name="Google Shape;196;p29"/>
          <p:cNvSpPr/>
          <p:nvPr/>
        </p:nvSpPr>
        <p:spPr>
          <a:xfrm>
            <a:off x="640055" y="2732770"/>
            <a:ext cx="2377500" cy="6402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667EEA"/>
              </a:buClr>
              <a:buSzPts val="5400"/>
              <a:buFont typeface="Calibri"/>
              <a:buNone/>
            </a:pPr>
            <a:r>
              <a:rPr b="1" i="0" lang="en" sz="5400" u="none" cap="none" strike="noStrike">
                <a:solidFill>
                  <a:srgbClr val="667EEA"/>
                </a:solidFill>
                <a:latin typeface="Calibri"/>
                <a:ea typeface="Calibri"/>
                <a:cs typeface="Calibri"/>
                <a:sym typeface="Calibri"/>
              </a:rPr>
              <a:t>73.5%</a:t>
            </a:r>
            <a:endParaRPr b="0" i="0" sz="5400" u="none" cap="none" strike="noStrike">
              <a:solidFill>
                <a:schemeClr val="dk1"/>
              </a:solidFill>
              <a:latin typeface="Calibri"/>
              <a:ea typeface="Calibri"/>
              <a:cs typeface="Calibri"/>
              <a:sym typeface="Calibri"/>
            </a:endParaRPr>
          </a:p>
        </p:txBody>
      </p:sp>
      <p:sp>
        <p:nvSpPr>
          <p:cNvPr id="197" name="Google Shape;197;p29"/>
          <p:cNvSpPr/>
          <p:nvPr/>
        </p:nvSpPr>
        <p:spPr>
          <a:xfrm>
            <a:off x="822935" y="3464290"/>
            <a:ext cx="2011800" cy="2742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1E2761"/>
              </a:buClr>
              <a:buSzPts val="1400"/>
              <a:buFont typeface="Calibri"/>
              <a:buNone/>
            </a:pPr>
            <a:r>
              <a:rPr b="1" i="0" lang="en" sz="1400" u="none" cap="none" strike="noStrike">
                <a:solidFill>
                  <a:srgbClr val="1E2761"/>
                </a:solidFill>
                <a:latin typeface="Calibri"/>
                <a:ea typeface="Calibri"/>
                <a:cs typeface="Calibri"/>
                <a:sym typeface="Calibri"/>
              </a:rPr>
              <a:t>Accuracy</a:t>
            </a:r>
            <a:endParaRPr b="0" i="0" sz="1400" u="none" cap="none" strike="noStrike">
              <a:solidFill>
                <a:schemeClr val="dk1"/>
              </a:solidFill>
              <a:latin typeface="Calibri"/>
              <a:ea typeface="Calibri"/>
              <a:cs typeface="Calibri"/>
              <a:sym typeface="Calibri"/>
            </a:endParaRPr>
          </a:p>
        </p:txBody>
      </p:sp>
      <p:sp>
        <p:nvSpPr>
          <p:cNvPr id="198" name="Google Shape;198;p29"/>
          <p:cNvSpPr/>
          <p:nvPr/>
        </p:nvSpPr>
        <p:spPr>
          <a:xfrm>
            <a:off x="822935" y="3830050"/>
            <a:ext cx="2011800" cy="8229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666666"/>
              </a:buClr>
              <a:buSzPts val="1000"/>
              <a:buFont typeface="Calibri"/>
              <a:buNone/>
            </a:pPr>
            <a:r>
              <a:rPr b="0" i="0" lang="en" sz="1200" u="none" cap="none" strike="noStrike">
                <a:solidFill>
                  <a:srgbClr val="666666"/>
                </a:solidFill>
                <a:latin typeface="Calibri"/>
                <a:ea typeface="Calibri"/>
                <a:cs typeface="Calibri"/>
                <a:sym typeface="Calibri"/>
              </a:rPr>
              <a:t>Fine-tuned RoBERTa</a:t>
            </a:r>
            <a:endParaRPr b="0" i="0" sz="120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666666"/>
              </a:buClr>
              <a:buSzPts val="1000"/>
              <a:buFont typeface="Calibri"/>
              <a:buNone/>
            </a:pPr>
            <a:r>
              <a:rPr b="0" i="0" lang="en" sz="1200" u="none" cap="none" strike="noStrike">
                <a:solidFill>
                  <a:srgbClr val="666666"/>
                </a:solidFill>
                <a:latin typeface="Calibri"/>
                <a:ea typeface="Calibri"/>
                <a:cs typeface="Calibri"/>
                <a:sym typeface="Calibri"/>
              </a:rPr>
              <a:t>F1 Macro: 0.724</a:t>
            </a:r>
            <a:endParaRPr b="0" i="0" sz="1200" u="none" cap="none" strike="noStrike">
              <a:solidFill>
                <a:schemeClr val="dk1"/>
              </a:solidFill>
              <a:latin typeface="Calibri"/>
              <a:ea typeface="Calibri"/>
              <a:cs typeface="Calibri"/>
              <a:sym typeface="Calibri"/>
            </a:endParaRPr>
          </a:p>
        </p:txBody>
      </p:sp>
      <p:sp>
        <p:nvSpPr>
          <p:cNvPr id="199" name="Google Shape;199;p29"/>
          <p:cNvSpPr/>
          <p:nvPr/>
        </p:nvSpPr>
        <p:spPr>
          <a:xfrm>
            <a:off x="3383255" y="1361170"/>
            <a:ext cx="2377500" cy="3474600"/>
          </a:xfrm>
          <a:prstGeom prst="roundRect">
            <a:avLst>
              <a:gd fmla="val 16667" name="adj"/>
            </a:avLst>
          </a:prstGeom>
          <a:solidFill>
            <a:srgbClr val="FFFFFF"/>
          </a:solidFill>
          <a:ln cap="flat" cmpd="sng" w="38100">
            <a:solidFill>
              <a:srgbClr val="CADCF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0" name="Google Shape;200;p29"/>
          <p:cNvSpPr/>
          <p:nvPr/>
        </p:nvSpPr>
        <p:spPr>
          <a:xfrm>
            <a:off x="3383255" y="1498330"/>
            <a:ext cx="2377500" cy="5487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000000"/>
              </a:buClr>
              <a:buSzPts val="4800"/>
              <a:buFont typeface="Calibri"/>
              <a:buNone/>
            </a:pPr>
            <a:r>
              <a:rPr b="0" i="0" lang="en" sz="4800" u="none" cap="none" strike="noStrike">
                <a:solidFill>
                  <a:srgbClr val="000000"/>
                </a:solidFill>
                <a:latin typeface="Calibri"/>
                <a:ea typeface="Calibri"/>
                <a:cs typeface="Calibri"/>
                <a:sym typeface="Calibri"/>
              </a:rPr>
              <a:t>🎯</a:t>
            </a:r>
            <a:endParaRPr b="0" i="0" sz="4800" u="none" cap="none" strike="noStrike">
              <a:solidFill>
                <a:schemeClr val="dk1"/>
              </a:solidFill>
              <a:latin typeface="Calibri"/>
              <a:ea typeface="Calibri"/>
              <a:cs typeface="Calibri"/>
              <a:sym typeface="Calibri"/>
            </a:endParaRPr>
          </a:p>
        </p:txBody>
      </p:sp>
      <p:sp>
        <p:nvSpPr>
          <p:cNvPr id="201" name="Google Shape;201;p29"/>
          <p:cNvSpPr/>
          <p:nvPr/>
        </p:nvSpPr>
        <p:spPr>
          <a:xfrm>
            <a:off x="3566135" y="2184130"/>
            <a:ext cx="2011800" cy="3657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1E2761"/>
              </a:buClr>
              <a:buSzPts val="1300"/>
              <a:buFont typeface="Calibri"/>
              <a:buNone/>
            </a:pPr>
            <a:r>
              <a:rPr b="1" i="0" lang="en" sz="1300" u="none" cap="none" strike="noStrike">
                <a:solidFill>
                  <a:srgbClr val="1E2761"/>
                </a:solidFill>
                <a:latin typeface="Calibri"/>
                <a:ea typeface="Calibri"/>
                <a:cs typeface="Calibri"/>
                <a:sym typeface="Calibri"/>
              </a:rPr>
              <a:t>Product Clustering</a:t>
            </a:r>
            <a:endParaRPr b="0" i="0" sz="1300" u="none" cap="none" strike="noStrike">
              <a:solidFill>
                <a:schemeClr val="dk1"/>
              </a:solidFill>
              <a:latin typeface="Calibri"/>
              <a:ea typeface="Calibri"/>
              <a:cs typeface="Calibri"/>
              <a:sym typeface="Calibri"/>
            </a:endParaRPr>
          </a:p>
        </p:txBody>
      </p:sp>
      <p:sp>
        <p:nvSpPr>
          <p:cNvPr id="202" name="Google Shape;202;p29"/>
          <p:cNvSpPr/>
          <p:nvPr/>
        </p:nvSpPr>
        <p:spPr>
          <a:xfrm>
            <a:off x="3383255" y="2732770"/>
            <a:ext cx="2377500" cy="6402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667EEA"/>
              </a:buClr>
              <a:buSzPts val="5400"/>
              <a:buFont typeface="Calibri"/>
              <a:buNone/>
            </a:pPr>
            <a:r>
              <a:rPr b="1" i="0" lang="en" sz="5400" u="none" cap="none" strike="noStrike">
                <a:solidFill>
                  <a:srgbClr val="667EEA"/>
                </a:solidFill>
                <a:latin typeface="Calibri"/>
                <a:ea typeface="Calibri"/>
                <a:cs typeface="Calibri"/>
                <a:sym typeface="Calibri"/>
              </a:rPr>
              <a:t>5</a:t>
            </a:r>
            <a:endParaRPr b="0" i="0" sz="5400" u="none" cap="none" strike="noStrike">
              <a:solidFill>
                <a:schemeClr val="dk1"/>
              </a:solidFill>
              <a:latin typeface="Calibri"/>
              <a:ea typeface="Calibri"/>
              <a:cs typeface="Calibri"/>
              <a:sym typeface="Calibri"/>
            </a:endParaRPr>
          </a:p>
        </p:txBody>
      </p:sp>
      <p:sp>
        <p:nvSpPr>
          <p:cNvPr id="203" name="Google Shape;203;p29"/>
          <p:cNvSpPr/>
          <p:nvPr/>
        </p:nvSpPr>
        <p:spPr>
          <a:xfrm>
            <a:off x="3566135" y="3464290"/>
            <a:ext cx="2011800" cy="2742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1E2761"/>
              </a:buClr>
              <a:buSzPts val="1400"/>
              <a:buFont typeface="Calibri"/>
              <a:buNone/>
            </a:pPr>
            <a:r>
              <a:rPr b="1" i="0" lang="en" sz="1400" u="none" cap="none" strike="noStrike">
                <a:solidFill>
                  <a:srgbClr val="1E2761"/>
                </a:solidFill>
                <a:latin typeface="Calibri"/>
                <a:ea typeface="Calibri"/>
                <a:cs typeface="Calibri"/>
                <a:sym typeface="Calibri"/>
              </a:rPr>
              <a:t>Categories</a:t>
            </a:r>
            <a:endParaRPr b="0" i="0" sz="1400" u="none" cap="none" strike="noStrike">
              <a:solidFill>
                <a:schemeClr val="dk1"/>
              </a:solidFill>
              <a:latin typeface="Calibri"/>
              <a:ea typeface="Calibri"/>
              <a:cs typeface="Calibri"/>
              <a:sym typeface="Calibri"/>
            </a:endParaRPr>
          </a:p>
        </p:txBody>
      </p:sp>
      <p:sp>
        <p:nvSpPr>
          <p:cNvPr id="204" name="Google Shape;204;p29"/>
          <p:cNvSpPr/>
          <p:nvPr/>
        </p:nvSpPr>
        <p:spPr>
          <a:xfrm>
            <a:off x="3566135" y="3830050"/>
            <a:ext cx="2011800" cy="8229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666666"/>
              </a:buClr>
              <a:buSzPts val="1000"/>
              <a:buFont typeface="Calibri"/>
              <a:buNone/>
            </a:pPr>
            <a:r>
              <a:rPr b="0" i="0" lang="en" sz="1200" u="none" cap="none" strike="noStrike">
                <a:solidFill>
                  <a:srgbClr val="666666"/>
                </a:solidFill>
                <a:latin typeface="Calibri"/>
                <a:ea typeface="Calibri"/>
                <a:cs typeface="Calibri"/>
                <a:sym typeface="Calibri"/>
              </a:rPr>
              <a:t>K-Means + Embeddings</a:t>
            </a:r>
            <a:endParaRPr b="0" i="0" sz="120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666666"/>
              </a:buClr>
              <a:buSzPts val="1000"/>
              <a:buFont typeface="Calibri"/>
              <a:buNone/>
            </a:pPr>
            <a:r>
              <a:rPr b="0" i="0" lang="en" sz="1200" u="none" cap="none" strike="noStrike">
                <a:solidFill>
                  <a:srgbClr val="666666"/>
                </a:solidFill>
                <a:latin typeface="Calibri"/>
                <a:ea typeface="Calibri"/>
                <a:cs typeface="Calibri"/>
                <a:sym typeface="Calibri"/>
              </a:rPr>
              <a:t>ARI: 0.42</a:t>
            </a:r>
            <a:endParaRPr b="0" i="0" sz="1200" u="none" cap="none" strike="noStrike">
              <a:solidFill>
                <a:schemeClr val="dk1"/>
              </a:solidFill>
              <a:latin typeface="Calibri"/>
              <a:ea typeface="Calibri"/>
              <a:cs typeface="Calibri"/>
              <a:sym typeface="Calibri"/>
            </a:endParaRPr>
          </a:p>
        </p:txBody>
      </p:sp>
      <p:sp>
        <p:nvSpPr>
          <p:cNvPr id="205" name="Google Shape;205;p29"/>
          <p:cNvSpPr/>
          <p:nvPr/>
        </p:nvSpPr>
        <p:spPr>
          <a:xfrm>
            <a:off x="6126455" y="1361170"/>
            <a:ext cx="2377500" cy="3474600"/>
          </a:xfrm>
          <a:prstGeom prst="roundRect">
            <a:avLst>
              <a:gd fmla="val 16667" name="adj"/>
            </a:avLst>
          </a:prstGeom>
          <a:solidFill>
            <a:srgbClr val="FFFFFF"/>
          </a:solidFill>
          <a:ln cap="flat" cmpd="sng" w="38100">
            <a:solidFill>
              <a:srgbClr val="CADCF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6" name="Google Shape;206;p29"/>
          <p:cNvSpPr/>
          <p:nvPr/>
        </p:nvSpPr>
        <p:spPr>
          <a:xfrm>
            <a:off x="6126455" y="1498330"/>
            <a:ext cx="2377500" cy="5487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000000"/>
              </a:buClr>
              <a:buSzPts val="4800"/>
              <a:buFont typeface="Calibri"/>
              <a:buNone/>
            </a:pPr>
            <a:r>
              <a:rPr b="0" i="0" lang="en" sz="4800" u="none" cap="none" strike="noStrike">
                <a:solidFill>
                  <a:srgbClr val="000000"/>
                </a:solidFill>
                <a:latin typeface="Calibri"/>
                <a:ea typeface="Calibri"/>
                <a:cs typeface="Calibri"/>
                <a:sym typeface="Calibri"/>
              </a:rPr>
              <a:t>✍️</a:t>
            </a:r>
            <a:endParaRPr b="0" i="0" sz="4800" u="none" cap="none" strike="noStrike">
              <a:solidFill>
                <a:schemeClr val="dk1"/>
              </a:solidFill>
              <a:latin typeface="Calibri"/>
              <a:ea typeface="Calibri"/>
              <a:cs typeface="Calibri"/>
              <a:sym typeface="Calibri"/>
            </a:endParaRPr>
          </a:p>
        </p:txBody>
      </p:sp>
      <p:sp>
        <p:nvSpPr>
          <p:cNvPr id="207" name="Google Shape;207;p29"/>
          <p:cNvSpPr/>
          <p:nvPr/>
        </p:nvSpPr>
        <p:spPr>
          <a:xfrm>
            <a:off x="6309335" y="2184130"/>
            <a:ext cx="2011800" cy="3657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1E2761"/>
              </a:buClr>
              <a:buSzPts val="1300"/>
              <a:buFont typeface="Calibri"/>
              <a:buNone/>
            </a:pPr>
            <a:r>
              <a:rPr b="1" i="0" lang="en" sz="1300" u="none" cap="none" strike="noStrike">
                <a:solidFill>
                  <a:srgbClr val="1E2761"/>
                </a:solidFill>
                <a:latin typeface="Calibri"/>
                <a:ea typeface="Calibri"/>
                <a:cs typeface="Calibri"/>
                <a:sym typeface="Calibri"/>
              </a:rPr>
              <a:t>Text Generation</a:t>
            </a:r>
            <a:endParaRPr b="0" i="0" sz="1300" u="none" cap="none" strike="noStrike">
              <a:solidFill>
                <a:schemeClr val="dk1"/>
              </a:solidFill>
              <a:latin typeface="Calibri"/>
              <a:ea typeface="Calibri"/>
              <a:cs typeface="Calibri"/>
              <a:sym typeface="Calibri"/>
            </a:endParaRPr>
          </a:p>
        </p:txBody>
      </p:sp>
      <p:sp>
        <p:nvSpPr>
          <p:cNvPr id="208" name="Google Shape;208;p29"/>
          <p:cNvSpPr/>
          <p:nvPr/>
        </p:nvSpPr>
        <p:spPr>
          <a:xfrm>
            <a:off x="6126455" y="2732770"/>
            <a:ext cx="2377500" cy="6402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667EEA"/>
              </a:buClr>
              <a:buSzPts val="5400"/>
              <a:buFont typeface="Calibri"/>
              <a:buNone/>
            </a:pPr>
            <a:r>
              <a:rPr b="1" i="0" lang="en" sz="5400" u="none" cap="none" strike="noStrike">
                <a:solidFill>
                  <a:srgbClr val="667EEA"/>
                </a:solidFill>
                <a:latin typeface="Calibri"/>
                <a:ea typeface="Calibri"/>
                <a:cs typeface="Calibri"/>
                <a:sym typeface="Calibri"/>
              </a:rPr>
              <a:t>10</a:t>
            </a:r>
            <a:endParaRPr b="0" i="0" sz="5400" u="none" cap="none" strike="noStrike">
              <a:solidFill>
                <a:schemeClr val="dk1"/>
              </a:solidFill>
              <a:latin typeface="Calibri"/>
              <a:ea typeface="Calibri"/>
              <a:cs typeface="Calibri"/>
              <a:sym typeface="Calibri"/>
            </a:endParaRPr>
          </a:p>
        </p:txBody>
      </p:sp>
      <p:sp>
        <p:nvSpPr>
          <p:cNvPr id="209" name="Google Shape;209;p29"/>
          <p:cNvSpPr/>
          <p:nvPr/>
        </p:nvSpPr>
        <p:spPr>
          <a:xfrm>
            <a:off x="6309335" y="3464290"/>
            <a:ext cx="2011800" cy="2742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1E2761"/>
              </a:buClr>
              <a:buSzPts val="1400"/>
              <a:buFont typeface="Calibri"/>
              <a:buNone/>
            </a:pPr>
            <a:r>
              <a:rPr b="1" i="0" lang="en" sz="1400" u="none" cap="none" strike="noStrike">
                <a:solidFill>
                  <a:srgbClr val="1E2761"/>
                </a:solidFill>
                <a:latin typeface="Calibri"/>
                <a:ea typeface="Calibri"/>
                <a:cs typeface="Calibri"/>
                <a:sym typeface="Calibri"/>
              </a:rPr>
              <a:t>Articles</a:t>
            </a:r>
            <a:endParaRPr b="0" i="0" sz="1400" u="none" cap="none" strike="noStrike">
              <a:solidFill>
                <a:schemeClr val="dk1"/>
              </a:solidFill>
              <a:latin typeface="Calibri"/>
              <a:ea typeface="Calibri"/>
              <a:cs typeface="Calibri"/>
              <a:sym typeface="Calibri"/>
            </a:endParaRPr>
          </a:p>
        </p:txBody>
      </p:sp>
      <p:sp>
        <p:nvSpPr>
          <p:cNvPr id="210" name="Google Shape;210;p29"/>
          <p:cNvSpPr/>
          <p:nvPr/>
        </p:nvSpPr>
        <p:spPr>
          <a:xfrm>
            <a:off x="6309335" y="3830050"/>
            <a:ext cx="2011800" cy="8229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666666"/>
              </a:buClr>
              <a:buSzPts val="1000"/>
              <a:buFont typeface="Calibri"/>
              <a:buNone/>
            </a:pPr>
            <a:r>
              <a:rPr b="0" i="0" lang="en" sz="1200" u="none" cap="none" strike="noStrike">
                <a:solidFill>
                  <a:srgbClr val="666666"/>
                </a:solidFill>
                <a:latin typeface="Calibri"/>
                <a:ea typeface="Calibri"/>
                <a:cs typeface="Calibri"/>
                <a:sym typeface="Calibri"/>
              </a:rPr>
              <a:t>LLaMA 3.2-3B</a:t>
            </a:r>
            <a:endParaRPr b="0" i="0" sz="120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666666"/>
              </a:buClr>
              <a:buSzPts val="1000"/>
              <a:buFont typeface="Calibri"/>
              <a:buNone/>
            </a:pPr>
            <a:r>
              <a:rPr b="0" i="0" lang="en" sz="1200" u="none" cap="none" strike="noStrike">
                <a:solidFill>
                  <a:srgbClr val="666666"/>
                </a:solidFill>
                <a:latin typeface="Calibri"/>
                <a:ea typeface="Calibri"/>
                <a:cs typeface="Calibri"/>
                <a:sym typeface="Calibri"/>
              </a:rPr>
              <a:t>BERTScore: 0.81</a:t>
            </a:r>
            <a:endParaRPr b="0" i="0" sz="1200" u="none" cap="none" strike="noStrike">
              <a:solidFill>
                <a:schemeClr val="dk1"/>
              </a:solidFill>
              <a:latin typeface="Calibri"/>
              <a:ea typeface="Calibri"/>
              <a:cs typeface="Calibri"/>
              <a:sym typeface="Calibri"/>
            </a:endParaRPr>
          </a:p>
        </p:txBody>
      </p:sp>
      <p:sp>
        <p:nvSpPr>
          <p:cNvPr id="211" name="Google Shape;211;p29"/>
          <p:cNvSpPr/>
          <p:nvPr/>
        </p:nvSpPr>
        <p:spPr>
          <a:xfrm>
            <a:off x="457200" y="5669280"/>
            <a:ext cx="8229600" cy="3657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CADCFC"/>
              </a:buClr>
              <a:buSzPts val="1400"/>
              <a:buFont typeface="Calibri"/>
              <a:buNone/>
            </a:pPr>
            <a:r>
              <a:rPr b="0" i="1" lang="en" sz="1400" u="none" cap="none" strike="noStrike">
                <a:solidFill>
                  <a:srgbClr val="CADCFC"/>
                </a:solidFill>
                <a:latin typeface="Calibri"/>
                <a:ea typeface="Calibri"/>
                <a:cs typeface="Calibri"/>
                <a:sym typeface="Calibri"/>
              </a:rPr>
              <a:t>Successfully transformed 39,794 reviews into actionable insights</a:t>
            </a:r>
            <a:endParaRPr b="0" i="0" sz="1400" u="none" cap="none" strike="noStrike">
              <a:solidFill>
                <a:schemeClr val="dk1"/>
              </a:solidFill>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16" name="Shape 216"/>
        <p:cNvGrpSpPr/>
        <p:nvPr/>
      </p:nvGrpSpPr>
      <p:grpSpPr>
        <a:xfrm>
          <a:off x="0" y="0"/>
          <a:ext cx="0" cy="0"/>
          <a:chOff x="0" y="0"/>
          <a:chExt cx="0" cy="0"/>
        </a:xfrm>
      </p:grpSpPr>
      <p:sp>
        <p:nvSpPr>
          <p:cNvPr id="217" name="Google Shape;217;p30"/>
          <p:cNvSpPr/>
          <p:nvPr/>
        </p:nvSpPr>
        <p:spPr>
          <a:xfrm>
            <a:off x="457200" y="457200"/>
            <a:ext cx="8229600" cy="5486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E2761"/>
              </a:buClr>
              <a:buSzPts val="3600"/>
              <a:buFont typeface="Calibri"/>
              <a:buNone/>
            </a:pPr>
            <a:r>
              <a:rPr b="1" lang="en" sz="3600">
                <a:solidFill>
                  <a:srgbClr val="1E2761"/>
                </a:solidFill>
                <a:latin typeface="Calibri"/>
                <a:ea typeface="Calibri"/>
                <a:cs typeface="Calibri"/>
                <a:sym typeface="Calibri"/>
              </a:rPr>
              <a:t>Data Analysis</a:t>
            </a:r>
            <a:endParaRPr sz="3600">
              <a:solidFill>
                <a:schemeClr val="dk1"/>
              </a:solidFill>
              <a:latin typeface="Calibri"/>
              <a:ea typeface="Calibri"/>
              <a:cs typeface="Calibri"/>
              <a:sym typeface="Calibri"/>
            </a:endParaRPr>
          </a:p>
        </p:txBody>
      </p:sp>
      <p:sp>
        <p:nvSpPr>
          <p:cNvPr id="218" name="Google Shape;218;p30"/>
          <p:cNvSpPr/>
          <p:nvPr/>
        </p:nvSpPr>
        <p:spPr>
          <a:xfrm>
            <a:off x="457200" y="1280160"/>
            <a:ext cx="3931920" cy="2560320"/>
          </a:xfrm>
          <a:prstGeom prst="roundRect">
            <a:avLst>
              <a:gd fmla="val 16667" name="adj"/>
            </a:avLst>
          </a:prstGeom>
          <a:solidFill>
            <a:srgbClr val="F8F9FA"/>
          </a:solidFill>
          <a:ln cap="flat" cmpd="sng" w="25400">
            <a:solidFill>
              <a:srgbClr val="667EE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9" name="Google Shape;219;p30"/>
          <p:cNvSpPr/>
          <p:nvPr/>
        </p:nvSpPr>
        <p:spPr>
          <a:xfrm>
            <a:off x="640080" y="1463040"/>
            <a:ext cx="3566160" cy="3657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E2761"/>
              </a:buClr>
              <a:buSzPts val="1800"/>
              <a:buFont typeface="Calibri"/>
              <a:buNone/>
            </a:pPr>
            <a:r>
              <a:rPr b="1" lang="en" sz="1800">
                <a:solidFill>
                  <a:srgbClr val="1E2761"/>
                </a:solidFill>
                <a:latin typeface="Calibri"/>
                <a:ea typeface="Calibri"/>
                <a:cs typeface="Calibri"/>
                <a:sym typeface="Calibri"/>
              </a:rPr>
              <a:t>Dataset Overview</a:t>
            </a:r>
            <a:endParaRPr sz="1800">
              <a:solidFill>
                <a:schemeClr val="dk1"/>
              </a:solidFill>
              <a:latin typeface="Calibri"/>
              <a:ea typeface="Calibri"/>
              <a:cs typeface="Calibri"/>
              <a:sym typeface="Calibri"/>
            </a:endParaRPr>
          </a:p>
        </p:txBody>
      </p:sp>
      <p:sp>
        <p:nvSpPr>
          <p:cNvPr id="220" name="Google Shape;220;p30"/>
          <p:cNvSpPr/>
          <p:nvPr/>
        </p:nvSpPr>
        <p:spPr>
          <a:xfrm>
            <a:off x="822960" y="2011680"/>
            <a:ext cx="1371600" cy="36576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667EEA"/>
              </a:buClr>
              <a:buSzPts val="3200"/>
              <a:buFont typeface="Calibri"/>
              <a:buNone/>
            </a:pPr>
            <a:r>
              <a:rPr b="1" lang="en" sz="3200">
                <a:solidFill>
                  <a:srgbClr val="667EEA"/>
                </a:solidFill>
                <a:latin typeface="Calibri"/>
                <a:ea typeface="Calibri"/>
                <a:cs typeface="Calibri"/>
                <a:sym typeface="Calibri"/>
              </a:rPr>
              <a:t>39,794</a:t>
            </a:r>
            <a:endParaRPr sz="3200">
              <a:solidFill>
                <a:schemeClr val="dk1"/>
              </a:solidFill>
              <a:latin typeface="Calibri"/>
              <a:ea typeface="Calibri"/>
              <a:cs typeface="Calibri"/>
              <a:sym typeface="Calibri"/>
            </a:endParaRPr>
          </a:p>
        </p:txBody>
      </p:sp>
      <p:sp>
        <p:nvSpPr>
          <p:cNvPr id="221" name="Google Shape;221;p30"/>
          <p:cNvSpPr/>
          <p:nvPr/>
        </p:nvSpPr>
        <p:spPr>
          <a:xfrm>
            <a:off x="2286000" y="2057400"/>
            <a:ext cx="18288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E2761"/>
              </a:buClr>
              <a:buSzPts val="1300"/>
              <a:buFont typeface="Calibri"/>
              <a:buNone/>
            </a:pPr>
            <a:r>
              <a:rPr b="1" lang="en" sz="1300">
                <a:solidFill>
                  <a:srgbClr val="1E2761"/>
                </a:solidFill>
                <a:latin typeface="Calibri"/>
                <a:ea typeface="Calibri"/>
                <a:cs typeface="Calibri"/>
                <a:sym typeface="Calibri"/>
              </a:rPr>
              <a:t>Total Reviews</a:t>
            </a:r>
            <a:endParaRPr sz="1300">
              <a:solidFill>
                <a:schemeClr val="dk1"/>
              </a:solidFill>
              <a:latin typeface="Calibri"/>
              <a:ea typeface="Calibri"/>
              <a:cs typeface="Calibri"/>
              <a:sym typeface="Calibri"/>
            </a:endParaRPr>
          </a:p>
        </p:txBody>
      </p:sp>
      <p:sp>
        <p:nvSpPr>
          <p:cNvPr id="222" name="Google Shape;222;p30"/>
          <p:cNvSpPr/>
          <p:nvPr/>
        </p:nvSpPr>
        <p:spPr>
          <a:xfrm>
            <a:off x="2286000" y="2286000"/>
            <a:ext cx="1828800" cy="1828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666666"/>
              </a:buClr>
              <a:buSzPts val="1000"/>
              <a:buFont typeface="Calibri"/>
              <a:buNone/>
            </a:pPr>
            <a:r>
              <a:rPr i="1" lang="en" sz="1000">
                <a:solidFill>
                  <a:srgbClr val="666666"/>
                </a:solidFill>
                <a:latin typeface="Calibri"/>
                <a:ea typeface="Calibri"/>
                <a:cs typeface="Calibri"/>
                <a:sym typeface="Calibri"/>
              </a:rPr>
              <a:t>after deduplication</a:t>
            </a:r>
            <a:endParaRPr sz="1000">
              <a:solidFill>
                <a:schemeClr val="dk1"/>
              </a:solidFill>
              <a:latin typeface="Calibri"/>
              <a:ea typeface="Calibri"/>
              <a:cs typeface="Calibri"/>
              <a:sym typeface="Calibri"/>
            </a:endParaRPr>
          </a:p>
        </p:txBody>
      </p:sp>
      <p:sp>
        <p:nvSpPr>
          <p:cNvPr id="223" name="Google Shape;223;p30"/>
          <p:cNvSpPr/>
          <p:nvPr/>
        </p:nvSpPr>
        <p:spPr>
          <a:xfrm>
            <a:off x="822960" y="2651760"/>
            <a:ext cx="1371600" cy="36576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667EEA"/>
              </a:buClr>
              <a:buSzPts val="3200"/>
              <a:buFont typeface="Calibri"/>
              <a:buNone/>
            </a:pPr>
            <a:r>
              <a:rPr b="1" lang="en" sz="3200">
                <a:solidFill>
                  <a:srgbClr val="667EEA"/>
                </a:solidFill>
                <a:latin typeface="Calibri"/>
                <a:ea typeface="Calibri"/>
                <a:cs typeface="Calibri"/>
                <a:sym typeface="Calibri"/>
              </a:rPr>
              <a:t>71</a:t>
            </a:r>
            <a:endParaRPr sz="3200">
              <a:solidFill>
                <a:schemeClr val="dk1"/>
              </a:solidFill>
              <a:latin typeface="Calibri"/>
              <a:ea typeface="Calibri"/>
              <a:cs typeface="Calibri"/>
              <a:sym typeface="Calibri"/>
            </a:endParaRPr>
          </a:p>
        </p:txBody>
      </p:sp>
      <p:sp>
        <p:nvSpPr>
          <p:cNvPr id="224" name="Google Shape;224;p30"/>
          <p:cNvSpPr/>
          <p:nvPr/>
        </p:nvSpPr>
        <p:spPr>
          <a:xfrm>
            <a:off x="2286000" y="2697480"/>
            <a:ext cx="18288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E2761"/>
              </a:buClr>
              <a:buSzPts val="1300"/>
              <a:buFont typeface="Calibri"/>
              <a:buNone/>
            </a:pPr>
            <a:r>
              <a:rPr b="1" lang="en" sz="1300">
                <a:solidFill>
                  <a:srgbClr val="1E2761"/>
                </a:solidFill>
                <a:latin typeface="Calibri"/>
                <a:ea typeface="Calibri"/>
                <a:cs typeface="Calibri"/>
                <a:sym typeface="Calibri"/>
              </a:rPr>
              <a:t>Products</a:t>
            </a:r>
            <a:endParaRPr sz="1300">
              <a:solidFill>
                <a:schemeClr val="dk1"/>
              </a:solidFill>
              <a:latin typeface="Calibri"/>
              <a:ea typeface="Calibri"/>
              <a:cs typeface="Calibri"/>
              <a:sym typeface="Calibri"/>
            </a:endParaRPr>
          </a:p>
        </p:txBody>
      </p:sp>
      <p:sp>
        <p:nvSpPr>
          <p:cNvPr id="225" name="Google Shape;225;p30"/>
          <p:cNvSpPr/>
          <p:nvPr/>
        </p:nvSpPr>
        <p:spPr>
          <a:xfrm>
            <a:off x="2286000" y="2926080"/>
            <a:ext cx="1828800" cy="1828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666666"/>
              </a:buClr>
              <a:buSzPts val="1000"/>
              <a:buFont typeface="Calibri"/>
              <a:buNone/>
            </a:pPr>
            <a:r>
              <a:rPr i="1" lang="en" sz="1000">
                <a:solidFill>
                  <a:srgbClr val="666666"/>
                </a:solidFill>
                <a:latin typeface="Calibri"/>
                <a:ea typeface="Calibri"/>
                <a:cs typeface="Calibri"/>
                <a:sym typeface="Calibri"/>
              </a:rPr>
              <a:t>across 5 categories</a:t>
            </a:r>
            <a:endParaRPr sz="1000">
              <a:solidFill>
                <a:schemeClr val="dk1"/>
              </a:solidFill>
              <a:latin typeface="Calibri"/>
              <a:ea typeface="Calibri"/>
              <a:cs typeface="Calibri"/>
              <a:sym typeface="Calibri"/>
            </a:endParaRPr>
          </a:p>
        </p:txBody>
      </p:sp>
      <p:sp>
        <p:nvSpPr>
          <p:cNvPr id="226" name="Google Shape;226;p30"/>
          <p:cNvSpPr/>
          <p:nvPr/>
        </p:nvSpPr>
        <p:spPr>
          <a:xfrm>
            <a:off x="822960" y="3291840"/>
            <a:ext cx="1371600" cy="36576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667EEA"/>
              </a:buClr>
              <a:buSzPts val="3200"/>
              <a:buFont typeface="Calibri"/>
              <a:buNone/>
            </a:pPr>
            <a:r>
              <a:rPr b="1" lang="en" sz="3200">
                <a:solidFill>
                  <a:srgbClr val="667EEA"/>
                </a:solidFill>
                <a:latin typeface="Calibri"/>
                <a:ea typeface="Calibri"/>
                <a:cs typeface="Calibri"/>
                <a:sym typeface="Calibri"/>
              </a:rPr>
              <a:t>5</a:t>
            </a:r>
            <a:endParaRPr sz="3200">
              <a:solidFill>
                <a:schemeClr val="dk1"/>
              </a:solidFill>
              <a:latin typeface="Calibri"/>
              <a:ea typeface="Calibri"/>
              <a:cs typeface="Calibri"/>
              <a:sym typeface="Calibri"/>
            </a:endParaRPr>
          </a:p>
        </p:txBody>
      </p:sp>
      <p:sp>
        <p:nvSpPr>
          <p:cNvPr id="227" name="Google Shape;227;p30"/>
          <p:cNvSpPr/>
          <p:nvPr/>
        </p:nvSpPr>
        <p:spPr>
          <a:xfrm>
            <a:off x="2286000" y="3337560"/>
            <a:ext cx="18288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E2761"/>
              </a:buClr>
              <a:buSzPts val="1300"/>
              <a:buFont typeface="Calibri"/>
              <a:buNone/>
            </a:pPr>
            <a:r>
              <a:rPr b="1" lang="en" sz="1300">
                <a:solidFill>
                  <a:srgbClr val="1E2761"/>
                </a:solidFill>
                <a:latin typeface="Calibri"/>
                <a:ea typeface="Calibri"/>
                <a:cs typeface="Calibri"/>
                <a:sym typeface="Calibri"/>
              </a:rPr>
              <a:t>Categories</a:t>
            </a:r>
            <a:endParaRPr sz="1300">
              <a:solidFill>
                <a:schemeClr val="dk1"/>
              </a:solidFill>
              <a:latin typeface="Calibri"/>
              <a:ea typeface="Calibri"/>
              <a:cs typeface="Calibri"/>
              <a:sym typeface="Calibri"/>
            </a:endParaRPr>
          </a:p>
        </p:txBody>
      </p:sp>
      <p:sp>
        <p:nvSpPr>
          <p:cNvPr id="228" name="Google Shape;228;p30"/>
          <p:cNvSpPr/>
          <p:nvPr/>
        </p:nvSpPr>
        <p:spPr>
          <a:xfrm>
            <a:off x="2286000" y="3566160"/>
            <a:ext cx="1828800" cy="1828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666666"/>
              </a:buClr>
              <a:buSzPts val="1000"/>
              <a:buFont typeface="Calibri"/>
              <a:buNone/>
            </a:pPr>
            <a:r>
              <a:rPr i="1" lang="en" sz="1000">
                <a:solidFill>
                  <a:srgbClr val="666666"/>
                </a:solidFill>
                <a:latin typeface="Calibri"/>
                <a:ea typeface="Calibri"/>
                <a:cs typeface="Calibri"/>
                <a:sym typeface="Calibri"/>
              </a:rPr>
              <a:t>Fire, Kindle, Echo, Kids, TV</a:t>
            </a:r>
            <a:endParaRPr sz="1000">
              <a:solidFill>
                <a:schemeClr val="dk1"/>
              </a:solidFill>
              <a:latin typeface="Calibri"/>
              <a:ea typeface="Calibri"/>
              <a:cs typeface="Calibri"/>
              <a:sym typeface="Calibri"/>
            </a:endParaRPr>
          </a:p>
        </p:txBody>
      </p:sp>
      <p:sp>
        <p:nvSpPr>
          <p:cNvPr id="229" name="Google Shape;229;p30"/>
          <p:cNvSpPr/>
          <p:nvPr/>
        </p:nvSpPr>
        <p:spPr>
          <a:xfrm>
            <a:off x="4754880" y="1280160"/>
            <a:ext cx="3931920" cy="2560320"/>
          </a:xfrm>
          <a:prstGeom prst="roundRect">
            <a:avLst>
              <a:gd fmla="val 16667" name="adj"/>
            </a:avLst>
          </a:prstGeom>
          <a:solidFill>
            <a:srgbClr val="F8F9FA"/>
          </a:solidFill>
          <a:ln cap="flat" cmpd="sng" w="25400">
            <a:solidFill>
              <a:srgbClr val="667EE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0" name="Google Shape;230;p30"/>
          <p:cNvSpPr/>
          <p:nvPr/>
        </p:nvSpPr>
        <p:spPr>
          <a:xfrm>
            <a:off x="4937760" y="1463040"/>
            <a:ext cx="3566160" cy="3657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E2761"/>
              </a:buClr>
              <a:buSzPts val="1800"/>
              <a:buFont typeface="Calibri"/>
              <a:buNone/>
            </a:pPr>
            <a:r>
              <a:rPr b="1" lang="en" sz="1800">
                <a:solidFill>
                  <a:srgbClr val="1E2761"/>
                </a:solidFill>
                <a:latin typeface="Calibri"/>
                <a:ea typeface="Calibri"/>
                <a:cs typeface="Calibri"/>
                <a:sym typeface="Calibri"/>
              </a:rPr>
              <a:t>Class Distribution</a:t>
            </a:r>
            <a:endParaRPr sz="1800">
              <a:solidFill>
                <a:schemeClr val="dk1"/>
              </a:solidFill>
              <a:latin typeface="Calibri"/>
              <a:ea typeface="Calibri"/>
              <a:cs typeface="Calibri"/>
              <a:sym typeface="Calibri"/>
            </a:endParaRPr>
          </a:p>
        </p:txBody>
      </p:sp>
      <p:sp>
        <p:nvSpPr>
          <p:cNvPr id="231" name="Google Shape;231;p30"/>
          <p:cNvSpPr/>
          <p:nvPr/>
        </p:nvSpPr>
        <p:spPr>
          <a:xfrm>
            <a:off x="5029200" y="2103120"/>
            <a:ext cx="914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E2761"/>
              </a:buClr>
              <a:buSzPts val="1200"/>
              <a:buFont typeface="Calibri"/>
              <a:buNone/>
            </a:pPr>
            <a:r>
              <a:rPr b="1" lang="en" sz="1200">
                <a:solidFill>
                  <a:srgbClr val="1E2761"/>
                </a:solidFill>
                <a:latin typeface="Calibri"/>
                <a:ea typeface="Calibri"/>
                <a:cs typeface="Calibri"/>
                <a:sym typeface="Calibri"/>
              </a:rPr>
              <a:t>Positive</a:t>
            </a:r>
            <a:endParaRPr sz="1200">
              <a:solidFill>
                <a:schemeClr val="dk1"/>
              </a:solidFill>
              <a:latin typeface="Calibri"/>
              <a:ea typeface="Calibri"/>
              <a:cs typeface="Calibri"/>
              <a:sym typeface="Calibri"/>
            </a:endParaRPr>
          </a:p>
        </p:txBody>
      </p:sp>
      <p:sp>
        <p:nvSpPr>
          <p:cNvPr id="232" name="Google Shape;232;p30"/>
          <p:cNvSpPr/>
          <p:nvPr/>
        </p:nvSpPr>
        <p:spPr>
          <a:xfrm>
            <a:off x="6035040" y="2121408"/>
            <a:ext cx="2286000" cy="228600"/>
          </a:xfrm>
          <a:prstGeom prst="rect">
            <a:avLst/>
          </a:prstGeom>
          <a:solidFill>
            <a:srgbClr val="E0E0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3" name="Google Shape;233;p30"/>
          <p:cNvSpPr/>
          <p:nvPr/>
        </p:nvSpPr>
        <p:spPr>
          <a:xfrm>
            <a:off x="6035040" y="2121408"/>
            <a:ext cx="2080260" cy="228600"/>
          </a:xfrm>
          <a:prstGeom prst="rect">
            <a:avLst/>
          </a:prstGeom>
          <a:solidFill>
            <a:srgbClr val="4CAF5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4" name="Google Shape;234;p30"/>
          <p:cNvSpPr/>
          <p:nvPr/>
        </p:nvSpPr>
        <p:spPr>
          <a:xfrm>
            <a:off x="8092440" y="2093976"/>
            <a:ext cx="4572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4CAF50"/>
              </a:buClr>
              <a:buSzPts val="1100"/>
              <a:buFont typeface="Calibri"/>
              <a:buNone/>
            </a:pPr>
            <a:r>
              <a:rPr b="1" lang="en" sz="1100">
                <a:solidFill>
                  <a:srgbClr val="4CAF50"/>
                </a:solidFill>
                <a:latin typeface="Calibri"/>
                <a:ea typeface="Calibri"/>
                <a:cs typeface="Calibri"/>
                <a:sym typeface="Calibri"/>
              </a:rPr>
              <a:t>91%</a:t>
            </a:r>
            <a:endParaRPr sz="1100">
              <a:solidFill>
                <a:schemeClr val="dk1"/>
              </a:solidFill>
              <a:latin typeface="Calibri"/>
              <a:ea typeface="Calibri"/>
              <a:cs typeface="Calibri"/>
              <a:sym typeface="Calibri"/>
            </a:endParaRPr>
          </a:p>
        </p:txBody>
      </p:sp>
      <p:sp>
        <p:nvSpPr>
          <p:cNvPr id="235" name="Google Shape;235;p30"/>
          <p:cNvSpPr/>
          <p:nvPr/>
        </p:nvSpPr>
        <p:spPr>
          <a:xfrm>
            <a:off x="5029200" y="2743200"/>
            <a:ext cx="914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E2761"/>
              </a:buClr>
              <a:buSzPts val="1200"/>
              <a:buFont typeface="Calibri"/>
              <a:buNone/>
            </a:pPr>
            <a:r>
              <a:rPr b="1" lang="en" sz="1200">
                <a:solidFill>
                  <a:srgbClr val="1E2761"/>
                </a:solidFill>
                <a:latin typeface="Calibri"/>
                <a:ea typeface="Calibri"/>
                <a:cs typeface="Calibri"/>
                <a:sym typeface="Calibri"/>
              </a:rPr>
              <a:t>Neutral</a:t>
            </a:r>
            <a:endParaRPr sz="1200">
              <a:solidFill>
                <a:schemeClr val="dk1"/>
              </a:solidFill>
              <a:latin typeface="Calibri"/>
              <a:ea typeface="Calibri"/>
              <a:cs typeface="Calibri"/>
              <a:sym typeface="Calibri"/>
            </a:endParaRPr>
          </a:p>
        </p:txBody>
      </p:sp>
      <p:sp>
        <p:nvSpPr>
          <p:cNvPr id="236" name="Google Shape;236;p30"/>
          <p:cNvSpPr/>
          <p:nvPr/>
        </p:nvSpPr>
        <p:spPr>
          <a:xfrm>
            <a:off x="6035040" y="2761488"/>
            <a:ext cx="2286000" cy="228600"/>
          </a:xfrm>
          <a:prstGeom prst="rect">
            <a:avLst/>
          </a:prstGeom>
          <a:solidFill>
            <a:srgbClr val="E0E0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7" name="Google Shape;237;p30"/>
          <p:cNvSpPr/>
          <p:nvPr/>
        </p:nvSpPr>
        <p:spPr>
          <a:xfrm>
            <a:off x="6035040" y="2761488"/>
            <a:ext cx="105156" cy="228600"/>
          </a:xfrm>
          <a:prstGeom prst="rect">
            <a:avLst/>
          </a:prstGeom>
          <a:solidFill>
            <a:srgbClr val="FFC10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8" name="Google Shape;238;p30"/>
          <p:cNvSpPr/>
          <p:nvPr/>
        </p:nvSpPr>
        <p:spPr>
          <a:xfrm>
            <a:off x="6231636" y="2743200"/>
            <a:ext cx="567554"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C107"/>
              </a:buClr>
              <a:buSzPts val="1100"/>
              <a:buFont typeface="Calibri"/>
              <a:buNone/>
            </a:pPr>
            <a:r>
              <a:rPr b="1" lang="en" sz="1100">
                <a:solidFill>
                  <a:srgbClr val="FFC107"/>
                </a:solidFill>
                <a:latin typeface="Calibri"/>
                <a:ea typeface="Calibri"/>
                <a:cs typeface="Calibri"/>
                <a:sym typeface="Calibri"/>
              </a:rPr>
              <a:t>4.6%</a:t>
            </a:r>
            <a:endParaRPr sz="1100">
              <a:solidFill>
                <a:schemeClr val="dk1"/>
              </a:solidFill>
              <a:latin typeface="Calibri"/>
              <a:ea typeface="Calibri"/>
              <a:cs typeface="Calibri"/>
              <a:sym typeface="Calibri"/>
            </a:endParaRPr>
          </a:p>
        </p:txBody>
      </p:sp>
      <p:sp>
        <p:nvSpPr>
          <p:cNvPr id="239" name="Google Shape;239;p30"/>
          <p:cNvSpPr/>
          <p:nvPr/>
        </p:nvSpPr>
        <p:spPr>
          <a:xfrm>
            <a:off x="5029200" y="3383280"/>
            <a:ext cx="914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E2761"/>
              </a:buClr>
              <a:buSzPts val="1200"/>
              <a:buFont typeface="Calibri"/>
              <a:buNone/>
            </a:pPr>
            <a:r>
              <a:rPr b="1" lang="en" sz="1200">
                <a:solidFill>
                  <a:srgbClr val="1E2761"/>
                </a:solidFill>
                <a:latin typeface="Calibri"/>
                <a:ea typeface="Calibri"/>
                <a:cs typeface="Calibri"/>
                <a:sym typeface="Calibri"/>
              </a:rPr>
              <a:t>Negative</a:t>
            </a:r>
            <a:endParaRPr sz="1200">
              <a:solidFill>
                <a:schemeClr val="dk1"/>
              </a:solidFill>
              <a:latin typeface="Calibri"/>
              <a:ea typeface="Calibri"/>
              <a:cs typeface="Calibri"/>
              <a:sym typeface="Calibri"/>
            </a:endParaRPr>
          </a:p>
        </p:txBody>
      </p:sp>
      <p:sp>
        <p:nvSpPr>
          <p:cNvPr id="240" name="Google Shape;240;p30"/>
          <p:cNvSpPr/>
          <p:nvPr/>
        </p:nvSpPr>
        <p:spPr>
          <a:xfrm>
            <a:off x="6035040" y="3401568"/>
            <a:ext cx="2286000" cy="228600"/>
          </a:xfrm>
          <a:prstGeom prst="rect">
            <a:avLst/>
          </a:prstGeom>
          <a:solidFill>
            <a:srgbClr val="E0E0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1" name="Google Shape;241;p30"/>
          <p:cNvSpPr/>
          <p:nvPr/>
        </p:nvSpPr>
        <p:spPr>
          <a:xfrm>
            <a:off x="6035040" y="3401568"/>
            <a:ext cx="96012" cy="228600"/>
          </a:xfrm>
          <a:prstGeom prst="rect">
            <a:avLst/>
          </a:prstGeom>
          <a:solidFill>
            <a:srgbClr val="F4433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2" name="Google Shape;242;p30"/>
          <p:cNvSpPr/>
          <p:nvPr/>
        </p:nvSpPr>
        <p:spPr>
          <a:xfrm>
            <a:off x="6222492" y="3383280"/>
            <a:ext cx="576698"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44336"/>
              </a:buClr>
              <a:buSzPts val="1100"/>
              <a:buFont typeface="Calibri"/>
              <a:buNone/>
            </a:pPr>
            <a:r>
              <a:rPr b="1" lang="en" sz="1100">
                <a:solidFill>
                  <a:srgbClr val="F44336"/>
                </a:solidFill>
                <a:latin typeface="Calibri"/>
                <a:ea typeface="Calibri"/>
                <a:cs typeface="Calibri"/>
                <a:sym typeface="Calibri"/>
              </a:rPr>
              <a:t>4.2%</a:t>
            </a:r>
            <a:endParaRPr sz="1100">
              <a:solidFill>
                <a:schemeClr val="dk1"/>
              </a:solidFill>
              <a:latin typeface="Calibri"/>
              <a:ea typeface="Calibri"/>
              <a:cs typeface="Calibri"/>
              <a:sym typeface="Calibri"/>
            </a:endParaRPr>
          </a:p>
        </p:txBody>
      </p:sp>
      <p:sp>
        <p:nvSpPr>
          <p:cNvPr id="243" name="Google Shape;243;p30"/>
          <p:cNvSpPr/>
          <p:nvPr/>
        </p:nvSpPr>
        <p:spPr>
          <a:xfrm>
            <a:off x="457200" y="3973827"/>
            <a:ext cx="8229600" cy="3657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667EEA"/>
              </a:buClr>
              <a:buSzPts val="1600"/>
              <a:buFont typeface="Calibri"/>
              <a:buNone/>
            </a:pPr>
            <a:r>
              <a:rPr b="1" lang="en" sz="1600">
                <a:solidFill>
                  <a:srgbClr val="667EEA"/>
                </a:solidFill>
                <a:latin typeface="Calibri"/>
                <a:ea typeface="Calibri"/>
                <a:cs typeface="Calibri"/>
                <a:sym typeface="Calibri"/>
              </a:rPr>
              <a:t>Key Challenges Addressed</a:t>
            </a:r>
            <a:endParaRPr sz="1600">
              <a:solidFill>
                <a:schemeClr val="dk1"/>
              </a:solidFill>
              <a:latin typeface="Calibri"/>
              <a:ea typeface="Calibri"/>
              <a:cs typeface="Calibri"/>
              <a:sym typeface="Calibri"/>
            </a:endParaRPr>
          </a:p>
        </p:txBody>
      </p:sp>
      <p:sp>
        <p:nvSpPr>
          <p:cNvPr id="244" name="Google Shape;244;p30"/>
          <p:cNvSpPr/>
          <p:nvPr/>
        </p:nvSpPr>
        <p:spPr>
          <a:xfrm>
            <a:off x="457200" y="4427214"/>
            <a:ext cx="457200" cy="36576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000000"/>
              </a:buClr>
              <a:buSzPts val="2400"/>
              <a:buFont typeface="Calibri"/>
              <a:buNone/>
            </a:pPr>
            <a:r>
              <a:rPr lang="en" sz="2400">
                <a:solidFill>
                  <a:srgbClr val="000000"/>
                </a:solidFill>
                <a:latin typeface="Calibri"/>
                <a:ea typeface="Calibri"/>
                <a:cs typeface="Calibri"/>
                <a:sym typeface="Calibri"/>
              </a:rPr>
              <a:t>⚖️</a:t>
            </a:r>
            <a:endParaRPr sz="2400">
              <a:solidFill>
                <a:schemeClr val="dk1"/>
              </a:solidFill>
              <a:latin typeface="Calibri"/>
              <a:ea typeface="Calibri"/>
              <a:cs typeface="Calibri"/>
              <a:sym typeface="Calibri"/>
            </a:endParaRPr>
          </a:p>
        </p:txBody>
      </p:sp>
      <p:sp>
        <p:nvSpPr>
          <p:cNvPr id="245" name="Google Shape;245;p30"/>
          <p:cNvSpPr/>
          <p:nvPr/>
        </p:nvSpPr>
        <p:spPr>
          <a:xfrm>
            <a:off x="1005840" y="4472934"/>
            <a:ext cx="22860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E2761"/>
              </a:buClr>
              <a:buSzPts val="1300"/>
              <a:buFont typeface="Calibri"/>
              <a:buNone/>
            </a:pPr>
            <a:r>
              <a:rPr b="1" lang="en" sz="1300">
                <a:solidFill>
                  <a:srgbClr val="1E2761"/>
                </a:solidFill>
                <a:latin typeface="Calibri"/>
                <a:ea typeface="Calibri"/>
                <a:cs typeface="Calibri"/>
                <a:sym typeface="Calibri"/>
              </a:rPr>
              <a:t>Class Imbalance</a:t>
            </a:r>
            <a:endParaRPr sz="1300">
              <a:solidFill>
                <a:schemeClr val="dk1"/>
              </a:solidFill>
              <a:latin typeface="Calibri"/>
              <a:ea typeface="Calibri"/>
              <a:cs typeface="Calibri"/>
              <a:sym typeface="Calibri"/>
            </a:endParaRPr>
          </a:p>
        </p:txBody>
      </p:sp>
      <p:sp>
        <p:nvSpPr>
          <p:cNvPr id="246" name="Google Shape;246;p30"/>
          <p:cNvSpPr/>
          <p:nvPr/>
        </p:nvSpPr>
        <p:spPr>
          <a:xfrm>
            <a:off x="1005840" y="4747254"/>
            <a:ext cx="22860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55555"/>
              </a:buClr>
              <a:buSzPts val="1100"/>
              <a:buFont typeface="Calibri"/>
              <a:buNone/>
            </a:pPr>
            <a:r>
              <a:rPr lang="en" sz="1100">
                <a:solidFill>
                  <a:srgbClr val="555555"/>
                </a:solidFill>
                <a:latin typeface="Calibri"/>
                <a:ea typeface="Calibri"/>
                <a:cs typeface="Calibri"/>
                <a:sym typeface="Calibri"/>
              </a:rPr>
              <a:t>Weighted loss + balanced test set</a:t>
            </a:r>
            <a:endParaRPr sz="1100">
              <a:solidFill>
                <a:schemeClr val="dk1"/>
              </a:solidFill>
              <a:latin typeface="Calibri"/>
              <a:ea typeface="Calibri"/>
              <a:cs typeface="Calibri"/>
              <a:sym typeface="Calibri"/>
            </a:endParaRPr>
          </a:p>
        </p:txBody>
      </p:sp>
      <p:sp>
        <p:nvSpPr>
          <p:cNvPr id="247" name="Google Shape;247;p30"/>
          <p:cNvSpPr/>
          <p:nvPr/>
        </p:nvSpPr>
        <p:spPr>
          <a:xfrm>
            <a:off x="3291840" y="4435025"/>
            <a:ext cx="457200" cy="36576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000000"/>
              </a:buClr>
              <a:buSzPts val="2400"/>
              <a:buFont typeface="Calibri"/>
              <a:buNone/>
            </a:pPr>
            <a:r>
              <a:rPr lang="en" sz="2400">
                <a:solidFill>
                  <a:srgbClr val="000000"/>
                </a:solidFill>
                <a:latin typeface="Calibri"/>
                <a:ea typeface="Calibri"/>
                <a:cs typeface="Calibri"/>
                <a:sym typeface="Calibri"/>
              </a:rPr>
              <a:t>🔍</a:t>
            </a:r>
            <a:endParaRPr sz="2400">
              <a:solidFill>
                <a:schemeClr val="dk1"/>
              </a:solidFill>
              <a:latin typeface="Calibri"/>
              <a:ea typeface="Calibri"/>
              <a:cs typeface="Calibri"/>
              <a:sym typeface="Calibri"/>
            </a:endParaRPr>
          </a:p>
        </p:txBody>
      </p:sp>
      <p:sp>
        <p:nvSpPr>
          <p:cNvPr id="248" name="Google Shape;248;p30"/>
          <p:cNvSpPr/>
          <p:nvPr/>
        </p:nvSpPr>
        <p:spPr>
          <a:xfrm>
            <a:off x="3840480" y="4480745"/>
            <a:ext cx="22860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E2761"/>
              </a:buClr>
              <a:buSzPts val="1300"/>
              <a:buFont typeface="Calibri"/>
              <a:buNone/>
            </a:pPr>
            <a:r>
              <a:rPr b="1" lang="en" sz="1300">
                <a:solidFill>
                  <a:srgbClr val="1E2761"/>
                </a:solidFill>
                <a:latin typeface="Calibri"/>
                <a:ea typeface="Calibri"/>
                <a:cs typeface="Calibri"/>
                <a:sym typeface="Calibri"/>
              </a:rPr>
              <a:t>Category Noise</a:t>
            </a:r>
            <a:endParaRPr sz="1300">
              <a:solidFill>
                <a:schemeClr val="dk1"/>
              </a:solidFill>
              <a:latin typeface="Calibri"/>
              <a:ea typeface="Calibri"/>
              <a:cs typeface="Calibri"/>
              <a:sym typeface="Calibri"/>
            </a:endParaRPr>
          </a:p>
        </p:txBody>
      </p:sp>
      <p:sp>
        <p:nvSpPr>
          <p:cNvPr id="249" name="Google Shape;249;p30"/>
          <p:cNvSpPr/>
          <p:nvPr/>
        </p:nvSpPr>
        <p:spPr>
          <a:xfrm>
            <a:off x="3840480" y="4755065"/>
            <a:ext cx="22860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55555"/>
              </a:buClr>
              <a:buSzPts val="1100"/>
              <a:buFont typeface="Calibri"/>
              <a:buNone/>
            </a:pPr>
            <a:r>
              <a:rPr lang="en" sz="1100">
                <a:solidFill>
                  <a:srgbClr val="555555"/>
                </a:solidFill>
                <a:latin typeface="Calibri"/>
                <a:ea typeface="Calibri"/>
                <a:cs typeface="Calibri"/>
                <a:sym typeface="Calibri"/>
              </a:rPr>
              <a:t>Filtered problematic categories</a:t>
            </a:r>
            <a:endParaRPr sz="1100">
              <a:solidFill>
                <a:schemeClr val="dk1"/>
              </a:solidFill>
              <a:latin typeface="Calibri"/>
              <a:ea typeface="Calibri"/>
              <a:cs typeface="Calibri"/>
              <a:sym typeface="Calibri"/>
            </a:endParaRPr>
          </a:p>
        </p:txBody>
      </p:sp>
      <p:sp>
        <p:nvSpPr>
          <p:cNvPr id="250" name="Google Shape;250;p30"/>
          <p:cNvSpPr/>
          <p:nvPr/>
        </p:nvSpPr>
        <p:spPr>
          <a:xfrm>
            <a:off x="5943600" y="4427214"/>
            <a:ext cx="457200" cy="36576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000000"/>
              </a:buClr>
              <a:buSzPts val="2400"/>
              <a:buFont typeface="Calibri"/>
              <a:buNone/>
            </a:pPr>
            <a:r>
              <a:rPr lang="en" sz="2400">
                <a:solidFill>
                  <a:srgbClr val="000000"/>
                </a:solidFill>
                <a:latin typeface="Calibri"/>
                <a:ea typeface="Calibri"/>
                <a:cs typeface="Calibri"/>
                <a:sym typeface="Calibri"/>
              </a:rPr>
              <a:t>📊</a:t>
            </a:r>
            <a:endParaRPr sz="2400">
              <a:solidFill>
                <a:schemeClr val="dk1"/>
              </a:solidFill>
              <a:latin typeface="Calibri"/>
              <a:ea typeface="Calibri"/>
              <a:cs typeface="Calibri"/>
              <a:sym typeface="Calibri"/>
            </a:endParaRPr>
          </a:p>
        </p:txBody>
      </p:sp>
      <p:sp>
        <p:nvSpPr>
          <p:cNvPr id="251" name="Google Shape;251;p30"/>
          <p:cNvSpPr/>
          <p:nvPr/>
        </p:nvSpPr>
        <p:spPr>
          <a:xfrm>
            <a:off x="6492240" y="4472934"/>
            <a:ext cx="22860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E2761"/>
              </a:buClr>
              <a:buSzPts val="1300"/>
              <a:buFont typeface="Calibri"/>
              <a:buNone/>
            </a:pPr>
            <a:r>
              <a:rPr b="1" lang="en" sz="1300">
                <a:solidFill>
                  <a:srgbClr val="1E2761"/>
                </a:solidFill>
                <a:latin typeface="Calibri"/>
                <a:ea typeface="Calibri"/>
                <a:cs typeface="Calibri"/>
                <a:sym typeface="Calibri"/>
              </a:rPr>
              <a:t>Data Leakage</a:t>
            </a:r>
            <a:endParaRPr sz="1300">
              <a:solidFill>
                <a:schemeClr val="dk1"/>
              </a:solidFill>
              <a:latin typeface="Calibri"/>
              <a:ea typeface="Calibri"/>
              <a:cs typeface="Calibri"/>
              <a:sym typeface="Calibri"/>
            </a:endParaRPr>
          </a:p>
        </p:txBody>
      </p:sp>
      <p:sp>
        <p:nvSpPr>
          <p:cNvPr id="252" name="Google Shape;252;p30"/>
          <p:cNvSpPr/>
          <p:nvPr/>
        </p:nvSpPr>
        <p:spPr>
          <a:xfrm>
            <a:off x="6492240" y="4747254"/>
            <a:ext cx="22860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55555"/>
              </a:buClr>
              <a:buSzPts val="1100"/>
              <a:buFont typeface="Calibri"/>
              <a:buNone/>
            </a:pPr>
            <a:r>
              <a:rPr lang="en" sz="1100">
                <a:solidFill>
                  <a:srgbClr val="555555"/>
                </a:solidFill>
                <a:latin typeface="Calibri"/>
                <a:ea typeface="Calibri"/>
                <a:cs typeface="Calibri"/>
                <a:sym typeface="Calibri"/>
              </a:rPr>
              <a:t>Split before preprocessing</a:t>
            </a:r>
            <a:endParaRPr sz="1100">
              <a:solidFill>
                <a:schemeClr val="dk1"/>
              </a:solidFill>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57" name="Shape 257"/>
        <p:cNvGrpSpPr/>
        <p:nvPr/>
      </p:nvGrpSpPr>
      <p:grpSpPr>
        <a:xfrm>
          <a:off x="0" y="0"/>
          <a:ext cx="0" cy="0"/>
          <a:chOff x="0" y="0"/>
          <a:chExt cx="0" cy="0"/>
        </a:xfrm>
      </p:grpSpPr>
      <p:sp>
        <p:nvSpPr>
          <p:cNvPr id="258" name="Google Shape;258;p31"/>
          <p:cNvSpPr/>
          <p:nvPr/>
        </p:nvSpPr>
        <p:spPr>
          <a:xfrm>
            <a:off x="457200" y="457200"/>
            <a:ext cx="8229600" cy="5486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E2761"/>
              </a:buClr>
              <a:buSzPts val="3600"/>
              <a:buFont typeface="Calibri"/>
              <a:buNone/>
            </a:pPr>
            <a:r>
              <a:rPr b="1" lang="en" sz="3600">
                <a:solidFill>
                  <a:srgbClr val="1E2761"/>
                </a:solidFill>
                <a:latin typeface="Calibri"/>
                <a:ea typeface="Calibri"/>
                <a:cs typeface="Calibri"/>
                <a:sym typeface="Calibri"/>
              </a:rPr>
              <a:t>Models &amp; Methodology</a:t>
            </a:r>
            <a:endParaRPr sz="3600">
              <a:solidFill>
                <a:schemeClr val="dk1"/>
              </a:solidFill>
              <a:latin typeface="Calibri"/>
              <a:ea typeface="Calibri"/>
              <a:cs typeface="Calibri"/>
              <a:sym typeface="Calibri"/>
            </a:endParaRPr>
          </a:p>
        </p:txBody>
      </p:sp>
      <p:sp>
        <p:nvSpPr>
          <p:cNvPr id="259" name="Google Shape;259;p31"/>
          <p:cNvSpPr/>
          <p:nvPr/>
        </p:nvSpPr>
        <p:spPr>
          <a:xfrm>
            <a:off x="2194552" y="1327425"/>
            <a:ext cx="2103000" cy="3657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667EEA"/>
              </a:buClr>
              <a:buSzPts val="2000"/>
              <a:buFont typeface="Calibri"/>
              <a:buNone/>
            </a:pPr>
            <a:r>
              <a:rPr b="1" lang="en" sz="2000">
                <a:solidFill>
                  <a:srgbClr val="667EEA"/>
                </a:solidFill>
                <a:latin typeface="Calibri"/>
                <a:ea typeface="Calibri"/>
                <a:cs typeface="Calibri"/>
                <a:sym typeface="Calibri"/>
              </a:rPr>
              <a:t>Models Used</a:t>
            </a:r>
            <a:endParaRPr sz="2000">
              <a:solidFill>
                <a:schemeClr val="dk1"/>
              </a:solidFill>
              <a:latin typeface="Calibri"/>
              <a:ea typeface="Calibri"/>
              <a:cs typeface="Calibri"/>
              <a:sym typeface="Calibri"/>
            </a:endParaRPr>
          </a:p>
        </p:txBody>
      </p:sp>
      <p:sp>
        <p:nvSpPr>
          <p:cNvPr id="260" name="Google Shape;260;p31"/>
          <p:cNvSpPr/>
          <p:nvPr/>
        </p:nvSpPr>
        <p:spPr>
          <a:xfrm>
            <a:off x="457200" y="1855470"/>
            <a:ext cx="1554917"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E2761"/>
              </a:buClr>
              <a:buSzPts val="1100"/>
              <a:buFont typeface="Calibri"/>
              <a:buNone/>
            </a:pPr>
            <a:r>
              <a:rPr b="1" lang="en" sz="1100">
                <a:solidFill>
                  <a:srgbClr val="1E2761"/>
                </a:solidFill>
                <a:latin typeface="Calibri"/>
                <a:ea typeface="Calibri"/>
                <a:cs typeface="Calibri"/>
                <a:sym typeface="Calibri"/>
              </a:rPr>
              <a:t>Sentiment (Baseline)</a:t>
            </a:r>
            <a:endParaRPr sz="1100">
              <a:solidFill>
                <a:schemeClr val="dk1"/>
              </a:solidFill>
              <a:latin typeface="Calibri"/>
              <a:ea typeface="Calibri"/>
              <a:cs typeface="Calibri"/>
              <a:sym typeface="Calibri"/>
            </a:endParaRPr>
          </a:p>
        </p:txBody>
      </p:sp>
      <p:sp>
        <p:nvSpPr>
          <p:cNvPr id="261" name="Google Shape;261;p31"/>
          <p:cNvSpPr/>
          <p:nvPr/>
        </p:nvSpPr>
        <p:spPr>
          <a:xfrm>
            <a:off x="2194560" y="1855470"/>
            <a:ext cx="2159606"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333333"/>
              </a:buClr>
              <a:buSzPts val="1100"/>
              <a:buFont typeface="Calibri"/>
              <a:buNone/>
            </a:pPr>
            <a:r>
              <a:rPr lang="en" sz="1100">
                <a:solidFill>
                  <a:srgbClr val="333333"/>
                </a:solidFill>
                <a:latin typeface="Calibri"/>
                <a:ea typeface="Calibri"/>
                <a:cs typeface="Calibri"/>
                <a:sym typeface="Calibri"/>
              </a:rPr>
              <a:t>Logistic Regression + TF-IDF</a:t>
            </a:r>
            <a:endParaRPr sz="1100">
              <a:solidFill>
                <a:schemeClr val="dk1"/>
              </a:solidFill>
              <a:latin typeface="Calibri"/>
              <a:ea typeface="Calibri"/>
              <a:cs typeface="Calibri"/>
              <a:sym typeface="Calibri"/>
            </a:endParaRPr>
          </a:p>
        </p:txBody>
      </p:sp>
      <p:sp>
        <p:nvSpPr>
          <p:cNvPr id="262" name="Google Shape;262;p31"/>
          <p:cNvSpPr/>
          <p:nvPr/>
        </p:nvSpPr>
        <p:spPr>
          <a:xfrm>
            <a:off x="457200" y="2312670"/>
            <a:ext cx="1554917"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E2761"/>
              </a:buClr>
              <a:buSzPts val="1100"/>
              <a:buFont typeface="Calibri"/>
              <a:buNone/>
            </a:pPr>
            <a:r>
              <a:rPr b="1" lang="en" sz="1100">
                <a:solidFill>
                  <a:srgbClr val="1E2761"/>
                </a:solidFill>
                <a:latin typeface="Calibri"/>
                <a:ea typeface="Calibri"/>
                <a:cs typeface="Calibri"/>
                <a:sym typeface="Calibri"/>
              </a:rPr>
              <a:t>Sentiment (Zero-Shot)</a:t>
            </a:r>
            <a:endParaRPr sz="1100">
              <a:solidFill>
                <a:schemeClr val="dk1"/>
              </a:solidFill>
              <a:latin typeface="Calibri"/>
              <a:ea typeface="Calibri"/>
              <a:cs typeface="Calibri"/>
              <a:sym typeface="Calibri"/>
            </a:endParaRPr>
          </a:p>
        </p:txBody>
      </p:sp>
      <p:sp>
        <p:nvSpPr>
          <p:cNvPr id="263" name="Google Shape;263;p31"/>
          <p:cNvSpPr/>
          <p:nvPr/>
        </p:nvSpPr>
        <p:spPr>
          <a:xfrm>
            <a:off x="2194560" y="2312670"/>
            <a:ext cx="2159606"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333333"/>
              </a:buClr>
              <a:buSzPts val="1100"/>
              <a:buFont typeface="Calibri"/>
              <a:buNone/>
            </a:pPr>
            <a:r>
              <a:rPr lang="en" sz="1100">
                <a:solidFill>
                  <a:srgbClr val="333333"/>
                </a:solidFill>
                <a:latin typeface="Calibri"/>
                <a:ea typeface="Calibri"/>
                <a:cs typeface="Calibri"/>
                <a:sym typeface="Calibri"/>
              </a:rPr>
              <a:t>RoBERTa (Cardiff)</a:t>
            </a:r>
            <a:endParaRPr sz="1100">
              <a:solidFill>
                <a:schemeClr val="dk1"/>
              </a:solidFill>
              <a:latin typeface="Calibri"/>
              <a:ea typeface="Calibri"/>
              <a:cs typeface="Calibri"/>
              <a:sym typeface="Calibri"/>
            </a:endParaRPr>
          </a:p>
        </p:txBody>
      </p:sp>
      <p:sp>
        <p:nvSpPr>
          <p:cNvPr id="264" name="Google Shape;264;p31"/>
          <p:cNvSpPr/>
          <p:nvPr/>
        </p:nvSpPr>
        <p:spPr>
          <a:xfrm>
            <a:off x="457200" y="2769870"/>
            <a:ext cx="1554917"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E2761"/>
              </a:buClr>
              <a:buSzPts val="1100"/>
              <a:buFont typeface="Calibri"/>
              <a:buNone/>
            </a:pPr>
            <a:r>
              <a:rPr b="1" lang="en" sz="1100">
                <a:solidFill>
                  <a:srgbClr val="1E2761"/>
                </a:solidFill>
                <a:latin typeface="Calibri"/>
                <a:ea typeface="Calibri"/>
                <a:cs typeface="Calibri"/>
                <a:sym typeface="Calibri"/>
              </a:rPr>
              <a:t>Sentiment (Fine-Tuned)</a:t>
            </a:r>
            <a:endParaRPr sz="1100">
              <a:solidFill>
                <a:schemeClr val="dk1"/>
              </a:solidFill>
              <a:latin typeface="Calibri"/>
              <a:ea typeface="Calibri"/>
              <a:cs typeface="Calibri"/>
              <a:sym typeface="Calibri"/>
            </a:endParaRPr>
          </a:p>
        </p:txBody>
      </p:sp>
      <p:sp>
        <p:nvSpPr>
          <p:cNvPr id="265" name="Google Shape;265;p31"/>
          <p:cNvSpPr/>
          <p:nvPr/>
        </p:nvSpPr>
        <p:spPr>
          <a:xfrm>
            <a:off x="2194560" y="2769870"/>
            <a:ext cx="2159606"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333333"/>
              </a:buClr>
              <a:buSzPts val="1100"/>
              <a:buFont typeface="Calibri"/>
              <a:buNone/>
            </a:pPr>
            <a:r>
              <a:rPr lang="en" sz="1100">
                <a:solidFill>
                  <a:srgbClr val="333333"/>
                </a:solidFill>
                <a:latin typeface="Calibri"/>
                <a:ea typeface="Calibri"/>
                <a:cs typeface="Calibri"/>
                <a:sym typeface="Calibri"/>
              </a:rPr>
              <a:t>RoBERTa (Fine-tuned)</a:t>
            </a:r>
            <a:endParaRPr sz="1100">
              <a:solidFill>
                <a:schemeClr val="dk1"/>
              </a:solidFill>
              <a:latin typeface="Calibri"/>
              <a:ea typeface="Calibri"/>
              <a:cs typeface="Calibri"/>
              <a:sym typeface="Calibri"/>
            </a:endParaRPr>
          </a:p>
        </p:txBody>
      </p:sp>
      <p:sp>
        <p:nvSpPr>
          <p:cNvPr id="266" name="Google Shape;266;p31"/>
          <p:cNvSpPr/>
          <p:nvPr/>
        </p:nvSpPr>
        <p:spPr>
          <a:xfrm>
            <a:off x="457200" y="3227070"/>
            <a:ext cx="1554917"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E2761"/>
              </a:buClr>
              <a:buSzPts val="1100"/>
              <a:buFont typeface="Calibri"/>
              <a:buNone/>
            </a:pPr>
            <a:r>
              <a:rPr b="1" lang="en" sz="1100">
                <a:solidFill>
                  <a:srgbClr val="1E2761"/>
                </a:solidFill>
                <a:latin typeface="Calibri"/>
                <a:ea typeface="Calibri"/>
                <a:cs typeface="Calibri"/>
                <a:sym typeface="Calibri"/>
              </a:rPr>
              <a:t>Embeddings</a:t>
            </a:r>
            <a:endParaRPr sz="1100">
              <a:solidFill>
                <a:schemeClr val="dk1"/>
              </a:solidFill>
              <a:latin typeface="Calibri"/>
              <a:ea typeface="Calibri"/>
              <a:cs typeface="Calibri"/>
              <a:sym typeface="Calibri"/>
            </a:endParaRPr>
          </a:p>
        </p:txBody>
      </p:sp>
      <p:sp>
        <p:nvSpPr>
          <p:cNvPr id="267" name="Google Shape;267;p31"/>
          <p:cNvSpPr/>
          <p:nvPr/>
        </p:nvSpPr>
        <p:spPr>
          <a:xfrm>
            <a:off x="2194560" y="3227070"/>
            <a:ext cx="2159606"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333333"/>
              </a:buClr>
              <a:buSzPts val="1100"/>
              <a:buFont typeface="Calibri"/>
              <a:buNone/>
            </a:pPr>
            <a:r>
              <a:rPr lang="en" sz="1100">
                <a:solidFill>
                  <a:srgbClr val="333333"/>
                </a:solidFill>
                <a:latin typeface="Calibri"/>
                <a:ea typeface="Calibri"/>
                <a:cs typeface="Calibri"/>
                <a:sym typeface="Calibri"/>
              </a:rPr>
              <a:t>Sentence Transformers MiniLM</a:t>
            </a:r>
            <a:endParaRPr sz="1100">
              <a:solidFill>
                <a:schemeClr val="dk1"/>
              </a:solidFill>
              <a:latin typeface="Calibri"/>
              <a:ea typeface="Calibri"/>
              <a:cs typeface="Calibri"/>
              <a:sym typeface="Calibri"/>
            </a:endParaRPr>
          </a:p>
        </p:txBody>
      </p:sp>
      <p:sp>
        <p:nvSpPr>
          <p:cNvPr id="268" name="Google Shape;268;p31"/>
          <p:cNvSpPr/>
          <p:nvPr/>
        </p:nvSpPr>
        <p:spPr>
          <a:xfrm>
            <a:off x="457200" y="3684270"/>
            <a:ext cx="1554917"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E2761"/>
              </a:buClr>
              <a:buSzPts val="1100"/>
              <a:buFont typeface="Calibri"/>
              <a:buNone/>
            </a:pPr>
            <a:r>
              <a:rPr b="1" lang="en" sz="1100">
                <a:solidFill>
                  <a:srgbClr val="1E2761"/>
                </a:solidFill>
                <a:latin typeface="Calibri"/>
                <a:ea typeface="Calibri"/>
                <a:cs typeface="Calibri"/>
                <a:sym typeface="Calibri"/>
              </a:rPr>
              <a:t>Clustering</a:t>
            </a:r>
            <a:endParaRPr sz="1100">
              <a:solidFill>
                <a:schemeClr val="dk1"/>
              </a:solidFill>
              <a:latin typeface="Calibri"/>
              <a:ea typeface="Calibri"/>
              <a:cs typeface="Calibri"/>
              <a:sym typeface="Calibri"/>
            </a:endParaRPr>
          </a:p>
        </p:txBody>
      </p:sp>
      <p:sp>
        <p:nvSpPr>
          <p:cNvPr id="269" name="Google Shape;269;p31"/>
          <p:cNvSpPr/>
          <p:nvPr/>
        </p:nvSpPr>
        <p:spPr>
          <a:xfrm>
            <a:off x="2194560" y="3684270"/>
            <a:ext cx="2159606"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333333"/>
              </a:buClr>
              <a:buSzPts val="1100"/>
              <a:buFont typeface="Calibri"/>
              <a:buNone/>
            </a:pPr>
            <a:r>
              <a:rPr lang="en" sz="1100">
                <a:solidFill>
                  <a:srgbClr val="333333"/>
                </a:solidFill>
                <a:latin typeface="Calibri"/>
                <a:ea typeface="Calibri"/>
                <a:cs typeface="Calibri"/>
                <a:sym typeface="Calibri"/>
              </a:rPr>
              <a:t>K-Means (k=5)</a:t>
            </a:r>
            <a:endParaRPr sz="1100">
              <a:solidFill>
                <a:schemeClr val="dk1"/>
              </a:solidFill>
              <a:latin typeface="Calibri"/>
              <a:ea typeface="Calibri"/>
              <a:cs typeface="Calibri"/>
              <a:sym typeface="Calibri"/>
            </a:endParaRPr>
          </a:p>
        </p:txBody>
      </p:sp>
      <p:sp>
        <p:nvSpPr>
          <p:cNvPr id="270" name="Google Shape;270;p31"/>
          <p:cNvSpPr/>
          <p:nvPr/>
        </p:nvSpPr>
        <p:spPr>
          <a:xfrm>
            <a:off x="457200" y="4141470"/>
            <a:ext cx="1554917"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E2761"/>
              </a:buClr>
              <a:buSzPts val="1100"/>
              <a:buFont typeface="Calibri"/>
              <a:buNone/>
            </a:pPr>
            <a:r>
              <a:rPr b="1" lang="en" sz="1100">
                <a:solidFill>
                  <a:srgbClr val="1E2761"/>
                </a:solidFill>
                <a:latin typeface="Calibri"/>
                <a:ea typeface="Calibri"/>
                <a:cs typeface="Calibri"/>
                <a:sym typeface="Calibri"/>
              </a:rPr>
              <a:t>Generation</a:t>
            </a:r>
            <a:endParaRPr sz="1100">
              <a:solidFill>
                <a:schemeClr val="dk1"/>
              </a:solidFill>
              <a:latin typeface="Calibri"/>
              <a:ea typeface="Calibri"/>
              <a:cs typeface="Calibri"/>
              <a:sym typeface="Calibri"/>
            </a:endParaRPr>
          </a:p>
        </p:txBody>
      </p:sp>
      <p:sp>
        <p:nvSpPr>
          <p:cNvPr id="271" name="Google Shape;271;p31"/>
          <p:cNvSpPr/>
          <p:nvPr/>
        </p:nvSpPr>
        <p:spPr>
          <a:xfrm>
            <a:off x="2194560" y="4141470"/>
            <a:ext cx="2159606"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333333"/>
              </a:buClr>
              <a:buSzPts val="1100"/>
              <a:buFont typeface="Calibri"/>
              <a:buNone/>
            </a:pPr>
            <a:r>
              <a:rPr lang="en" sz="1100">
                <a:solidFill>
                  <a:srgbClr val="333333"/>
                </a:solidFill>
                <a:latin typeface="Calibri"/>
                <a:ea typeface="Calibri"/>
                <a:cs typeface="Calibri"/>
                <a:sym typeface="Calibri"/>
              </a:rPr>
              <a:t>LLaMA 3.2-3B-Instruct</a:t>
            </a:r>
            <a:endParaRPr sz="1100">
              <a:solidFill>
                <a:schemeClr val="dk1"/>
              </a:solidFill>
              <a:latin typeface="Calibri"/>
              <a:ea typeface="Calibri"/>
              <a:cs typeface="Calibri"/>
              <a:sym typeface="Calibri"/>
            </a:endParaRPr>
          </a:p>
        </p:txBody>
      </p:sp>
      <p:sp>
        <p:nvSpPr>
          <p:cNvPr id="272" name="Google Shape;272;p31"/>
          <p:cNvSpPr/>
          <p:nvPr/>
        </p:nvSpPr>
        <p:spPr>
          <a:xfrm>
            <a:off x="4736099" y="1327413"/>
            <a:ext cx="3840480" cy="3657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667EEA"/>
              </a:buClr>
              <a:buSzPts val="2000"/>
              <a:buFont typeface="Calibri"/>
              <a:buNone/>
            </a:pPr>
            <a:r>
              <a:rPr b="1" lang="en" sz="2000">
                <a:solidFill>
                  <a:srgbClr val="667EEA"/>
                </a:solidFill>
                <a:latin typeface="Calibri"/>
                <a:ea typeface="Calibri"/>
                <a:cs typeface="Calibri"/>
                <a:sym typeface="Calibri"/>
              </a:rPr>
              <a:t>Key Technical Decisions</a:t>
            </a:r>
            <a:endParaRPr sz="2000">
              <a:solidFill>
                <a:schemeClr val="dk1"/>
              </a:solidFill>
              <a:latin typeface="Calibri"/>
              <a:ea typeface="Calibri"/>
              <a:cs typeface="Calibri"/>
              <a:sym typeface="Calibri"/>
            </a:endParaRPr>
          </a:p>
        </p:txBody>
      </p:sp>
      <p:sp>
        <p:nvSpPr>
          <p:cNvPr id="273" name="Google Shape;273;p31"/>
          <p:cNvSpPr/>
          <p:nvPr/>
        </p:nvSpPr>
        <p:spPr>
          <a:xfrm>
            <a:off x="4736099" y="1855470"/>
            <a:ext cx="345537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333333"/>
              </a:buClr>
              <a:buSzPts val="1200"/>
              <a:buFont typeface="Calibri"/>
              <a:buNone/>
            </a:pPr>
            <a:r>
              <a:rPr lang="en" sz="1200">
                <a:solidFill>
                  <a:srgbClr val="333333"/>
                </a:solidFill>
                <a:latin typeface="Calibri"/>
                <a:ea typeface="Calibri"/>
                <a:cs typeface="Calibri"/>
                <a:sym typeface="Calibri"/>
              </a:rPr>
              <a:t>✓ </a:t>
            </a:r>
            <a:r>
              <a:rPr lang="en" sz="1200">
                <a:solidFill>
                  <a:srgbClr val="333333"/>
                </a:solidFill>
                <a:latin typeface="Calibri"/>
                <a:ea typeface="Calibri"/>
                <a:cs typeface="Calibri"/>
                <a:sym typeface="Calibri"/>
              </a:rPr>
              <a:t>Establishes baseline performance</a:t>
            </a:r>
            <a:endParaRPr sz="1200">
              <a:solidFill>
                <a:schemeClr val="dk1"/>
              </a:solidFill>
              <a:latin typeface="Calibri"/>
              <a:ea typeface="Calibri"/>
              <a:cs typeface="Calibri"/>
              <a:sym typeface="Calibri"/>
            </a:endParaRPr>
          </a:p>
        </p:txBody>
      </p:sp>
      <p:sp>
        <p:nvSpPr>
          <p:cNvPr id="274" name="Google Shape;274;p31"/>
          <p:cNvSpPr/>
          <p:nvPr/>
        </p:nvSpPr>
        <p:spPr>
          <a:xfrm>
            <a:off x="4755449" y="2312670"/>
            <a:ext cx="34554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333333"/>
              </a:buClr>
              <a:buSzPts val="1200"/>
              <a:buFont typeface="Calibri"/>
              <a:buNone/>
            </a:pPr>
            <a:r>
              <a:rPr lang="en" sz="1200">
                <a:solidFill>
                  <a:srgbClr val="333333"/>
                </a:solidFill>
                <a:latin typeface="Calibri"/>
                <a:ea typeface="Calibri"/>
                <a:cs typeface="Calibri"/>
                <a:sym typeface="Calibri"/>
              </a:rPr>
              <a:t>✓ </a:t>
            </a:r>
            <a:r>
              <a:rPr lang="en" sz="1200">
                <a:solidFill>
                  <a:srgbClr val="333333"/>
                </a:solidFill>
                <a:latin typeface="Calibri"/>
                <a:ea typeface="Calibri"/>
                <a:cs typeface="Calibri"/>
                <a:sym typeface="Calibri"/>
              </a:rPr>
              <a:t>Tests transfer learning capability  </a:t>
            </a:r>
            <a:endParaRPr sz="1200">
              <a:solidFill>
                <a:schemeClr val="dk1"/>
              </a:solidFill>
              <a:latin typeface="Calibri"/>
              <a:ea typeface="Calibri"/>
              <a:cs typeface="Calibri"/>
              <a:sym typeface="Calibri"/>
            </a:endParaRPr>
          </a:p>
        </p:txBody>
      </p:sp>
      <p:sp>
        <p:nvSpPr>
          <p:cNvPr id="275" name="Google Shape;275;p31"/>
          <p:cNvSpPr/>
          <p:nvPr/>
        </p:nvSpPr>
        <p:spPr>
          <a:xfrm>
            <a:off x="4752275" y="2780500"/>
            <a:ext cx="25326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333333"/>
              </a:buClr>
              <a:buSzPts val="1200"/>
              <a:buFont typeface="Calibri"/>
              <a:buNone/>
            </a:pPr>
            <a:r>
              <a:rPr lang="en" sz="1200">
                <a:solidFill>
                  <a:srgbClr val="333333"/>
                </a:solidFill>
                <a:latin typeface="Calibri"/>
                <a:ea typeface="Calibri"/>
                <a:cs typeface="Calibri"/>
                <a:sym typeface="Calibri"/>
              </a:rPr>
              <a:t>✓ </a:t>
            </a:r>
            <a:r>
              <a:rPr lang="en" sz="1200">
                <a:solidFill>
                  <a:srgbClr val="333333"/>
                </a:solidFill>
                <a:latin typeface="Calibri"/>
                <a:ea typeface="Calibri"/>
                <a:cs typeface="Calibri"/>
                <a:sym typeface="Calibri"/>
              </a:rPr>
              <a:t>Fine-tuning for domain adaptation</a:t>
            </a:r>
            <a:endParaRPr sz="1200">
              <a:solidFill>
                <a:schemeClr val="dk1"/>
              </a:solidFill>
              <a:latin typeface="Calibri"/>
              <a:ea typeface="Calibri"/>
              <a:cs typeface="Calibri"/>
              <a:sym typeface="Calibri"/>
            </a:endParaRPr>
          </a:p>
        </p:txBody>
      </p:sp>
      <p:sp>
        <p:nvSpPr>
          <p:cNvPr id="276" name="Google Shape;276;p31"/>
          <p:cNvSpPr/>
          <p:nvPr/>
        </p:nvSpPr>
        <p:spPr>
          <a:xfrm>
            <a:off x="4755450" y="3227075"/>
            <a:ext cx="30024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333333"/>
              </a:buClr>
              <a:buSzPts val="1200"/>
              <a:buFont typeface="Calibri"/>
              <a:buNone/>
            </a:pPr>
            <a:r>
              <a:rPr lang="en" sz="1200">
                <a:solidFill>
                  <a:srgbClr val="333333"/>
                </a:solidFill>
                <a:latin typeface="Calibri"/>
                <a:ea typeface="Calibri"/>
                <a:cs typeface="Calibri"/>
                <a:sym typeface="Calibri"/>
              </a:rPr>
              <a:t>✓ </a:t>
            </a:r>
            <a:r>
              <a:rPr lang="en" sz="1200">
                <a:solidFill>
                  <a:srgbClr val="333333"/>
                </a:solidFill>
                <a:latin typeface="Calibri"/>
                <a:ea typeface="Calibri"/>
                <a:cs typeface="Calibri"/>
                <a:sym typeface="Calibri"/>
              </a:rPr>
              <a:t>Semantic over TF-IDF for better clustering</a:t>
            </a:r>
            <a:endParaRPr sz="1200">
              <a:solidFill>
                <a:schemeClr val="dk1"/>
              </a:solidFill>
              <a:latin typeface="Calibri"/>
              <a:ea typeface="Calibri"/>
              <a:cs typeface="Calibri"/>
              <a:sym typeface="Calibri"/>
            </a:endParaRPr>
          </a:p>
        </p:txBody>
      </p:sp>
      <p:sp>
        <p:nvSpPr>
          <p:cNvPr id="277" name="Google Shape;277;p31"/>
          <p:cNvSpPr/>
          <p:nvPr/>
        </p:nvSpPr>
        <p:spPr>
          <a:xfrm>
            <a:off x="4761236" y="3684270"/>
            <a:ext cx="3612734"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333333"/>
              </a:buClr>
              <a:buSzPts val="1200"/>
              <a:buFont typeface="Calibri"/>
              <a:buNone/>
            </a:pPr>
            <a:r>
              <a:rPr lang="en" sz="1200">
                <a:solidFill>
                  <a:srgbClr val="333333"/>
                </a:solidFill>
                <a:latin typeface="Calibri"/>
                <a:ea typeface="Calibri"/>
                <a:cs typeface="Calibri"/>
                <a:sym typeface="Calibri"/>
              </a:rPr>
              <a:t>✓ </a:t>
            </a:r>
            <a:r>
              <a:rPr lang="en" sz="1200">
                <a:solidFill>
                  <a:srgbClr val="333333"/>
                </a:solidFill>
                <a:latin typeface="Calibri"/>
                <a:ea typeface="Calibri"/>
                <a:cs typeface="Calibri"/>
                <a:sym typeface="Calibri"/>
              </a:rPr>
              <a:t>Groups 71 products into 5 meta-categories</a:t>
            </a:r>
            <a:endParaRPr sz="1200">
              <a:solidFill>
                <a:schemeClr val="dk1"/>
              </a:solidFill>
              <a:latin typeface="Calibri"/>
              <a:ea typeface="Calibri"/>
              <a:cs typeface="Calibri"/>
              <a:sym typeface="Calibri"/>
            </a:endParaRPr>
          </a:p>
        </p:txBody>
      </p:sp>
      <p:sp>
        <p:nvSpPr>
          <p:cNvPr id="278" name="Google Shape;278;p31"/>
          <p:cNvSpPr/>
          <p:nvPr/>
        </p:nvSpPr>
        <p:spPr>
          <a:xfrm>
            <a:off x="4761225" y="4141475"/>
            <a:ext cx="38406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333333"/>
              </a:buClr>
              <a:buSzPts val="1200"/>
              <a:buFont typeface="Calibri"/>
              <a:buNone/>
            </a:pPr>
            <a:r>
              <a:rPr lang="en" sz="1200">
                <a:solidFill>
                  <a:srgbClr val="333333"/>
                </a:solidFill>
                <a:latin typeface="Calibri"/>
                <a:ea typeface="Calibri"/>
                <a:cs typeface="Calibri"/>
                <a:sym typeface="Calibri"/>
              </a:rPr>
              <a:t>✓ </a:t>
            </a:r>
            <a:r>
              <a:rPr lang="en" sz="1200">
                <a:solidFill>
                  <a:srgbClr val="333333"/>
                </a:solidFill>
                <a:latin typeface="Calibri"/>
                <a:ea typeface="Calibri"/>
                <a:cs typeface="Calibri"/>
                <a:sym typeface="Calibri"/>
              </a:rPr>
              <a:t>Iterative prompting (V1→V2→V3) + grounding metric</a:t>
            </a:r>
            <a:endParaRPr sz="1200">
              <a:solidFill>
                <a:schemeClr val="dk1"/>
              </a:solidFill>
              <a:latin typeface="Calibri"/>
              <a:ea typeface="Calibri"/>
              <a:cs typeface="Calibri"/>
              <a:sym typeface="Calibri"/>
            </a:endParaRPr>
          </a:p>
        </p:txBody>
      </p:sp>
      <p:sp>
        <p:nvSpPr>
          <p:cNvPr id="279" name="Google Shape;279;p31"/>
          <p:cNvSpPr txBox="1"/>
          <p:nvPr/>
        </p:nvSpPr>
        <p:spPr>
          <a:xfrm>
            <a:off x="457200" y="1264000"/>
            <a:ext cx="1298700" cy="492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2000">
                <a:solidFill>
                  <a:srgbClr val="667EEA"/>
                </a:solidFill>
                <a:latin typeface="Calibri"/>
                <a:ea typeface="Calibri"/>
                <a:cs typeface="Calibri"/>
                <a:sym typeface="Calibri"/>
              </a:rPr>
              <a:t>Task</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84" name="Shape 284"/>
        <p:cNvGrpSpPr/>
        <p:nvPr/>
      </p:nvGrpSpPr>
      <p:grpSpPr>
        <a:xfrm>
          <a:off x="0" y="0"/>
          <a:ext cx="0" cy="0"/>
          <a:chOff x="0" y="0"/>
          <a:chExt cx="0" cy="0"/>
        </a:xfrm>
      </p:grpSpPr>
      <p:sp>
        <p:nvSpPr>
          <p:cNvPr id="285" name="Google Shape;285;p32"/>
          <p:cNvSpPr/>
          <p:nvPr/>
        </p:nvSpPr>
        <p:spPr>
          <a:xfrm>
            <a:off x="457200" y="477875"/>
            <a:ext cx="8229600" cy="5280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E2761"/>
              </a:buClr>
              <a:buSzPts val="3600"/>
              <a:buFont typeface="Calibri"/>
              <a:buNone/>
            </a:pPr>
            <a:r>
              <a:rPr b="1" i="0" lang="en" sz="3600" u="none" cap="none" strike="noStrike">
                <a:solidFill>
                  <a:srgbClr val="1E2761"/>
                </a:solidFill>
                <a:latin typeface="Calibri"/>
                <a:ea typeface="Calibri"/>
                <a:cs typeface="Calibri"/>
                <a:sym typeface="Calibri"/>
              </a:rPr>
              <a:t>Sentiment Results: Fine-Tuning Wins</a:t>
            </a:r>
            <a:endParaRPr b="0" i="0" sz="3600" u="none" cap="none" strike="noStrike">
              <a:solidFill>
                <a:schemeClr val="dk1"/>
              </a:solidFill>
              <a:latin typeface="Calibri"/>
              <a:ea typeface="Calibri"/>
              <a:cs typeface="Calibri"/>
              <a:sym typeface="Calibri"/>
            </a:endParaRPr>
          </a:p>
        </p:txBody>
      </p:sp>
      <p:sp>
        <p:nvSpPr>
          <p:cNvPr id="286" name="Google Shape;286;p32"/>
          <p:cNvSpPr/>
          <p:nvPr/>
        </p:nvSpPr>
        <p:spPr>
          <a:xfrm>
            <a:off x="731520" y="1280160"/>
            <a:ext cx="2560200" cy="365700"/>
          </a:xfrm>
          <a:prstGeom prst="rect">
            <a:avLst/>
          </a:prstGeom>
          <a:solidFill>
            <a:srgbClr val="1E2761"/>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200"/>
              <a:buFont typeface="Calibri"/>
              <a:buNone/>
            </a:pPr>
            <a:r>
              <a:rPr b="1" i="0" lang="en" sz="1200" u="none" cap="none" strike="noStrike">
                <a:solidFill>
                  <a:srgbClr val="FFFFFF"/>
                </a:solidFill>
                <a:latin typeface="Calibri"/>
                <a:ea typeface="Calibri"/>
                <a:cs typeface="Calibri"/>
                <a:sym typeface="Calibri"/>
              </a:rPr>
              <a:t>Model</a:t>
            </a:r>
            <a:endParaRPr b="0" i="0" sz="1200" u="none" cap="none" strike="noStrike">
              <a:solidFill>
                <a:schemeClr val="dk1"/>
              </a:solidFill>
              <a:latin typeface="Calibri"/>
              <a:ea typeface="Calibri"/>
              <a:cs typeface="Calibri"/>
              <a:sym typeface="Calibri"/>
            </a:endParaRPr>
          </a:p>
        </p:txBody>
      </p:sp>
      <p:sp>
        <p:nvSpPr>
          <p:cNvPr id="287" name="Google Shape;287;p32"/>
          <p:cNvSpPr/>
          <p:nvPr/>
        </p:nvSpPr>
        <p:spPr>
          <a:xfrm>
            <a:off x="3383280" y="1280160"/>
            <a:ext cx="1188600" cy="365700"/>
          </a:xfrm>
          <a:prstGeom prst="rect">
            <a:avLst/>
          </a:prstGeom>
          <a:solidFill>
            <a:srgbClr val="1E2761"/>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200"/>
              <a:buFont typeface="Calibri"/>
              <a:buNone/>
            </a:pPr>
            <a:r>
              <a:rPr b="1" i="0" lang="en" sz="1200" u="none" cap="none" strike="noStrike">
                <a:solidFill>
                  <a:srgbClr val="FFFFFF"/>
                </a:solidFill>
                <a:latin typeface="Calibri"/>
                <a:ea typeface="Calibri"/>
                <a:cs typeface="Calibri"/>
                <a:sym typeface="Calibri"/>
              </a:rPr>
              <a:t>Accuracy</a:t>
            </a:r>
            <a:endParaRPr b="0" i="0" sz="1200" u="none" cap="none" strike="noStrike">
              <a:solidFill>
                <a:schemeClr val="dk1"/>
              </a:solidFill>
              <a:latin typeface="Calibri"/>
              <a:ea typeface="Calibri"/>
              <a:cs typeface="Calibri"/>
              <a:sym typeface="Calibri"/>
            </a:endParaRPr>
          </a:p>
        </p:txBody>
      </p:sp>
      <p:sp>
        <p:nvSpPr>
          <p:cNvPr id="288" name="Google Shape;288;p32"/>
          <p:cNvSpPr/>
          <p:nvPr/>
        </p:nvSpPr>
        <p:spPr>
          <a:xfrm>
            <a:off x="4663440" y="1280160"/>
            <a:ext cx="1188600" cy="365700"/>
          </a:xfrm>
          <a:prstGeom prst="rect">
            <a:avLst/>
          </a:prstGeom>
          <a:solidFill>
            <a:srgbClr val="1E2761"/>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200"/>
              <a:buFont typeface="Calibri"/>
              <a:buNone/>
            </a:pPr>
            <a:r>
              <a:rPr b="1" i="0" lang="en" sz="1200" u="none" cap="none" strike="noStrike">
                <a:solidFill>
                  <a:srgbClr val="FFFFFF"/>
                </a:solidFill>
                <a:latin typeface="Calibri"/>
                <a:ea typeface="Calibri"/>
                <a:cs typeface="Calibri"/>
                <a:sym typeface="Calibri"/>
              </a:rPr>
              <a:t>F1 Macro</a:t>
            </a:r>
            <a:endParaRPr b="0" i="0" sz="1200" u="none" cap="none" strike="noStrike">
              <a:solidFill>
                <a:schemeClr val="dk1"/>
              </a:solidFill>
              <a:latin typeface="Calibri"/>
              <a:ea typeface="Calibri"/>
              <a:cs typeface="Calibri"/>
              <a:sym typeface="Calibri"/>
            </a:endParaRPr>
          </a:p>
        </p:txBody>
      </p:sp>
      <p:sp>
        <p:nvSpPr>
          <p:cNvPr id="289" name="Google Shape;289;p32"/>
          <p:cNvSpPr/>
          <p:nvPr/>
        </p:nvSpPr>
        <p:spPr>
          <a:xfrm>
            <a:off x="5943600" y="1280150"/>
            <a:ext cx="1310100" cy="365700"/>
          </a:xfrm>
          <a:prstGeom prst="rect">
            <a:avLst/>
          </a:prstGeom>
          <a:solidFill>
            <a:srgbClr val="1E2761"/>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200"/>
              <a:buFont typeface="Calibri"/>
              <a:buNone/>
            </a:pPr>
            <a:r>
              <a:rPr b="1" i="0" lang="en" sz="1200" u="none" cap="none" strike="noStrike">
                <a:solidFill>
                  <a:srgbClr val="FFFFFF"/>
                </a:solidFill>
                <a:latin typeface="Calibri"/>
                <a:ea typeface="Calibri"/>
                <a:cs typeface="Calibri"/>
                <a:sym typeface="Calibri"/>
              </a:rPr>
              <a:t>Neutral F1</a:t>
            </a:r>
            <a:endParaRPr b="0" i="0" sz="1200" u="none" cap="none" strike="noStrike">
              <a:solidFill>
                <a:schemeClr val="dk1"/>
              </a:solidFill>
              <a:latin typeface="Calibri"/>
              <a:ea typeface="Calibri"/>
              <a:cs typeface="Calibri"/>
              <a:sym typeface="Calibri"/>
            </a:endParaRPr>
          </a:p>
        </p:txBody>
      </p:sp>
      <p:sp>
        <p:nvSpPr>
          <p:cNvPr id="290" name="Google Shape;290;p32"/>
          <p:cNvSpPr/>
          <p:nvPr/>
        </p:nvSpPr>
        <p:spPr>
          <a:xfrm>
            <a:off x="731525" y="1737350"/>
            <a:ext cx="6522300" cy="411600"/>
          </a:xfrm>
          <a:prstGeom prst="rect">
            <a:avLst/>
          </a:prstGeom>
          <a:solidFill>
            <a:srgbClr val="F5F5F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1" name="Google Shape;291;p32"/>
          <p:cNvSpPr/>
          <p:nvPr/>
        </p:nvSpPr>
        <p:spPr>
          <a:xfrm>
            <a:off x="731520" y="1783080"/>
            <a:ext cx="2560200" cy="3201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333333"/>
              </a:buClr>
              <a:buSzPts val="1100"/>
              <a:buFont typeface="Calibri"/>
              <a:buNone/>
            </a:pPr>
            <a:r>
              <a:rPr b="0" i="0" lang="en" sz="1100" u="none" cap="none" strike="noStrike">
                <a:solidFill>
                  <a:srgbClr val="333333"/>
                </a:solidFill>
                <a:latin typeface="Calibri"/>
                <a:ea typeface="Calibri"/>
                <a:cs typeface="Calibri"/>
                <a:sym typeface="Calibri"/>
              </a:rPr>
              <a:t>Logistic Regression</a:t>
            </a:r>
            <a:endParaRPr b="0" i="0" sz="1100" u="none" cap="none" strike="noStrike">
              <a:solidFill>
                <a:schemeClr val="dk1"/>
              </a:solidFill>
              <a:latin typeface="Calibri"/>
              <a:ea typeface="Calibri"/>
              <a:cs typeface="Calibri"/>
              <a:sym typeface="Calibri"/>
            </a:endParaRPr>
          </a:p>
        </p:txBody>
      </p:sp>
      <p:sp>
        <p:nvSpPr>
          <p:cNvPr id="292" name="Google Shape;292;p32"/>
          <p:cNvSpPr/>
          <p:nvPr/>
        </p:nvSpPr>
        <p:spPr>
          <a:xfrm>
            <a:off x="3383280" y="1783080"/>
            <a:ext cx="1188600" cy="3201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333333"/>
              </a:buClr>
              <a:buSzPts val="1100"/>
              <a:buFont typeface="Calibri"/>
              <a:buNone/>
            </a:pPr>
            <a:r>
              <a:rPr b="0" i="0" lang="en" sz="1100" u="none" cap="none" strike="noStrike">
                <a:solidFill>
                  <a:srgbClr val="333333"/>
                </a:solidFill>
                <a:latin typeface="Calibri"/>
                <a:ea typeface="Calibri"/>
                <a:cs typeface="Calibri"/>
                <a:sym typeface="Calibri"/>
              </a:rPr>
              <a:t>69.7%</a:t>
            </a:r>
            <a:endParaRPr b="0" i="0" sz="1100" u="none" cap="none" strike="noStrike">
              <a:solidFill>
                <a:schemeClr val="dk1"/>
              </a:solidFill>
              <a:latin typeface="Calibri"/>
              <a:ea typeface="Calibri"/>
              <a:cs typeface="Calibri"/>
              <a:sym typeface="Calibri"/>
            </a:endParaRPr>
          </a:p>
        </p:txBody>
      </p:sp>
      <p:sp>
        <p:nvSpPr>
          <p:cNvPr id="293" name="Google Shape;293;p32"/>
          <p:cNvSpPr/>
          <p:nvPr/>
        </p:nvSpPr>
        <p:spPr>
          <a:xfrm>
            <a:off x="4663440" y="1783080"/>
            <a:ext cx="1188600" cy="3201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333333"/>
              </a:buClr>
              <a:buSzPts val="1100"/>
              <a:buFont typeface="Calibri"/>
              <a:buNone/>
            </a:pPr>
            <a:r>
              <a:rPr b="0" i="0" lang="en" sz="1100" u="none" cap="none" strike="noStrike">
                <a:solidFill>
                  <a:srgbClr val="333333"/>
                </a:solidFill>
                <a:latin typeface="Calibri"/>
                <a:ea typeface="Calibri"/>
                <a:cs typeface="Calibri"/>
                <a:sym typeface="Calibri"/>
              </a:rPr>
              <a:t>0.685</a:t>
            </a:r>
            <a:endParaRPr b="0" i="0" sz="1100" u="none" cap="none" strike="noStrike">
              <a:solidFill>
                <a:schemeClr val="dk1"/>
              </a:solidFill>
              <a:latin typeface="Calibri"/>
              <a:ea typeface="Calibri"/>
              <a:cs typeface="Calibri"/>
              <a:sym typeface="Calibri"/>
            </a:endParaRPr>
          </a:p>
        </p:txBody>
      </p:sp>
      <p:sp>
        <p:nvSpPr>
          <p:cNvPr id="294" name="Google Shape;294;p32"/>
          <p:cNvSpPr/>
          <p:nvPr/>
        </p:nvSpPr>
        <p:spPr>
          <a:xfrm>
            <a:off x="5943600" y="1783072"/>
            <a:ext cx="1310100" cy="3201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333333"/>
              </a:buClr>
              <a:buSzPts val="1100"/>
              <a:buFont typeface="Calibri"/>
              <a:buNone/>
            </a:pPr>
            <a:r>
              <a:rPr b="0" i="0" lang="en" sz="1100" u="none" cap="none" strike="noStrike">
                <a:solidFill>
                  <a:srgbClr val="333333"/>
                </a:solidFill>
                <a:latin typeface="Calibri"/>
                <a:ea typeface="Calibri"/>
                <a:cs typeface="Calibri"/>
                <a:sym typeface="Calibri"/>
              </a:rPr>
              <a:t>0.541</a:t>
            </a:r>
            <a:endParaRPr b="0" i="0" sz="1100" u="none" cap="none" strike="noStrike">
              <a:solidFill>
                <a:schemeClr val="dk1"/>
              </a:solidFill>
              <a:latin typeface="Calibri"/>
              <a:ea typeface="Calibri"/>
              <a:cs typeface="Calibri"/>
              <a:sym typeface="Calibri"/>
            </a:endParaRPr>
          </a:p>
        </p:txBody>
      </p:sp>
      <p:sp>
        <p:nvSpPr>
          <p:cNvPr id="295" name="Google Shape;295;p32"/>
          <p:cNvSpPr/>
          <p:nvPr/>
        </p:nvSpPr>
        <p:spPr>
          <a:xfrm>
            <a:off x="731525" y="2194550"/>
            <a:ext cx="6522300" cy="411600"/>
          </a:xfrm>
          <a:prstGeom prst="rect">
            <a:avLst/>
          </a:prstGeom>
          <a:solidFill>
            <a:srgbClr val="F5F5F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6" name="Google Shape;296;p32"/>
          <p:cNvSpPr/>
          <p:nvPr/>
        </p:nvSpPr>
        <p:spPr>
          <a:xfrm>
            <a:off x="731520" y="2240280"/>
            <a:ext cx="2560200" cy="3201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333333"/>
              </a:buClr>
              <a:buSzPts val="1100"/>
              <a:buFont typeface="Calibri"/>
              <a:buNone/>
            </a:pPr>
            <a:r>
              <a:rPr b="0" i="0" lang="en" sz="1100" u="none" cap="none" strike="noStrike">
                <a:solidFill>
                  <a:srgbClr val="333333"/>
                </a:solidFill>
                <a:latin typeface="Calibri"/>
                <a:ea typeface="Calibri"/>
                <a:cs typeface="Calibri"/>
                <a:sym typeface="Calibri"/>
              </a:rPr>
              <a:t>RoBERTa Zero-Shot</a:t>
            </a:r>
            <a:endParaRPr b="0" i="0" sz="1100" u="none" cap="none" strike="noStrike">
              <a:solidFill>
                <a:schemeClr val="dk1"/>
              </a:solidFill>
              <a:latin typeface="Calibri"/>
              <a:ea typeface="Calibri"/>
              <a:cs typeface="Calibri"/>
              <a:sym typeface="Calibri"/>
            </a:endParaRPr>
          </a:p>
        </p:txBody>
      </p:sp>
      <p:sp>
        <p:nvSpPr>
          <p:cNvPr id="297" name="Google Shape;297;p32"/>
          <p:cNvSpPr/>
          <p:nvPr/>
        </p:nvSpPr>
        <p:spPr>
          <a:xfrm>
            <a:off x="3383280" y="2240280"/>
            <a:ext cx="1188600" cy="3201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333333"/>
              </a:buClr>
              <a:buSzPts val="1100"/>
              <a:buFont typeface="Calibri"/>
              <a:buNone/>
            </a:pPr>
            <a:r>
              <a:rPr b="0" i="0" lang="en" sz="1100" u="none" cap="none" strike="noStrike">
                <a:solidFill>
                  <a:srgbClr val="333333"/>
                </a:solidFill>
                <a:latin typeface="Calibri"/>
                <a:ea typeface="Calibri"/>
                <a:cs typeface="Calibri"/>
                <a:sym typeface="Calibri"/>
              </a:rPr>
              <a:t>63.6%</a:t>
            </a:r>
            <a:endParaRPr b="0" i="0" sz="1100" u="none" cap="none" strike="noStrike">
              <a:solidFill>
                <a:schemeClr val="dk1"/>
              </a:solidFill>
              <a:latin typeface="Calibri"/>
              <a:ea typeface="Calibri"/>
              <a:cs typeface="Calibri"/>
              <a:sym typeface="Calibri"/>
            </a:endParaRPr>
          </a:p>
        </p:txBody>
      </p:sp>
      <p:sp>
        <p:nvSpPr>
          <p:cNvPr id="298" name="Google Shape;298;p32"/>
          <p:cNvSpPr/>
          <p:nvPr/>
        </p:nvSpPr>
        <p:spPr>
          <a:xfrm>
            <a:off x="4663440" y="2240280"/>
            <a:ext cx="1188600" cy="3201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333333"/>
              </a:buClr>
              <a:buSzPts val="1100"/>
              <a:buFont typeface="Calibri"/>
              <a:buNone/>
            </a:pPr>
            <a:r>
              <a:rPr b="0" i="0" lang="en" sz="1100" u="none" cap="none" strike="noStrike">
                <a:solidFill>
                  <a:srgbClr val="333333"/>
                </a:solidFill>
                <a:latin typeface="Calibri"/>
                <a:ea typeface="Calibri"/>
                <a:cs typeface="Calibri"/>
                <a:sym typeface="Calibri"/>
              </a:rPr>
              <a:t>0.590</a:t>
            </a:r>
            <a:endParaRPr b="0" i="0" sz="1100" u="none" cap="none" strike="noStrike">
              <a:solidFill>
                <a:schemeClr val="dk1"/>
              </a:solidFill>
              <a:latin typeface="Calibri"/>
              <a:ea typeface="Calibri"/>
              <a:cs typeface="Calibri"/>
              <a:sym typeface="Calibri"/>
            </a:endParaRPr>
          </a:p>
        </p:txBody>
      </p:sp>
      <p:sp>
        <p:nvSpPr>
          <p:cNvPr id="299" name="Google Shape;299;p32"/>
          <p:cNvSpPr/>
          <p:nvPr/>
        </p:nvSpPr>
        <p:spPr>
          <a:xfrm>
            <a:off x="5943600" y="2240273"/>
            <a:ext cx="1310100" cy="3201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333333"/>
              </a:buClr>
              <a:buSzPts val="1100"/>
              <a:buFont typeface="Calibri"/>
              <a:buNone/>
            </a:pPr>
            <a:r>
              <a:rPr b="0" i="0" lang="en" sz="1100" u="none" cap="none" strike="noStrike">
                <a:solidFill>
                  <a:srgbClr val="333333"/>
                </a:solidFill>
                <a:latin typeface="Calibri"/>
                <a:ea typeface="Calibri"/>
                <a:cs typeface="Calibri"/>
                <a:sym typeface="Calibri"/>
              </a:rPr>
              <a:t>0.291</a:t>
            </a:r>
            <a:endParaRPr b="0" i="0" sz="1100" u="none" cap="none" strike="noStrike">
              <a:solidFill>
                <a:schemeClr val="dk1"/>
              </a:solidFill>
              <a:latin typeface="Calibri"/>
              <a:ea typeface="Calibri"/>
              <a:cs typeface="Calibri"/>
              <a:sym typeface="Calibri"/>
            </a:endParaRPr>
          </a:p>
        </p:txBody>
      </p:sp>
      <p:sp>
        <p:nvSpPr>
          <p:cNvPr id="300" name="Google Shape;300;p32"/>
          <p:cNvSpPr/>
          <p:nvPr/>
        </p:nvSpPr>
        <p:spPr>
          <a:xfrm>
            <a:off x="731525" y="2651750"/>
            <a:ext cx="6522300" cy="411600"/>
          </a:xfrm>
          <a:prstGeom prst="rect">
            <a:avLst/>
          </a:prstGeom>
          <a:solidFill>
            <a:srgbClr val="667EE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1" name="Google Shape;301;p32"/>
          <p:cNvSpPr/>
          <p:nvPr/>
        </p:nvSpPr>
        <p:spPr>
          <a:xfrm>
            <a:off x="731520" y="2697480"/>
            <a:ext cx="2560200" cy="3201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1100"/>
              <a:buFont typeface="Calibri"/>
              <a:buNone/>
            </a:pPr>
            <a:r>
              <a:rPr b="1" i="0" lang="en" sz="1100" u="none" cap="none" strike="noStrike">
                <a:solidFill>
                  <a:srgbClr val="FFFFFF"/>
                </a:solidFill>
                <a:latin typeface="Calibri"/>
                <a:ea typeface="Calibri"/>
                <a:cs typeface="Calibri"/>
                <a:sym typeface="Calibri"/>
              </a:rPr>
              <a:t>RoBERTa Fine-Tuned</a:t>
            </a:r>
            <a:endParaRPr b="0" i="0" sz="1100" u="none" cap="none" strike="noStrike">
              <a:solidFill>
                <a:schemeClr val="dk1"/>
              </a:solidFill>
              <a:latin typeface="Calibri"/>
              <a:ea typeface="Calibri"/>
              <a:cs typeface="Calibri"/>
              <a:sym typeface="Calibri"/>
            </a:endParaRPr>
          </a:p>
        </p:txBody>
      </p:sp>
      <p:sp>
        <p:nvSpPr>
          <p:cNvPr id="302" name="Google Shape;302;p32"/>
          <p:cNvSpPr/>
          <p:nvPr/>
        </p:nvSpPr>
        <p:spPr>
          <a:xfrm>
            <a:off x="3383280" y="2697480"/>
            <a:ext cx="1188600" cy="3201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100"/>
              <a:buFont typeface="Calibri"/>
              <a:buNone/>
            </a:pPr>
            <a:r>
              <a:rPr b="1" i="0" lang="en" sz="1100" u="none" cap="none" strike="noStrike">
                <a:solidFill>
                  <a:srgbClr val="FFFFFF"/>
                </a:solidFill>
                <a:latin typeface="Calibri"/>
                <a:ea typeface="Calibri"/>
                <a:cs typeface="Calibri"/>
                <a:sym typeface="Calibri"/>
              </a:rPr>
              <a:t>73.5%</a:t>
            </a:r>
            <a:endParaRPr b="0" i="0" sz="1100" u="none" cap="none" strike="noStrike">
              <a:solidFill>
                <a:schemeClr val="dk1"/>
              </a:solidFill>
              <a:latin typeface="Calibri"/>
              <a:ea typeface="Calibri"/>
              <a:cs typeface="Calibri"/>
              <a:sym typeface="Calibri"/>
            </a:endParaRPr>
          </a:p>
        </p:txBody>
      </p:sp>
      <p:sp>
        <p:nvSpPr>
          <p:cNvPr id="303" name="Google Shape;303;p32"/>
          <p:cNvSpPr/>
          <p:nvPr/>
        </p:nvSpPr>
        <p:spPr>
          <a:xfrm>
            <a:off x="4663440" y="2697480"/>
            <a:ext cx="1188600" cy="3201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100"/>
              <a:buFont typeface="Calibri"/>
              <a:buNone/>
            </a:pPr>
            <a:r>
              <a:rPr b="1" i="0" lang="en" sz="1100" u="none" cap="none" strike="noStrike">
                <a:solidFill>
                  <a:srgbClr val="FFFFFF"/>
                </a:solidFill>
                <a:latin typeface="Calibri"/>
                <a:ea typeface="Calibri"/>
                <a:cs typeface="Calibri"/>
                <a:sym typeface="Calibri"/>
              </a:rPr>
              <a:t>0.724</a:t>
            </a:r>
            <a:endParaRPr b="0" i="0" sz="1100" u="none" cap="none" strike="noStrike">
              <a:solidFill>
                <a:schemeClr val="dk1"/>
              </a:solidFill>
              <a:latin typeface="Calibri"/>
              <a:ea typeface="Calibri"/>
              <a:cs typeface="Calibri"/>
              <a:sym typeface="Calibri"/>
            </a:endParaRPr>
          </a:p>
        </p:txBody>
      </p:sp>
      <p:sp>
        <p:nvSpPr>
          <p:cNvPr id="304" name="Google Shape;304;p32"/>
          <p:cNvSpPr/>
          <p:nvPr/>
        </p:nvSpPr>
        <p:spPr>
          <a:xfrm>
            <a:off x="5943600" y="2697475"/>
            <a:ext cx="1310100" cy="3201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100"/>
              <a:buFont typeface="Calibri"/>
              <a:buNone/>
            </a:pPr>
            <a:r>
              <a:rPr b="1" i="0" lang="en" sz="1100" u="none" cap="none" strike="noStrike">
                <a:solidFill>
                  <a:srgbClr val="FFFFFF"/>
                </a:solidFill>
                <a:latin typeface="Calibri"/>
                <a:ea typeface="Calibri"/>
                <a:cs typeface="Calibri"/>
                <a:sym typeface="Calibri"/>
              </a:rPr>
              <a:t>0.565</a:t>
            </a:r>
            <a:endParaRPr b="0" i="0" sz="1100" u="none" cap="none" strike="noStrike">
              <a:solidFill>
                <a:schemeClr val="dk1"/>
              </a:solidFill>
              <a:latin typeface="Calibri"/>
              <a:ea typeface="Calibri"/>
              <a:cs typeface="Calibri"/>
              <a:sym typeface="Calibri"/>
            </a:endParaRPr>
          </a:p>
        </p:txBody>
      </p:sp>
      <p:sp>
        <p:nvSpPr>
          <p:cNvPr id="305" name="Google Shape;305;p32"/>
          <p:cNvSpPr/>
          <p:nvPr/>
        </p:nvSpPr>
        <p:spPr>
          <a:xfrm>
            <a:off x="509953" y="3241100"/>
            <a:ext cx="7140300" cy="278100"/>
          </a:xfrm>
          <a:prstGeom prst="rect">
            <a:avLst/>
          </a:prstGeom>
          <a:noFill/>
          <a:ln>
            <a:noFill/>
          </a:ln>
        </p:spPr>
        <p:txBody>
          <a:bodyPr anchorCtr="0" anchor="ctr" bIns="39650" lIns="79325" spcFirstLastPara="1" rIns="79325" wrap="square" tIns="39650">
            <a:noAutofit/>
          </a:bodyPr>
          <a:lstStyle/>
          <a:p>
            <a:pPr indent="0" lvl="0" marL="0" marR="0" rtl="0" algn="l">
              <a:spcBef>
                <a:spcPts val="0"/>
              </a:spcBef>
              <a:spcAft>
                <a:spcPts val="0"/>
              </a:spcAft>
              <a:buClr>
                <a:srgbClr val="667EEA"/>
              </a:buClr>
              <a:buSzPts val="1562"/>
              <a:buFont typeface="Calibri"/>
              <a:buNone/>
            </a:pPr>
            <a:r>
              <a:rPr b="1" i="0" lang="en" sz="1561" u="none" cap="none" strike="noStrike">
                <a:solidFill>
                  <a:srgbClr val="667EEA"/>
                </a:solidFill>
                <a:latin typeface="Calibri"/>
                <a:ea typeface="Calibri"/>
                <a:cs typeface="Calibri"/>
                <a:sym typeface="Calibri"/>
              </a:rPr>
              <a:t>Key Insights</a:t>
            </a:r>
            <a:endParaRPr b="0" i="0" sz="1561" u="none" cap="none" strike="noStrike">
              <a:solidFill>
                <a:schemeClr val="dk1"/>
              </a:solidFill>
              <a:latin typeface="Calibri"/>
              <a:ea typeface="Calibri"/>
              <a:cs typeface="Calibri"/>
              <a:sym typeface="Calibri"/>
            </a:endParaRPr>
          </a:p>
        </p:txBody>
      </p:sp>
      <p:sp>
        <p:nvSpPr>
          <p:cNvPr id="306" name="Google Shape;306;p32"/>
          <p:cNvSpPr/>
          <p:nvPr/>
        </p:nvSpPr>
        <p:spPr>
          <a:xfrm>
            <a:off x="906640" y="3588752"/>
            <a:ext cx="6347100" cy="278100"/>
          </a:xfrm>
          <a:prstGeom prst="rect">
            <a:avLst/>
          </a:prstGeom>
          <a:noFill/>
          <a:ln>
            <a:noFill/>
          </a:ln>
        </p:spPr>
        <p:txBody>
          <a:bodyPr anchorCtr="0" anchor="ctr" bIns="39650" lIns="79325" spcFirstLastPara="1" rIns="79325" wrap="square" tIns="39650">
            <a:noAutofit/>
          </a:bodyPr>
          <a:lstStyle/>
          <a:p>
            <a:pPr indent="0" lvl="0" marL="0" marR="0" rtl="0" algn="l">
              <a:spcBef>
                <a:spcPts val="0"/>
              </a:spcBef>
              <a:spcAft>
                <a:spcPts val="0"/>
              </a:spcAft>
              <a:buClr>
                <a:srgbClr val="4CAF50"/>
              </a:buClr>
              <a:buSzPts val="1128"/>
              <a:buFont typeface="Calibri"/>
              <a:buNone/>
            </a:pPr>
            <a:r>
              <a:rPr b="1" i="0" lang="en" sz="1127" u="none" cap="none" strike="noStrike">
                <a:solidFill>
                  <a:srgbClr val="4CAF50"/>
                </a:solidFill>
                <a:latin typeface="Calibri"/>
                <a:ea typeface="Calibri"/>
                <a:cs typeface="Calibri"/>
                <a:sym typeface="Calibri"/>
              </a:rPr>
              <a:t>✓ Fine-tuning improved accuracy by 10% over zero-shot</a:t>
            </a:r>
            <a:endParaRPr b="0" i="0" sz="1127" u="none" cap="none" strike="noStrike">
              <a:solidFill>
                <a:schemeClr val="dk1"/>
              </a:solidFill>
              <a:latin typeface="Calibri"/>
              <a:ea typeface="Calibri"/>
              <a:cs typeface="Calibri"/>
              <a:sym typeface="Calibri"/>
            </a:endParaRPr>
          </a:p>
        </p:txBody>
      </p:sp>
      <p:sp>
        <p:nvSpPr>
          <p:cNvPr id="307" name="Google Shape;307;p32"/>
          <p:cNvSpPr/>
          <p:nvPr/>
        </p:nvSpPr>
        <p:spPr>
          <a:xfrm>
            <a:off x="906640" y="3936405"/>
            <a:ext cx="6347100" cy="278100"/>
          </a:xfrm>
          <a:prstGeom prst="rect">
            <a:avLst/>
          </a:prstGeom>
          <a:noFill/>
          <a:ln>
            <a:noFill/>
          </a:ln>
        </p:spPr>
        <p:txBody>
          <a:bodyPr anchorCtr="0" anchor="ctr" bIns="39650" lIns="79325" spcFirstLastPara="1" rIns="79325" wrap="square" tIns="39650">
            <a:noAutofit/>
          </a:bodyPr>
          <a:lstStyle/>
          <a:p>
            <a:pPr indent="0" lvl="0" marL="0" marR="0" rtl="0" algn="l">
              <a:spcBef>
                <a:spcPts val="0"/>
              </a:spcBef>
              <a:spcAft>
                <a:spcPts val="0"/>
              </a:spcAft>
              <a:buClr>
                <a:srgbClr val="4CAF50"/>
              </a:buClr>
              <a:buSzPts val="1128"/>
              <a:buFont typeface="Calibri"/>
              <a:buNone/>
            </a:pPr>
            <a:r>
              <a:rPr b="1" i="0" lang="en" sz="1127" u="none" cap="none" strike="noStrike">
                <a:solidFill>
                  <a:srgbClr val="4CAF50"/>
                </a:solidFill>
                <a:latin typeface="Calibri"/>
                <a:ea typeface="Calibri"/>
                <a:cs typeface="Calibri"/>
                <a:sym typeface="Calibri"/>
              </a:rPr>
              <a:t>✓ Neutral class F1 doubled: 0.29 → 0.57 (critical improvement)</a:t>
            </a:r>
            <a:endParaRPr b="0" i="0" sz="1127" u="none" cap="none" strike="noStrike">
              <a:solidFill>
                <a:schemeClr val="dk1"/>
              </a:solidFill>
              <a:latin typeface="Calibri"/>
              <a:ea typeface="Calibri"/>
              <a:cs typeface="Calibri"/>
              <a:sym typeface="Calibri"/>
            </a:endParaRPr>
          </a:p>
        </p:txBody>
      </p:sp>
      <p:sp>
        <p:nvSpPr>
          <p:cNvPr id="308" name="Google Shape;308;p32"/>
          <p:cNvSpPr/>
          <p:nvPr/>
        </p:nvSpPr>
        <p:spPr>
          <a:xfrm>
            <a:off x="906640" y="4284057"/>
            <a:ext cx="6347100" cy="278100"/>
          </a:xfrm>
          <a:prstGeom prst="rect">
            <a:avLst/>
          </a:prstGeom>
          <a:noFill/>
          <a:ln>
            <a:noFill/>
          </a:ln>
        </p:spPr>
        <p:txBody>
          <a:bodyPr anchorCtr="0" anchor="ctr" bIns="39650" lIns="79325" spcFirstLastPara="1" rIns="79325" wrap="square" tIns="39650">
            <a:noAutofit/>
          </a:bodyPr>
          <a:lstStyle/>
          <a:p>
            <a:pPr indent="0" lvl="0" marL="0" marR="0" rtl="0" algn="l">
              <a:spcBef>
                <a:spcPts val="0"/>
              </a:spcBef>
              <a:spcAft>
                <a:spcPts val="0"/>
              </a:spcAft>
              <a:buClr>
                <a:srgbClr val="F44336"/>
              </a:buClr>
              <a:buSzPts val="1128"/>
              <a:buFont typeface="Calibri"/>
              <a:buNone/>
            </a:pPr>
            <a:r>
              <a:rPr b="1" i="0" lang="en" sz="1127" u="none" cap="none" strike="noStrike">
                <a:solidFill>
                  <a:srgbClr val="F44336"/>
                </a:solidFill>
                <a:latin typeface="Calibri"/>
                <a:ea typeface="Calibri"/>
                <a:cs typeface="Calibri"/>
                <a:sym typeface="Calibri"/>
              </a:rPr>
              <a:t>✗ Zero-shot WORSE than baseline (domain mismatch: Twitter ≠ Amazon)</a:t>
            </a:r>
            <a:endParaRPr b="0" i="0" sz="1127" u="none" cap="none" strike="noStrike">
              <a:solidFill>
                <a:schemeClr val="dk1"/>
              </a:solidFill>
              <a:latin typeface="Calibri"/>
              <a:ea typeface="Calibri"/>
              <a:cs typeface="Calibri"/>
              <a:sym typeface="Calibri"/>
            </a:endParaRPr>
          </a:p>
        </p:txBody>
      </p:sp>
      <p:sp>
        <p:nvSpPr>
          <p:cNvPr id="309" name="Google Shape;309;p32"/>
          <p:cNvSpPr txBox="1"/>
          <p:nvPr/>
        </p:nvSpPr>
        <p:spPr>
          <a:xfrm>
            <a:off x="1014700" y="3355025"/>
            <a:ext cx="5656200" cy="384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1300">
              <a:solidFill>
                <a:schemeClr val="lt1"/>
              </a:solidFill>
              <a:latin typeface="Lato"/>
              <a:ea typeface="Lato"/>
              <a:cs typeface="Lato"/>
              <a:sym typeface="Lato"/>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14" name="Shape 314"/>
        <p:cNvGrpSpPr/>
        <p:nvPr/>
      </p:nvGrpSpPr>
      <p:grpSpPr>
        <a:xfrm>
          <a:off x="0" y="0"/>
          <a:ext cx="0" cy="0"/>
          <a:chOff x="0" y="0"/>
          <a:chExt cx="0" cy="0"/>
        </a:xfrm>
      </p:grpSpPr>
      <p:sp>
        <p:nvSpPr>
          <p:cNvPr id="315" name="Google Shape;315;p33"/>
          <p:cNvSpPr/>
          <p:nvPr/>
        </p:nvSpPr>
        <p:spPr>
          <a:xfrm>
            <a:off x="452625" y="526775"/>
            <a:ext cx="8081700" cy="477300"/>
          </a:xfrm>
          <a:prstGeom prst="rect">
            <a:avLst/>
          </a:prstGeom>
          <a:noFill/>
          <a:ln>
            <a:noFill/>
          </a:ln>
        </p:spPr>
        <p:txBody>
          <a:bodyPr anchorCtr="0" anchor="ctr" bIns="35525" lIns="71050" spcFirstLastPara="1" rIns="71050" wrap="square" tIns="35525">
            <a:noAutofit/>
          </a:bodyPr>
          <a:lstStyle/>
          <a:p>
            <a:pPr indent="0" lvl="0" marL="0" marR="0" rtl="0" algn="l">
              <a:spcBef>
                <a:spcPts val="0"/>
              </a:spcBef>
              <a:spcAft>
                <a:spcPts val="0"/>
              </a:spcAft>
              <a:buClr>
                <a:srgbClr val="1E2761"/>
              </a:buClr>
              <a:buSzPts val="2798"/>
              <a:buFont typeface="Calibri"/>
              <a:buNone/>
            </a:pPr>
            <a:r>
              <a:rPr b="1" i="0" lang="en" sz="3698" u="none" cap="none" strike="noStrike">
                <a:solidFill>
                  <a:srgbClr val="1E2761"/>
                </a:solidFill>
                <a:latin typeface="Calibri"/>
                <a:ea typeface="Calibri"/>
                <a:cs typeface="Calibri"/>
                <a:sym typeface="Calibri"/>
              </a:rPr>
              <a:t>Product Clustering: Semantic Approach</a:t>
            </a:r>
            <a:endParaRPr b="0" i="0" sz="3698" u="none" cap="none" strike="noStrike">
              <a:solidFill>
                <a:schemeClr val="dk1"/>
              </a:solidFill>
              <a:latin typeface="Calibri"/>
              <a:ea typeface="Calibri"/>
              <a:cs typeface="Calibri"/>
              <a:sym typeface="Calibri"/>
            </a:endParaRPr>
          </a:p>
        </p:txBody>
      </p:sp>
      <p:sp>
        <p:nvSpPr>
          <p:cNvPr id="316" name="Google Shape;316;p33"/>
          <p:cNvSpPr/>
          <p:nvPr/>
        </p:nvSpPr>
        <p:spPr>
          <a:xfrm>
            <a:off x="621650" y="1080350"/>
            <a:ext cx="7495800" cy="611700"/>
          </a:xfrm>
          <a:prstGeom prst="roundRect">
            <a:avLst>
              <a:gd fmla="val 16667" name="adj"/>
            </a:avLst>
          </a:prstGeom>
          <a:solidFill>
            <a:srgbClr val="CADCFC"/>
          </a:solidFill>
          <a:ln>
            <a:noFill/>
          </a:ln>
        </p:spPr>
        <p:txBody>
          <a:bodyPr anchorCtr="0" anchor="ctr" bIns="76400" lIns="76400" spcFirstLastPara="1" rIns="76400" wrap="square" tIns="76400">
            <a:noAutofit/>
          </a:bodyPr>
          <a:lstStyle/>
          <a:p>
            <a:pPr indent="0" lvl="0" marL="0" rtl="0" algn="l">
              <a:spcBef>
                <a:spcPts val="0"/>
              </a:spcBef>
              <a:spcAft>
                <a:spcPts val="0"/>
              </a:spcAft>
              <a:buNone/>
            </a:pPr>
            <a:r>
              <a:t/>
            </a:r>
            <a:endParaRPr/>
          </a:p>
        </p:txBody>
      </p:sp>
      <p:sp>
        <p:nvSpPr>
          <p:cNvPr id="317" name="Google Shape;317;p33"/>
          <p:cNvSpPr/>
          <p:nvPr/>
        </p:nvSpPr>
        <p:spPr>
          <a:xfrm>
            <a:off x="788167" y="1233708"/>
            <a:ext cx="7162200" cy="305400"/>
          </a:xfrm>
          <a:prstGeom prst="rect">
            <a:avLst/>
          </a:prstGeom>
          <a:noFill/>
          <a:ln>
            <a:noFill/>
          </a:ln>
        </p:spPr>
        <p:txBody>
          <a:bodyPr anchorCtr="0" anchor="ctr" bIns="38200" lIns="76400" spcFirstLastPara="1" rIns="76400" wrap="square" tIns="38200">
            <a:noAutofit/>
          </a:bodyPr>
          <a:lstStyle/>
          <a:p>
            <a:pPr indent="0" lvl="0" marL="0" marR="0" rtl="0" algn="ctr">
              <a:spcBef>
                <a:spcPts val="0"/>
              </a:spcBef>
              <a:spcAft>
                <a:spcPts val="0"/>
              </a:spcAft>
              <a:buClr>
                <a:srgbClr val="1E2761"/>
              </a:buClr>
              <a:buSzPts val="1338"/>
              <a:buFont typeface="Calibri"/>
              <a:buNone/>
            </a:pPr>
            <a:r>
              <a:rPr b="1" i="0" lang="en" sz="1337" u="none" cap="none" strike="noStrike">
                <a:solidFill>
                  <a:srgbClr val="1E2761"/>
                </a:solidFill>
                <a:latin typeface="Calibri"/>
                <a:ea typeface="Calibri"/>
                <a:cs typeface="Calibri"/>
                <a:sym typeface="Calibri"/>
              </a:rPr>
              <a:t>Goal: Group 71 products into 5 meaningful meta-categories</a:t>
            </a:r>
            <a:endParaRPr b="0" i="0" sz="1337" u="none" cap="none" strike="noStrike">
              <a:solidFill>
                <a:schemeClr val="dk1"/>
              </a:solidFill>
              <a:latin typeface="Calibri"/>
              <a:ea typeface="Calibri"/>
              <a:cs typeface="Calibri"/>
              <a:sym typeface="Calibri"/>
            </a:endParaRPr>
          </a:p>
        </p:txBody>
      </p:sp>
      <p:sp>
        <p:nvSpPr>
          <p:cNvPr id="318" name="Google Shape;318;p33"/>
          <p:cNvSpPr/>
          <p:nvPr/>
        </p:nvSpPr>
        <p:spPr>
          <a:xfrm>
            <a:off x="704925" y="1998125"/>
            <a:ext cx="1637100" cy="1528500"/>
          </a:xfrm>
          <a:prstGeom prst="roundRect">
            <a:avLst>
              <a:gd fmla="val 16667" name="adj"/>
            </a:avLst>
          </a:prstGeom>
          <a:solidFill>
            <a:srgbClr val="F8F9FA"/>
          </a:solidFill>
          <a:ln cap="flat" cmpd="sng" w="21250">
            <a:solidFill>
              <a:srgbClr val="667EEA"/>
            </a:solidFill>
            <a:prstDash val="solid"/>
            <a:round/>
            <a:headEnd len="sm" w="sm" type="none"/>
            <a:tailEnd len="sm" w="sm" type="none"/>
          </a:ln>
        </p:spPr>
        <p:txBody>
          <a:bodyPr anchorCtr="0" anchor="ctr" bIns="76400" lIns="76400" spcFirstLastPara="1" rIns="76400" wrap="square" tIns="76400">
            <a:noAutofit/>
          </a:bodyPr>
          <a:lstStyle/>
          <a:p>
            <a:pPr indent="0" lvl="0" marL="0" rtl="0" algn="l">
              <a:spcBef>
                <a:spcPts val="0"/>
              </a:spcBef>
              <a:spcAft>
                <a:spcPts val="0"/>
              </a:spcAft>
              <a:buNone/>
            </a:pPr>
            <a:r>
              <a:t/>
            </a:r>
            <a:endParaRPr/>
          </a:p>
        </p:txBody>
      </p:sp>
      <p:sp>
        <p:nvSpPr>
          <p:cNvPr id="319" name="Google Shape;319;p33"/>
          <p:cNvSpPr/>
          <p:nvPr/>
        </p:nvSpPr>
        <p:spPr>
          <a:xfrm>
            <a:off x="704925" y="2112786"/>
            <a:ext cx="1637100" cy="382200"/>
          </a:xfrm>
          <a:prstGeom prst="rect">
            <a:avLst/>
          </a:prstGeom>
          <a:noFill/>
          <a:ln>
            <a:noFill/>
          </a:ln>
        </p:spPr>
        <p:txBody>
          <a:bodyPr anchorCtr="0" anchor="ctr" bIns="38200" lIns="76400" spcFirstLastPara="1" rIns="76400" wrap="square" tIns="38200">
            <a:noAutofit/>
          </a:bodyPr>
          <a:lstStyle/>
          <a:p>
            <a:pPr indent="0" lvl="0" marL="0" marR="0" rtl="0" algn="ctr">
              <a:spcBef>
                <a:spcPts val="0"/>
              </a:spcBef>
              <a:spcAft>
                <a:spcPts val="0"/>
              </a:spcAft>
              <a:buClr>
                <a:srgbClr val="000000"/>
              </a:buClr>
              <a:buSzPts val="3010"/>
              <a:buFont typeface="Calibri"/>
              <a:buNone/>
            </a:pPr>
            <a:r>
              <a:rPr b="0" i="0" lang="en" sz="3009" u="none" cap="none" strike="noStrike">
                <a:solidFill>
                  <a:srgbClr val="000000"/>
                </a:solidFill>
                <a:latin typeface="Calibri"/>
                <a:ea typeface="Calibri"/>
                <a:cs typeface="Calibri"/>
                <a:sym typeface="Calibri"/>
              </a:rPr>
              <a:t>📱</a:t>
            </a:r>
            <a:endParaRPr b="0" i="0" sz="3009" u="none" cap="none" strike="noStrike">
              <a:solidFill>
                <a:schemeClr val="dk1"/>
              </a:solidFill>
              <a:latin typeface="Calibri"/>
              <a:ea typeface="Calibri"/>
              <a:cs typeface="Calibri"/>
              <a:sym typeface="Calibri"/>
            </a:endParaRPr>
          </a:p>
        </p:txBody>
      </p:sp>
      <p:sp>
        <p:nvSpPr>
          <p:cNvPr id="320" name="Google Shape;320;p33"/>
          <p:cNvSpPr/>
          <p:nvPr/>
        </p:nvSpPr>
        <p:spPr>
          <a:xfrm>
            <a:off x="791076" y="2533209"/>
            <a:ext cx="1464300" cy="305400"/>
          </a:xfrm>
          <a:prstGeom prst="rect">
            <a:avLst/>
          </a:prstGeom>
          <a:noFill/>
          <a:ln>
            <a:noFill/>
          </a:ln>
        </p:spPr>
        <p:txBody>
          <a:bodyPr anchorCtr="0" anchor="ctr" bIns="38200" lIns="76400" spcFirstLastPara="1" rIns="76400" wrap="square" tIns="38200">
            <a:noAutofit/>
          </a:bodyPr>
          <a:lstStyle/>
          <a:p>
            <a:pPr indent="0" lvl="0" marL="0" marR="0" rtl="0" algn="ctr">
              <a:spcBef>
                <a:spcPts val="0"/>
              </a:spcBef>
              <a:spcAft>
                <a:spcPts val="0"/>
              </a:spcAft>
              <a:buClr>
                <a:srgbClr val="1E2761"/>
              </a:buClr>
              <a:buSzPts val="1087"/>
              <a:buFont typeface="Calibri"/>
              <a:buNone/>
            </a:pPr>
            <a:r>
              <a:rPr b="1" i="0" lang="en" sz="1086" u="none" cap="none" strike="noStrike">
                <a:solidFill>
                  <a:srgbClr val="1E2761"/>
                </a:solidFill>
                <a:latin typeface="Calibri"/>
                <a:ea typeface="Calibri"/>
                <a:cs typeface="Calibri"/>
                <a:sym typeface="Calibri"/>
              </a:rPr>
              <a:t>1. Product Names</a:t>
            </a:r>
            <a:endParaRPr b="0" i="0" sz="1086" u="none" cap="none" strike="noStrike">
              <a:solidFill>
                <a:schemeClr val="dk1"/>
              </a:solidFill>
              <a:latin typeface="Calibri"/>
              <a:ea typeface="Calibri"/>
              <a:cs typeface="Calibri"/>
              <a:sym typeface="Calibri"/>
            </a:endParaRPr>
          </a:p>
        </p:txBody>
      </p:sp>
      <p:sp>
        <p:nvSpPr>
          <p:cNvPr id="321" name="Google Shape;321;p33"/>
          <p:cNvSpPr/>
          <p:nvPr/>
        </p:nvSpPr>
        <p:spPr>
          <a:xfrm>
            <a:off x="834152" y="2915411"/>
            <a:ext cx="1378500" cy="534900"/>
          </a:xfrm>
          <a:prstGeom prst="rect">
            <a:avLst/>
          </a:prstGeom>
          <a:noFill/>
          <a:ln>
            <a:noFill/>
          </a:ln>
        </p:spPr>
        <p:txBody>
          <a:bodyPr anchorCtr="0" anchor="ctr" bIns="38200" lIns="76400" spcFirstLastPara="1" rIns="76400" wrap="square" tIns="38200">
            <a:noAutofit/>
          </a:bodyPr>
          <a:lstStyle/>
          <a:p>
            <a:pPr indent="0" lvl="0" marL="0" marR="0" rtl="0" algn="ctr">
              <a:spcBef>
                <a:spcPts val="0"/>
              </a:spcBef>
              <a:spcAft>
                <a:spcPts val="0"/>
              </a:spcAft>
              <a:buClr>
                <a:srgbClr val="555555"/>
              </a:buClr>
              <a:buSzPts val="836"/>
              <a:buFont typeface="Calibri"/>
              <a:buNone/>
            </a:pPr>
            <a:r>
              <a:rPr b="0" i="0" lang="en" sz="835" u="none" cap="none" strike="noStrike">
                <a:solidFill>
                  <a:srgbClr val="555555"/>
                </a:solidFill>
                <a:latin typeface="Calibri"/>
                <a:ea typeface="Calibri"/>
                <a:cs typeface="Calibri"/>
                <a:sym typeface="Calibri"/>
              </a:rPr>
              <a:t>71 Amazon devices</a:t>
            </a:r>
            <a:endParaRPr b="0" i="0" sz="835"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555555"/>
              </a:buClr>
              <a:buSzPts val="836"/>
              <a:buFont typeface="Calibri"/>
              <a:buNone/>
            </a:pPr>
            <a:r>
              <a:rPr b="0" i="0" lang="en" sz="835" u="none" cap="none" strike="noStrike">
                <a:solidFill>
                  <a:srgbClr val="555555"/>
                </a:solidFill>
                <a:latin typeface="Calibri"/>
                <a:ea typeface="Calibri"/>
                <a:cs typeface="Calibri"/>
                <a:sym typeface="Calibri"/>
              </a:rPr>
              <a:t>(Fire HD 8, Kindle Paperwhite, etc.)</a:t>
            </a:r>
            <a:endParaRPr b="0" i="0" sz="835" u="none" cap="none" strike="noStrike">
              <a:solidFill>
                <a:schemeClr val="dk1"/>
              </a:solidFill>
              <a:latin typeface="Calibri"/>
              <a:ea typeface="Calibri"/>
              <a:cs typeface="Calibri"/>
              <a:sym typeface="Calibri"/>
            </a:endParaRPr>
          </a:p>
        </p:txBody>
      </p:sp>
      <p:sp>
        <p:nvSpPr>
          <p:cNvPr id="322" name="Google Shape;322;p33"/>
          <p:cNvSpPr/>
          <p:nvPr/>
        </p:nvSpPr>
        <p:spPr>
          <a:xfrm>
            <a:off x="2384873" y="2647869"/>
            <a:ext cx="172500" cy="305400"/>
          </a:xfrm>
          <a:prstGeom prst="rightArrow">
            <a:avLst>
              <a:gd fmla="val 50000" name="adj1"/>
              <a:gd fmla="val 50000" name="adj2"/>
            </a:avLst>
          </a:prstGeom>
          <a:solidFill>
            <a:srgbClr val="667EEA"/>
          </a:solidFill>
          <a:ln>
            <a:noFill/>
          </a:ln>
        </p:spPr>
        <p:txBody>
          <a:bodyPr anchorCtr="0" anchor="ctr" bIns="76400" lIns="76400" spcFirstLastPara="1" rIns="76400" wrap="square" tIns="76400">
            <a:noAutofit/>
          </a:bodyPr>
          <a:lstStyle/>
          <a:p>
            <a:pPr indent="0" lvl="0" marL="0" rtl="0" algn="l">
              <a:spcBef>
                <a:spcPts val="0"/>
              </a:spcBef>
              <a:spcAft>
                <a:spcPts val="0"/>
              </a:spcAft>
              <a:buNone/>
            </a:pPr>
            <a:r>
              <a:t/>
            </a:r>
            <a:endParaRPr/>
          </a:p>
        </p:txBody>
      </p:sp>
      <p:sp>
        <p:nvSpPr>
          <p:cNvPr id="323" name="Google Shape;323;p33"/>
          <p:cNvSpPr/>
          <p:nvPr/>
        </p:nvSpPr>
        <p:spPr>
          <a:xfrm>
            <a:off x="2600251" y="1998125"/>
            <a:ext cx="1637100" cy="1528500"/>
          </a:xfrm>
          <a:prstGeom prst="roundRect">
            <a:avLst>
              <a:gd fmla="val 16667" name="adj"/>
            </a:avLst>
          </a:prstGeom>
          <a:solidFill>
            <a:srgbClr val="F8F9FA"/>
          </a:solidFill>
          <a:ln cap="flat" cmpd="sng" w="21250">
            <a:solidFill>
              <a:srgbClr val="667EEA"/>
            </a:solidFill>
            <a:prstDash val="solid"/>
            <a:round/>
            <a:headEnd len="sm" w="sm" type="none"/>
            <a:tailEnd len="sm" w="sm" type="none"/>
          </a:ln>
        </p:spPr>
        <p:txBody>
          <a:bodyPr anchorCtr="0" anchor="ctr" bIns="76400" lIns="76400" spcFirstLastPara="1" rIns="76400" wrap="square" tIns="76400">
            <a:noAutofit/>
          </a:bodyPr>
          <a:lstStyle/>
          <a:p>
            <a:pPr indent="0" lvl="0" marL="0" rtl="0" algn="l">
              <a:spcBef>
                <a:spcPts val="0"/>
              </a:spcBef>
              <a:spcAft>
                <a:spcPts val="0"/>
              </a:spcAft>
              <a:buNone/>
            </a:pPr>
            <a:r>
              <a:t/>
            </a:r>
            <a:endParaRPr/>
          </a:p>
        </p:txBody>
      </p:sp>
      <p:sp>
        <p:nvSpPr>
          <p:cNvPr id="324" name="Google Shape;324;p33"/>
          <p:cNvSpPr/>
          <p:nvPr/>
        </p:nvSpPr>
        <p:spPr>
          <a:xfrm>
            <a:off x="2600251" y="2112786"/>
            <a:ext cx="1637100" cy="382200"/>
          </a:xfrm>
          <a:prstGeom prst="rect">
            <a:avLst/>
          </a:prstGeom>
          <a:noFill/>
          <a:ln>
            <a:noFill/>
          </a:ln>
        </p:spPr>
        <p:txBody>
          <a:bodyPr anchorCtr="0" anchor="ctr" bIns="38200" lIns="76400" spcFirstLastPara="1" rIns="76400" wrap="square" tIns="38200">
            <a:noAutofit/>
          </a:bodyPr>
          <a:lstStyle/>
          <a:p>
            <a:pPr indent="0" lvl="0" marL="0" marR="0" rtl="0" algn="ctr">
              <a:spcBef>
                <a:spcPts val="0"/>
              </a:spcBef>
              <a:spcAft>
                <a:spcPts val="0"/>
              </a:spcAft>
              <a:buClr>
                <a:srgbClr val="000000"/>
              </a:buClr>
              <a:buSzPts val="3010"/>
              <a:buFont typeface="Calibri"/>
              <a:buNone/>
            </a:pPr>
            <a:r>
              <a:rPr b="0" i="0" lang="en" sz="3009" u="none" cap="none" strike="noStrike">
                <a:solidFill>
                  <a:srgbClr val="000000"/>
                </a:solidFill>
                <a:latin typeface="Calibri"/>
                <a:ea typeface="Calibri"/>
                <a:cs typeface="Calibri"/>
                <a:sym typeface="Calibri"/>
              </a:rPr>
              <a:t>🔢</a:t>
            </a:r>
            <a:endParaRPr b="0" i="0" sz="3009" u="none" cap="none" strike="noStrike">
              <a:solidFill>
                <a:schemeClr val="dk1"/>
              </a:solidFill>
              <a:latin typeface="Calibri"/>
              <a:ea typeface="Calibri"/>
              <a:cs typeface="Calibri"/>
              <a:sym typeface="Calibri"/>
            </a:endParaRPr>
          </a:p>
        </p:txBody>
      </p:sp>
      <p:sp>
        <p:nvSpPr>
          <p:cNvPr id="325" name="Google Shape;325;p33"/>
          <p:cNvSpPr/>
          <p:nvPr/>
        </p:nvSpPr>
        <p:spPr>
          <a:xfrm>
            <a:off x="2686403" y="2533209"/>
            <a:ext cx="1464300" cy="305400"/>
          </a:xfrm>
          <a:prstGeom prst="rect">
            <a:avLst/>
          </a:prstGeom>
          <a:noFill/>
          <a:ln>
            <a:noFill/>
          </a:ln>
        </p:spPr>
        <p:txBody>
          <a:bodyPr anchorCtr="0" anchor="ctr" bIns="38200" lIns="76400" spcFirstLastPara="1" rIns="76400" wrap="square" tIns="38200">
            <a:noAutofit/>
          </a:bodyPr>
          <a:lstStyle/>
          <a:p>
            <a:pPr indent="0" lvl="0" marL="0" marR="0" rtl="0" algn="ctr">
              <a:spcBef>
                <a:spcPts val="0"/>
              </a:spcBef>
              <a:spcAft>
                <a:spcPts val="0"/>
              </a:spcAft>
              <a:buClr>
                <a:srgbClr val="1E2761"/>
              </a:buClr>
              <a:buSzPts val="1087"/>
              <a:buFont typeface="Calibri"/>
              <a:buNone/>
            </a:pPr>
            <a:r>
              <a:rPr b="1" i="0" lang="en" sz="1086" u="none" cap="none" strike="noStrike">
                <a:solidFill>
                  <a:srgbClr val="1E2761"/>
                </a:solidFill>
                <a:latin typeface="Calibri"/>
                <a:ea typeface="Calibri"/>
                <a:cs typeface="Calibri"/>
                <a:sym typeface="Calibri"/>
              </a:rPr>
              <a:t>2. Embeddings</a:t>
            </a:r>
            <a:endParaRPr b="0" i="0" sz="1086" u="none" cap="none" strike="noStrike">
              <a:solidFill>
                <a:schemeClr val="dk1"/>
              </a:solidFill>
              <a:latin typeface="Calibri"/>
              <a:ea typeface="Calibri"/>
              <a:cs typeface="Calibri"/>
              <a:sym typeface="Calibri"/>
            </a:endParaRPr>
          </a:p>
        </p:txBody>
      </p:sp>
      <p:sp>
        <p:nvSpPr>
          <p:cNvPr id="326" name="Google Shape;326;p33"/>
          <p:cNvSpPr/>
          <p:nvPr/>
        </p:nvSpPr>
        <p:spPr>
          <a:xfrm>
            <a:off x="2729478" y="2915411"/>
            <a:ext cx="1378500" cy="534900"/>
          </a:xfrm>
          <a:prstGeom prst="rect">
            <a:avLst/>
          </a:prstGeom>
          <a:noFill/>
          <a:ln>
            <a:noFill/>
          </a:ln>
        </p:spPr>
        <p:txBody>
          <a:bodyPr anchorCtr="0" anchor="ctr" bIns="38200" lIns="76400" spcFirstLastPara="1" rIns="76400" wrap="square" tIns="38200">
            <a:noAutofit/>
          </a:bodyPr>
          <a:lstStyle/>
          <a:p>
            <a:pPr indent="0" lvl="0" marL="0" marR="0" rtl="0" algn="ctr">
              <a:spcBef>
                <a:spcPts val="0"/>
              </a:spcBef>
              <a:spcAft>
                <a:spcPts val="0"/>
              </a:spcAft>
              <a:buClr>
                <a:srgbClr val="555555"/>
              </a:buClr>
              <a:buSzPts val="836"/>
              <a:buFont typeface="Calibri"/>
              <a:buNone/>
            </a:pPr>
            <a:r>
              <a:rPr b="0" i="0" lang="en" sz="835" u="none" cap="none" strike="noStrike">
                <a:solidFill>
                  <a:srgbClr val="555555"/>
                </a:solidFill>
                <a:latin typeface="Calibri"/>
                <a:ea typeface="Calibri"/>
                <a:cs typeface="Calibri"/>
                <a:sym typeface="Calibri"/>
              </a:rPr>
              <a:t>Sentence Transformers</a:t>
            </a:r>
            <a:endParaRPr b="0" i="0" sz="835"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555555"/>
              </a:buClr>
              <a:buSzPts val="836"/>
              <a:buFont typeface="Calibri"/>
              <a:buNone/>
            </a:pPr>
            <a:r>
              <a:rPr b="0" i="0" lang="en" sz="835" u="none" cap="none" strike="noStrike">
                <a:solidFill>
                  <a:srgbClr val="555555"/>
                </a:solidFill>
                <a:latin typeface="Calibri"/>
                <a:ea typeface="Calibri"/>
                <a:cs typeface="Calibri"/>
                <a:sym typeface="Calibri"/>
              </a:rPr>
              <a:t>384-dimensional vectors</a:t>
            </a:r>
            <a:endParaRPr b="0" i="0" sz="835" u="none" cap="none" strike="noStrike">
              <a:solidFill>
                <a:schemeClr val="dk1"/>
              </a:solidFill>
              <a:latin typeface="Calibri"/>
              <a:ea typeface="Calibri"/>
              <a:cs typeface="Calibri"/>
              <a:sym typeface="Calibri"/>
            </a:endParaRPr>
          </a:p>
        </p:txBody>
      </p:sp>
      <p:sp>
        <p:nvSpPr>
          <p:cNvPr id="327" name="Google Shape;327;p33"/>
          <p:cNvSpPr/>
          <p:nvPr/>
        </p:nvSpPr>
        <p:spPr>
          <a:xfrm>
            <a:off x="4280200" y="2647869"/>
            <a:ext cx="172500" cy="305400"/>
          </a:xfrm>
          <a:prstGeom prst="rightArrow">
            <a:avLst>
              <a:gd fmla="val 50000" name="adj1"/>
              <a:gd fmla="val 50000" name="adj2"/>
            </a:avLst>
          </a:prstGeom>
          <a:solidFill>
            <a:srgbClr val="667EEA"/>
          </a:solidFill>
          <a:ln>
            <a:noFill/>
          </a:ln>
        </p:spPr>
        <p:txBody>
          <a:bodyPr anchorCtr="0" anchor="ctr" bIns="76400" lIns="76400" spcFirstLastPara="1" rIns="76400" wrap="square" tIns="76400">
            <a:noAutofit/>
          </a:bodyPr>
          <a:lstStyle/>
          <a:p>
            <a:pPr indent="0" lvl="0" marL="0" rtl="0" algn="l">
              <a:spcBef>
                <a:spcPts val="0"/>
              </a:spcBef>
              <a:spcAft>
                <a:spcPts val="0"/>
              </a:spcAft>
              <a:buNone/>
            </a:pPr>
            <a:r>
              <a:t/>
            </a:r>
            <a:endParaRPr/>
          </a:p>
        </p:txBody>
      </p:sp>
      <p:sp>
        <p:nvSpPr>
          <p:cNvPr id="328" name="Google Shape;328;p33"/>
          <p:cNvSpPr/>
          <p:nvPr/>
        </p:nvSpPr>
        <p:spPr>
          <a:xfrm>
            <a:off x="4495578" y="1998125"/>
            <a:ext cx="1637100" cy="1528500"/>
          </a:xfrm>
          <a:prstGeom prst="roundRect">
            <a:avLst>
              <a:gd fmla="val 16667" name="adj"/>
            </a:avLst>
          </a:prstGeom>
          <a:solidFill>
            <a:srgbClr val="F8F9FA"/>
          </a:solidFill>
          <a:ln cap="flat" cmpd="sng" w="21250">
            <a:solidFill>
              <a:srgbClr val="667EEA"/>
            </a:solidFill>
            <a:prstDash val="solid"/>
            <a:round/>
            <a:headEnd len="sm" w="sm" type="none"/>
            <a:tailEnd len="sm" w="sm" type="none"/>
          </a:ln>
        </p:spPr>
        <p:txBody>
          <a:bodyPr anchorCtr="0" anchor="ctr" bIns="76400" lIns="76400" spcFirstLastPara="1" rIns="76400" wrap="square" tIns="76400">
            <a:noAutofit/>
          </a:bodyPr>
          <a:lstStyle/>
          <a:p>
            <a:pPr indent="0" lvl="0" marL="0" rtl="0" algn="l">
              <a:spcBef>
                <a:spcPts val="0"/>
              </a:spcBef>
              <a:spcAft>
                <a:spcPts val="0"/>
              </a:spcAft>
              <a:buNone/>
            </a:pPr>
            <a:r>
              <a:t/>
            </a:r>
            <a:endParaRPr/>
          </a:p>
        </p:txBody>
      </p:sp>
      <p:sp>
        <p:nvSpPr>
          <p:cNvPr id="329" name="Google Shape;329;p33"/>
          <p:cNvSpPr/>
          <p:nvPr/>
        </p:nvSpPr>
        <p:spPr>
          <a:xfrm>
            <a:off x="4495578" y="2112786"/>
            <a:ext cx="1637100" cy="382200"/>
          </a:xfrm>
          <a:prstGeom prst="rect">
            <a:avLst/>
          </a:prstGeom>
          <a:noFill/>
          <a:ln>
            <a:noFill/>
          </a:ln>
        </p:spPr>
        <p:txBody>
          <a:bodyPr anchorCtr="0" anchor="ctr" bIns="38200" lIns="76400" spcFirstLastPara="1" rIns="76400" wrap="square" tIns="38200">
            <a:noAutofit/>
          </a:bodyPr>
          <a:lstStyle/>
          <a:p>
            <a:pPr indent="0" lvl="0" marL="0" marR="0" rtl="0" algn="ctr">
              <a:spcBef>
                <a:spcPts val="0"/>
              </a:spcBef>
              <a:spcAft>
                <a:spcPts val="0"/>
              </a:spcAft>
              <a:buClr>
                <a:srgbClr val="000000"/>
              </a:buClr>
              <a:buSzPts val="3010"/>
              <a:buFont typeface="Calibri"/>
              <a:buNone/>
            </a:pPr>
            <a:r>
              <a:rPr b="0" i="0" lang="en" sz="3009" u="none" cap="none" strike="noStrike">
                <a:solidFill>
                  <a:srgbClr val="000000"/>
                </a:solidFill>
                <a:latin typeface="Calibri"/>
                <a:ea typeface="Calibri"/>
                <a:cs typeface="Calibri"/>
                <a:sym typeface="Calibri"/>
              </a:rPr>
              <a:t>🎯</a:t>
            </a:r>
            <a:endParaRPr b="0" i="0" sz="3009" u="none" cap="none" strike="noStrike">
              <a:solidFill>
                <a:schemeClr val="dk1"/>
              </a:solidFill>
              <a:latin typeface="Calibri"/>
              <a:ea typeface="Calibri"/>
              <a:cs typeface="Calibri"/>
              <a:sym typeface="Calibri"/>
            </a:endParaRPr>
          </a:p>
        </p:txBody>
      </p:sp>
      <p:sp>
        <p:nvSpPr>
          <p:cNvPr id="330" name="Google Shape;330;p33"/>
          <p:cNvSpPr/>
          <p:nvPr/>
        </p:nvSpPr>
        <p:spPr>
          <a:xfrm>
            <a:off x="4581729" y="2533209"/>
            <a:ext cx="1464300" cy="305400"/>
          </a:xfrm>
          <a:prstGeom prst="rect">
            <a:avLst/>
          </a:prstGeom>
          <a:noFill/>
          <a:ln>
            <a:noFill/>
          </a:ln>
        </p:spPr>
        <p:txBody>
          <a:bodyPr anchorCtr="0" anchor="ctr" bIns="38200" lIns="76400" spcFirstLastPara="1" rIns="76400" wrap="square" tIns="38200">
            <a:noAutofit/>
          </a:bodyPr>
          <a:lstStyle/>
          <a:p>
            <a:pPr indent="0" lvl="0" marL="0" marR="0" rtl="0" algn="ctr">
              <a:spcBef>
                <a:spcPts val="0"/>
              </a:spcBef>
              <a:spcAft>
                <a:spcPts val="0"/>
              </a:spcAft>
              <a:buClr>
                <a:srgbClr val="1E2761"/>
              </a:buClr>
              <a:buSzPts val="1087"/>
              <a:buFont typeface="Calibri"/>
              <a:buNone/>
            </a:pPr>
            <a:r>
              <a:rPr b="1" i="0" lang="en" sz="1086" u="none" cap="none" strike="noStrike">
                <a:solidFill>
                  <a:srgbClr val="1E2761"/>
                </a:solidFill>
                <a:latin typeface="Calibri"/>
                <a:ea typeface="Calibri"/>
                <a:cs typeface="Calibri"/>
                <a:sym typeface="Calibri"/>
              </a:rPr>
              <a:t>3. K-Means</a:t>
            </a:r>
            <a:endParaRPr b="0" i="0" sz="1086" u="none" cap="none" strike="noStrike">
              <a:solidFill>
                <a:schemeClr val="dk1"/>
              </a:solidFill>
              <a:latin typeface="Calibri"/>
              <a:ea typeface="Calibri"/>
              <a:cs typeface="Calibri"/>
              <a:sym typeface="Calibri"/>
            </a:endParaRPr>
          </a:p>
        </p:txBody>
      </p:sp>
      <p:sp>
        <p:nvSpPr>
          <p:cNvPr id="331" name="Google Shape;331;p33"/>
          <p:cNvSpPr/>
          <p:nvPr/>
        </p:nvSpPr>
        <p:spPr>
          <a:xfrm>
            <a:off x="4624805" y="2915411"/>
            <a:ext cx="1378500" cy="534900"/>
          </a:xfrm>
          <a:prstGeom prst="rect">
            <a:avLst/>
          </a:prstGeom>
          <a:noFill/>
          <a:ln>
            <a:noFill/>
          </a:ln>
        </p:spPr>
        <p:txBody>
          <a:bodyPr anchorCtr="0" anchor="ctr" bIns="38200" lIns="76400" spcFirstLastPara="1" rIns="76400" wrap="square" tIns="38200">
            <a:noAutofit/>
          </a:bodyPr>
          <a:lstStyle/>
          <a:p>
            <a:pPr indent="0" lvl="0" marL="0" marR="0" rtl="0" algn="ctr">
              <a:spcBef>
                <a:spcPts val="0"/>
              </a:spcBef>
              <a:spcAft>
                <a:spcPts val="0"/>
              </a:spcAft>
              <a:buClr>
                <a:srgbClr val="555555"/>
              </a:buClr>
              <a:buSzPts val="836"/>
              <a:buFont typeface="Calibri"/>
              <a:buNone/>
            </a:pPr>
            <a:r>
              <a:rPr b="0" i="0" lang="en" sz="835" u="none" cap="none" strike="noStrike">
                <a:solidFill>
                  <a:srgbClr val="555555"/>
                </a:solidFill>
                <a:latin typeface="Calibri"/>
                <a:ea typeface="Calibri"/>
                <a:cs typeface="Calibri"/>
                <a:sym typeface="Calibri"/>
              </a:rPr>
              <a:t>Cluster into k=5 groups</a:t>
            </a:r>
            <a:endParaRPr b="0" i="0" sz="835"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555555"/>
              </a:buClr>
              <a:buSzPts val="836"/>
              <a:buFont typeface="Calibri"/>
              <a:buNone/>
            </a:pPr>
            <a:r>
              <a:rPr b="0" i="0" lang="en" sz="835" u="none" cap="none" strike="noStrike">
                <a:solidFill>
                  <a:srgbClr val="555555"/>
                </a:solidFill>
                <a:latin typeface="Calibri"/>
                <a:ea typeface="Calibri"/>
                <a:cs typeface="Calibri"/>
                <a:sym typeface="Calibri"/>
              </a:rPr>
              <a:t>Based on semantic similarity</a:t>
            </a:r>
            <a:endParaRPr b="0" i="0" sz="835" u="none" cap="none" strike="noStrike">
              <a:solidFill>
                <a:schemeClr val="dk1"/>
              </a:solidFill>
              <a:latin typeface="Calibri"/>
              <a:ea typeface="Calibri"/>
              <a:cs typeface="Calibri"/>
              <a:sym typeface="Calibri"/>
            </a:endParaRPr>
          </a:p>
        </p:txBody>
      </p:sp>
      <p:sp>
        <p:nvSpPr>
          <p:cNvPr id="332" name="Google Shape;332;p33"/>
          <p:cNvSpPr/>
          <p:nvPr/>
        </p:nvSpPr>
        <p:spPr>
          <a:xfrm>
            <a:off x="6194634" y="2659799"/>
            <a:ext cx="158700" cy="281700"/>
          </a:xfrm>
          <a:prstGeom prst="rightArrow">
            <a:avLst>
              <a:gd fmla="val 50000" name="adj1"/>
              <a:gd fmla="val 50000" name="adj2"/>
            </a:avLst>
          </a:prstGeom>
          <a:solidFill>
            <a:srgbClr val="667EEA"/>
          </a:solidFill>
          <a:ln>
            <a:noFill/>
          </a:ln>
        </p:spPr>
        <p:txBody>
          <a:bodyPr anchorCtr="0" anchor="ctr" bIns="70425" lIns="70425" spcFirstLastPara="1" rIns="70425" wrap="square" tIns="70425">
            <a:noAutofit/>
          </a:bodyPr>
          <a:lstStyle/>
          <a:p>
            <a:pPr indent="0" lvl="0" marL="0" rtl="0" algn="l">
              <a:spcBef>
                <a:spcPts val="0"/>
              </a:spcBef>
              <a:spcAft>
                <a:spcPts val="0"/>
              </a:spcAft>
              <a:buNone/>
            </a:pPr>
            <a:r>
              <a:t/>
            </a:r>
            <a:endParaRPr sz="1505"/>
          </a:p>
        </p:txBody>
      </p:sp>
      <p:sp>
        <p:nvSpPr>
          <p:cNvPr id="333" name="Google Shape;333;p33"/>
          <p:cNvSpPr/>
          <p:nvPr/>
        </p:nvSpPr>
        <p:spPr>
          <a:xfrm>
            <a:off x="6377984" y="1998295"/>
            <a:ext cx="1572300" cy="1528500"/>
          </a:xfrm>
          <a:prstGeom prst="roundRect">
            <a:avLst>
              <a:gd fmla="val 16667" name="adj"/>
            </a:avLst>
          </a:prstGeom>
          <a:solidFill>
            <a:srgbClr val="F8F9FA"/>
          </a:solidFill>
          <a:ln cap="flat" cmpd="sng" w="20400">
            <a:solidFill>
              <a:srgbClr val="667EEA"/>
            </a:solidFill>
            <a:prstDash val="solid"/>
            <a:round/>
            <a:headEnd len="sm" w="sm" type="none"/>
            <a:tailEnd len="sm" w="sm" type="none"/>
          </a:ln>
        </p:spPr>
        <p:txBody>
          <a:bodyPr anchorCtr="0" anchor="ctr" bIns="73425" lIns="73425" spcFirstLastPara="1" rIns="73425" wrap="square" tIns="73425">
            <a:noAutofit/>
          </a:bodyPr>
          <a:lstStyle/>
          <a:p>
            <a:pPr indent="0" lvl="0" marL="0" rtl="0" algn="l">
              <a:spcBef>
                <a:spcPts val="0"/>
              </a:spcBef>
              <a:spcAft>
                <a:spcPts val="0"/>
              </a:spcAft>
              <a:buNone/>
            </a:pPr>
            <a:r>
              <a:t/>
            </a:r>
            <a:endParaRPr/>
          </a:p>
        </p:txBody>
      </p:sp>
      <p:sp>
        <p:nvSpPr>
          <p:cNvPr id="334" name="Google Shape;334;p33"/>
          <p:cNvSpPr/>
          <p:nvPr/>
        </p:nvSpPr>
        <p:spPr>
          <a:xfrm>
            <a:off x="6377984" y="2112938"/>
            <a:ext cx="1572300" cy="382200"/>
          </a:xfrm>
          <a:prstGeom prst="rect">
            <a:avLst/>
          </a:prstGeom>
          <a:noFill/>
          <a:ln>
            <a:noFill/>
          </a:ln>
        </p:spPr>
        <p:txBody>
          <a:bodyPr anchorCtr="0" anchor="ctr" bIns="36700" lIns="73425" spcFirstLastPara="1" rIns="73425" wrap="square" tIns="36700">
            <a:noAutofit/>
          </a:bodyPr>
          <a:lstStyle/>
          <a:p>
            <a:pPr indent="0" lvl="0" marL="0" marR="0" rtl="0" algn="ctr">
              <a:spcBef>
                <a:spcPts val="0"/>
              </a:spcBef>
              <a:spcAft>
                <a:spcPts val="0"/>
              </a:spcAft>
              <a:buClr>
                <a:srgbClr val="000000"/>
              </a:buClr>
              <a:buSzPts val="2892"/>
              <a:buFont typeface="Calibri"/>
              <a:buNone/>
            </a:pPr>
            <a:r>
              <a:rPr b="0" i="0" lang="en" sz="2891" u="none" cap="none" strike="noStrike">
                <a:solidFill>
                  <a:srgbClr val="000000"/>
                </a:solidFill>
                <a:latin typeface="Calibri"/>
                <a:ea typeface="Calibri"/>
                <a:cs typeface="Calibri"/>
                <a:sym typeface="Calibri"/>
              </a:rPr>
              <a:t>📊</a:t>
            </a:r>
            <a:endParaRPr b="0" i="0" sz="2891" u="none" cap="none" strike="noStrike">
              <a:solidFill>
                <a:schemeClr val="dk1"/>
              </a:solidFill>
              <a:latin typeface="Calibri"/>
              <a:ea typeface="Calibri"/>
              <a:cs typeface="Calibri"/>
              <a:sym typeface="Calibri"/>
            </a:endParaRPr>
          </a:p>
        </p:txBody>
      </p:sp>
      <p:sp>
        <p:nvSpPr>
          <p:cNvPr id="335" name="Google Shape;335;p33"/>
          <p:cNvSpPr/>
          <p:nvPr/>
        </p:nvSpPr>
        <p:spPr>
          <a:xfrm>
            <a:off x="6460758" y="2533294"/>
            <a:ext cx="1407300" cy="305400"/>
          </a:xfrm>
          <a:prstGeom prst="rect">
            <a:avLst/>
          </a:prstGeom>
          <a:noFill/>
          <a:ln>
            <a:noFill/>
          </a:ln>
        </p:spPr>
        <p:txBody>
          <a:bodyPr anchorCtr="0" anchor="ctr" bIns="36700" lIns="73425" spcFirstLastPara="1" rIns="73425" wrap="square" tIns="36700">
            <a:noAutofit/>
          </a:bodyPr>
          <a:lstStyle/>
          <a:p>
            <a:pPr indent="0" lvl="0" marL="0" marR="0" rtl="0" algn="ctr">
              <a:spcBef>
                <a:spcPts val="0"/>
              </a:spcBef>
              <a:spcAft>
                <a:spcPts val="0"/>
              </a:spcAft>
              <a:buClr>
                <a:srgbClr val="1E2761"/>
              </a:buClr>
              <a:buSzPts val="1044"/>
              <a:buFont typeface="Calibri"/>
              <a:buNone/>
            </a:pPr>
            <a:r>
              <a:rPr b="1" i="0" lang="en" sz="1044" u="none" cap="none" strike="noStrike">
                <a:solidFill>
                  <a:srgbClr val="1E2761"/>
                </a:solidFill>
                <a:latin typeface="Calibri"/>
                <a:ea typeface="Calibri"/>
                <a:cs typeface="Calibri"/>
                <a:sym typeface="Calibri"/>
              </a:rPr>
              <a:t>4. Categories</a:t>
            </a:r>
            <a:endParaRPr b="0" i="0" sz="1044" u="none" cap="none" strike="noStrike">
              <a:solidFill>
                <a:schemeClr val="dk1"/>
              </a:solidFill>
              <a:latin typeface="Calibri"/>
              <a:ea typeface="Calibri"/>
              <a:cs typeface="Calibri"/>
              <a:sym typeface="Calibri"/>
            </a:endParaRPr>
          </a:p>
        </p:txBody>
      </p:sp>
      <p:sp>
        <p:nvSpPr>
          <p:cNvPr id="336" name="Google Shape;336;p33"/>
          <p:cNvSpPr/>
          <p:nvPr/>
        </p:nvSpPr>
        <p:spPr>
          <a:xfrm>
            <a:off x="6502145" y="2915436"/>
            <a:ext cx="1324200" cy="534900"/>
          </a:xfrm>
          <a:prstGeom prst="rect">
            <a:avLst/>
          </a:prstGeom>
          <a:noFill/>
          <a:ln>
            <a:noFill/>
          </a:ln>
        </p:spPr>
        <p:txBody>
          <a:bodyPr anchorCtr="0" anchor="ctr" bIns="36700" lIns="73425" spcFirstLastPara="1" rIns="73425" wrap="square" tIns="36700">
            <a:noAutofit/>
          </a:bodyPr>
          <a:lstStyle/>
          <a:p>
            <a:pPr indent="0" lvl="0" marL="0" marR="0" rtl="0" algn="ctr">
              <a:spcBef>
                <a:spcPts val="0"/>
              </a:spcBef>
              <a:spcAft>
                <a:spcPts val="0"/>
              </a:spcAft>
              <a:buClr>
                <a:srgbClr val="555555"/>
              </a:buClr>
              <a:buSzPts val="803"/>
              <a:buFont typeface="Calibri"/>
              <a:buNone/>
            </a:pPr>
            <a:r>
              <a:rPr b="0" i="0" lang="en" sz="803" u="none" cap="none" strike="noStrike">
                <a:solidFill>
                  <a:srgbClr val="555555"/>
                </a:solidFill>
                <a:latin typeface="Calibri"/>
                <a:ea typeface="Calibri"/>
                <a:cs typeface="Calibri"/>
                <a:sym typeface="Calibri"/>
              </a:rPr>
              <a:t>Fire, Kindle, Echo,</a:t>
            </a:r>
            <a:endParaRPr b="0" i="0" sz="803"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555555"/>
              </a:buClr>
              <a:buSzPts val="803"/>
              <a:buFont typeface="Calibri"/>
              <a:buNone/>
            </a:pPr>
            <a:r>
              <a:rPr b="0" i="0" lang="en" sz="803" u="none" cap="none" strike="noStrike">
                <a:solidFill>
                  <a:srgbClr val="555555"/>
                </a:solidFill>
                <a:latin typeface="Calibri"/>
                <a:ea typeface="Calibri"/>
                <a:cs typeface="Calibri"/>
                <a:sym typeface="Calibri"/>
              </a:rPr>
              <a:t>Kids, Fire TV</a:t>
            </a:r>
            <a:endParaRPr b="0" i="0" sz="803" u="none" cap="none" strike="noStrike">
              <a:solidFill>
                <a:schemeClr val="dk1"/>
              </a:solidFill>
              <a:latin typeface="Calibri"/>
              <a:ea typeface="Calibri"/>
              <a:cs typeface="Calibri"/>
              <a:sym typeface="Calibri"/>
            </a:endParaRPr>
          </a:p>
        </p:txBody>
      </p:sp>
      <p:sp>
        <p:nvSpPr>
          <p:cNvPr id="337" name="Google Shape;337;p33"/>
          <p:cNvSpPr/>
          <p:nvPr/>
        </p:nvSpPr>
        <p:spPr>
          <a:xfrm>
            <a:off x="621650" y="3832711"/>
            <a:ext cx="7495800" cy="305400"/>
          </a:xfrm>
          <a:prstGeom prst="rect">
            <a:avLst/>
          </a:prstGeom>
          <a:noFill/>
          <a:ln>
            <a:noFill/>
          </a:ln>
        </p:spPr>
        <p:txBody>
          <a:bodyPr anchorCtr="0" anchor="ctr" bIns="38200" lIns="76400" spcFirstLastPara="1" rIns="76400" wrap="square" tIns="38200">
            <a:noAutofit/>
          </a:bodyPr>
          <a:lstStyle/>
          <a:p>
            <a:pPr indent="0" lvl="0" marL="0" marR="0" rtl="0" algn="l">
              <a:spcBef>
                <a:spcPts val="0"/>
              </a:spcBef>
              <a:spcAft>
                <a:spcPts val="0"/>
              </a:spcAft>
              <a:buClr>
                <a:srgbClr val="667EEA"/>
              </a:buClr>
              <a:buSzPts val="1338"/>
              <a:buFont typeface="Calibri"/>
              <a:buNone/>
            </a:pPr>
            <a:r>
              <a:rPr b="1" i="0" lang="en" sz="1337" u="none" cap="none" strike="noStrike">
                <a:solidFill>
                  <a:srgbClr val="667EEA"/>
                </a:solidFill>
                <a:latin typeface="Calibri"/>
                <a:ea typeface="Calibri"/>
                <a:cs typeface="Calibri"/>
                <a:sym typeface="Calibri"/>
              </a:rPr>
              <a:t>Why Semantic Embeddings?</a:t>
            </a:r>
            <a:endParaRPr b="0" i="0" sz="1337" u="none" cap="none" strike="noStrike">
              <a:solidFill>
                <a:schemeClr val="dk1"/>
              </a:solidFill>
              <a:latin typeface="Calibri"/>
              <a:ea typeface="Calibri"/>
              <a:cs typeface="Calibri"/>
              <a:sym typeface="Calibri"/>
            </a:endParaRPr>
          </a:p>
        </p:txBody>
      </p:sp>
      <p:sp>
        <p:nvSpPr>
          <p:cNvPr id="338" name="Google Shape;338;p33"/>
          <p:cNvSpPr/>
          <p:nvPr/>
        </p:nvSpPr>
        <p:spPr>
          <a:xfrm>
            <a:off x="1038068" y="4214918"/>
            <a:ext cx="6662400" cy="229500"/>
          </a:xfrm>
          <a:prstGeom prst="rect">
            <a:avLst/>
          </a:prstGeom>
          <a:noFill/>
          <a:ln>
            <a:noFill/>
          </a:ln>
        </p:spPr>
        <p:txBody>
          <a:bodyPr anchorCtr="0" anchor="ctr" bIns="38200" lIns="76400" spcFirstLastPara="1" rIns="76400" wrap="square" tIns="38200">
            <a:noAutofit/>
          </a:bodyPr>
          <a:lstStyle/>
          <a:p>
            <a:pPr indent="0" lvl="0" marL="0" marR="0" rtl="0" algn="l">
              <a:spcBef>
                <a:spcPts val="0"/>
              </a:spcBef>
              <a:spcAft>
                <a:spcPts val="0"/>
              </a:spcAft>
              <a:buClr>
                <a:srgbClr val="4CAF50"/>
              </a:buClr>
              <a:buSzPts val="1003"/>
              <a:buFont typeface="Calibri"/>
              <a:buNone/>
            </a:pPr>
            <a:r>
              <a:rPr b="0" i="0" lang="en" sz="1003" u="none" cap="none" strike="noStrike">
                <a:solidFill>
                  <a:srgbClr val="4CAF50"/>
                </a:solidFill>
                <a:latin typeface="Calibri"/>
                <a:ea typeface="Calibri"/>
                <a:cs typeface="Calibri"/>
                <a:sym typeface="Calibri"/>
              </a:rPr>
              <a:t>✓ Captures meaning: 'Fire HD 8' and 'Fire 7' are semantically similar</a:t>
            </a:r>
            <a:endParaRPr b="0" i="0" sz="1003" u="none" cap="none" strike="noStrike">
              <a:solidFill>
                <a:schemeClr val="dk1"/>
              </a:solidFill>
              <a:latin typeface="Calibri"/>
              <a:ea typeface="Calibri"/>
              <a:cs typeface="Calibri"/>
              <a:sym typeface="Calibri"/>
            </a:endParaRPr>
          </a:p>
        </p:txBody>
      </p:sp>
      <p:sp>
        <p:nvSpPr>
          <p:cNvPr id="339" name="Google Shape;339;p33"/>
          <p:cNvSpPr/>
          <p:nvPr/>
        </p:nvSpPr>
        <p:spPr>
          <a:xfrm>
            <a:off x="1038068" y="4520684"/>
            <a:ext cx="6662400" cy="229500"/>
          </a:xfrm>
          <a:prstGeom prst="rect">
            <a:avLst/>
          </a:prstGeom>
          <a:noFill/>
          <a:ln>
            <a:noFill/>
          </a:ln>
        </p:spPr>
        <p:txBody>
          <a:bodyPr anchorCtr="0" anchor="ctr" bIns="38200" lIns="76400" spcFirstLastPara="1" rIns="76400" wrap="square" tIns="38200">
            <a:noAutofit/>
          </a:bodyPr>
          <a:lstStyle/>
          <a:p>
            <a:pPr indent="0" lvl="0" marL="0" marR="0" rtl="0" algn="l">
              <a:spcBef>
                <a:spcPts val="0"/>
              </a:spcBef>
              <a:spcAft>
                <a:spcPts val="0"/>
              </a:spcAft>
              <a:buClr>
                <a:srgbClr val="4CAF50"/>
              </a:buClr>
              <a:buSzPts val="1003"/>
              <a:buFont typeface="Calibri"/>
              <a:buNone/>
            </a:pPr>
            <a:r>
              <a:rPr b="0" i="0" lang="en" sz="1003" u="none" cap="none" strike="noStrike">
                <a:solidFill>
                  <a:srgbClr val="4CAF50"/>
                </a:solidFill>
                <a:latin typeface="Calibri"/>
                <a:ea typeface="Calibri"/>
                <a:cs typeface="Calibri"/>
                <a:sym typeface="Calibri"/>
              </a:rPr>
              <a:t>✓ Beyond keywords: Groups products by concept, not just matching words</a:t>
            </a:r>
            <a:endParaRPr b="0" i="0" sz="1003" u="none" cap="none" strike="noStrike">
              <a:solidFill>
                <a:schemeClr val="dk1"/>
              </a:solidFill>
              <a:latin typeface="Calibri"/>
              <a:ea typeface="Calibri"/>
              <a:cs typeface="Calibri"/>
              <a:sym typeface="Calibri"/>
            </a:endParaRPr>
          </a:p>
        </p:txBody>
      </p:sp>
      <p:sp>
        <p:nvSpPr>
          <p:cNvPr id="340" name="Google Shape;340;p33"/>
          <p:cNvSpPr/>
          <p:nvPr/>
        </p:nvSpPr>
        <p:spPr>
          <a:xfrm>
            <a:off x="1038068" y="4826450"/>
            <a:ext cx="6662400" cy="229500"/>
          </a:xfrm>
          <a:prstGeom prst="rect">
            <a:avLst/>
          </a:prstGeom>
          <a:noFill/>
          <a:ln>
            <a:noFill/>
          </a:ln>
        </p:spPr>
        <p:txBody>
          <a:bodyPr anchorCtr="0" anchor="ctr" bIns="38200" lIns="76400" spcFirstLastPara="1" rIns="76400" wrap="square" tIns="38200">
            <a:noAutofit/>
          </a:bodyPr>
          <a:lstStyle/>
          <a:p>
            <a:pPr indent="0" lvl="0" marL="0" marR="0" rtl="0" algn="l">
              <a:spcBef>
                <a:spcPts val="0"/>
              </a:spcBef>
              <a:spcAft>
                <a:spcPts val="0"/>
              </a:spcAft>
              <a:buClr>
                <a:srgbClr val="999999"/>
              </a:buClr>
              <a:buSzPts val="1003"/>
              <a:buFont typeface="Calibri"/>
              <a:buNone/>
            </a:pPr>
            <a:r>
              <a:rPr b="0" i="0" lang="en" sz="1003" u="none" cap="none" strike="noStrike">
                <a:solidFill>
                  <a:srgbClr val="999999"/>
                </a:solidFill>
                <a:latin typeface="Calibri"/>
                <a:ea typeface="Calibri"/>
                <a:cs typeface="Calibri"/>
                <a:sym typeface="Calibri"/>
              </a:rPr>
              <a:t>✗ TF-IDF alternative would miss semantic relationships</a:t>
            </a:r>
            <a:endParaRPr b="0" i="0" sz="1003" u="none" cap="none" strike="noStrike">
              <a:solidFill>
                <a:schemeClr val="dk1"/>
              </a:solidFill>
              <a:latin typeface="Calibri"/>
              <a:ea typeface="Calibri"/>
              <a:cs typeface="Calibri"/>
              <a:sym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45" name="Shape 345"/>
        <p:cNvGrpSpPr/>
        <p:nvPr/>
      </p:nvGrpSpPr>
      <p:grpSpPr>
        <a:xfrm>
          <a:off x="0" y="0"/>
          <a:ext cx="0" cy="0"/>
          <a:chOff x="0" y="0"/>
          <a:chExt cx="0" cy="0"/>
        </a:xfrm>
      </p:grpSpPr>
      <p:pic>
        <p:nvPicPr>
          <p:cNvPr id="346" name="Google Shape;346;p34"/>
          <p:cNvPicPr preferRelativeResize="0"/>
          <p:nvPr/>
        </p:nvPicPr>
        <p:blipFill>
          <a:blip r:embed="rId3">
            <a:alphaModFix/>
          </a:blip>
          <a:stretch>
            <a:fillRect/>
          </a:stretch>
        </p:blipFill>
        <p:spPr>
          <a:xfrm>
            <a:off x="0" y="662925"/>
            <a:ext cx="6400800" cy="4480565"/>
          </a:xfrm>
          <a:prstGeom prst="rect">
            <a:avLst/>
          </a:prstGeom>
          <a:noFill/>
          <a:ln>
            <a:noFill/>
          </a:ln>
        </p:spPr>
      </p:pic>
      <p:sp>
        <p:nvSpPr>
          <p:cNvPr id="347" name="Google Shape;347;p34"/>
          <p:cNvSpPr/>
          <p:nvPr/>
        </p:nvSpPr>
        <p:spPr>
          <a:xfrm>
            <a:off x="457200" y="457200"/>
            <a:ext cx="8229600" cy="5487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E2761"/>
              </a:buClr>
              <a:buSzPts val="3600"/>
              <a:buFont typeface="Calibri"/>
              <a:buNone/>
            </a:pPr>
            <a:r>
              <a:rPr b="1" i="0" lang="en" sz="3600" u="none" cap="none" strike="noStrike">
                <a:solidFill>
                  <a:srgbClr val="1E2761"/>
                </a:solidFill>
                <a:latin typeface="Calibri"/>
                <a:ea typeface="Calibri"/>
                <a:cs typeface="Calibri"/>
                <a:sym typeface="Calibri"/>
              </a:rPr>
              <a:t>Clustering: </a:t>
            </a:r>
            <a:r>
              <a:rPr b="1" lang="en" sz="3600">
                <a:solidFill>
                  <a:srgbClr val="1E2761"/>
                </a:solidFill>
                <a:latin typeface="Calibri"/>
                <a:ea typeface="Calibri"/>
                <a:cs typeface="Calibri"/>
                <a:sym typeface="Calibri"/>
              </a:rPr>
              <a:t>UMAP 2D Projection</a:t>
            </a:r>
            <a:endParaRPr b="0" i="0" sz="3600" u="none" cap="none" strike="noStrike">
              <a:solidFill>
                <a:schemeClr val="dk1"/>
              </a:solidFill>
              <a:latin typeface="Calibri"/>
              <a:ea typeface="Calibri"/>
              <a:cs typeface="Calibri"/>
              <a:sym typeface="Calibri"/>
            </a:endParaRPr>
          </a:p>
        </p:txBody>
      </p:sp>
      <p:sp>
        <p:nvSpPr>
          <p:cNvPr id="348" name="Google Shape;348;p34"/>
          <p:cNvSpPr/>
          <p:nvPr/>
        </p:nvSpPr>
        <p:spPr>
          <a:xfrm>
            <a:off x="417775" y="1089775"/>
            <a:ext cx="6400800" cy="5487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E2761"/>
              </a:buClr>
              <a:buSzPts val="2400"/>
              <a:buFont typeface="Calibri"/>
              <a:buNone/>
            </a:pPr>
            <a:r>
              <a:t/>
            </a:r>
            <a:endParaRPr b="0" i="0" sz="2400" u="none" cap="none" strike="noStrike">
              <a:solidFill>
                <a:schemeClr val="dk1"/>
              </a:solidFill>
              <a:latin typeface="Calibri"/>
              <a:ea typeface="Calibri"/>
              <a:cs typeface="Calibri"/>
              <a:sym typeface="Calibri"/>
            </a:endParaRPr>
          </a:p>
        </p:txBody>
      </p:sp>
      <p:sp>
        <p:nvSpPr>
          <p:cNvPr id="349" name="Google Shape;349;p34"/>
          <p:cNvSpPr/>
          <p:nvPr/>
        </p:nvSpPr>
        <p:spPr>
          <a:xfrm>
            <a:off x="5278825" y="2314750"/>
            <a:ext cx="3796200" cy="2742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667EEA"/>
              </a:buClr>
              <a:buSzPts val="1600"/>
              <a:buFont typeface="Calibri"/>
              <a:buNone/>
            </a:pPr>
            <a:r>
              <a:rPr b="1" i="0" lang="en" sz="1600" u="none" cap="none" strike="noStrike">
                <a:solidFill>
                  <a:srgbClr val="667EEA"/>
                </a:solidFill>
                <a:latin typeface="Calibri"/>
                <a:ea typeface="Calibri"/>
                <a:cs typeface="Calibri"/>
                <a:sym typeface="Calibri"/>
              </a:rPr>
              <a:t>Results</a:t>
            </a:r>
            <a:endParaRPr b="0" i="0" sz="1600" u="none" cap="none" strike="noStrike">
              <a:solidFill>
                <a:schemeClr val="dk1"/>
              </a:solidFill>
              <a:latin typeface="Calibri"/>
              <a:ea typeface="Calibri"/>
              <a:cs typeface="Calibri"/>
              <a:sym typeface="Calibri"/>
            </a:endParaRPr>
          </a:p>
        </p:txBody>
      </p:sp>
      <p:sp>
        <p:nvSpPr>
          <p:cNvPr id="350" name="Google Shape;350;p34"/>
          <p:cNvSpPr/>
          <p:nvPr/>
        </p:nvSpPr>
        <p:spPr>
          <a:xfrm>
            <a:off x="5698175" y="2742838"/>
            <a:ext cx="3017700" cy="5487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1E2761"/>
              </a:buClr>
              <a:buSzPts val="1400"/>
              <a:buFont typeface="Calibri"/>
              <a:buNone/>
            </a:pPr>
            <a:r>
              <a:rPr b="1" i="0" lang="en" sz="1400" u="none" cap="none" strike="noStrike">
                <a:solidFill>
                  <a:srgbClr val="1E2761"/>
                </a:solidFill>
                <a:latin typeface="Calibri"/>
                <a:ea typeface="Calibri"/>
                <a:cs typeface="Calibri"/>
                <a:sym typeface="Calibri"/>
              </a:rPr>
              <a:t>Adjusted Rand Index: 0.42  Moderate alignment with ground truth</a:t>
            </a:r>
            <a:endParaRPr b="0" i="0" sz="1400" u="none" cap="none" strike="noStrike">
              <a:solidFill>
                <a:schemeClr val="dk1"/>
              </a:solidFill>
              <a:latin typeface="Calibri"/>
              <a:ea typeface="Calibri"/>
              <a:cs typeface="Calibri"/>
              <a:sym typeface="Calibri"/>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55" name="Shape 355"/>
        <p:cNvGrpSpPr/>
        <p:nvPr/>
      </p:nvGrpSpPr>
      <p:grpSpPr>
        <a:xfrm>
          <a:off x="0" y="0"/>
          <a:ext cx="0" cy="0"/>
          <a:chOff x="0" y="0"/>
          <a:chExt cx="0" cy="0"/>
        </a:xfrm>
      </p:grpSpPr>
      <p:sp>
        <p:nvSpPr>
          <p:cNvPr id="356" name="Google Shape;356;p35"/>
          <p:cNvSpPr/>
          <p:nvPr/>
        </p:nvSpPr>
        <p:spPr>
          <a:xfrm>
            <a:off x="4572000" y="1371600"/>
            <a:ext cx="3925800" cy="2286000"/>
          </a:xfrm>
          <a:prstGeom prst="roundRect">
            <a:avLst>
              <a:gd fmla="val 16667" name="adj"/>
            </a:avLst>
          </a:prstGeom>
          <a:solidFill>
            <a:srgbClr val="F8F9FA"/>
          </a:solidFill>
          <a:ln cap="flat" cmpd="sng" w="25400">
            <a:solidFill>
              <a:srgbClr val="667EE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7" name="Google Shape;357;p35"/>
          <p:cNvSpPr/>
          <p:nvPr/>
        </p:nvSpPr>
        <p:spPr>
          <a:xfrm>
            <a:off x="457200" y="457200"/>
            <a:ext cx="8229600" cy="5487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E2761"/>
              </a:buClr>
              <a:buSzPts val="3600"/>
              <a:buFont typeface="Calibri"/>
              <a:buNone/>
            </a:pPr>
            <a:r>
              <a:rPr b="1" i="0" lang="en" sz="3600" u="none" cap="none" strike="noStrike">
                <a:solidFill>
                  <a:srgbClr val="1E2761"/>
                </a:solidFill>
                <a:latin typeface="Calibri"/>
                <a:ea typeface="Calibri"/>
                <a:cs typeface="Calibri"/>
                <a:sym typeface="Calibri"/>
              </a:rPr>
              <a:t>Generation: Model &amp; Strategy</a:t>
            </a:r>
            <a:endParaRPr b="0" i="0" sz="3600" u="none" cap="none" strike="noStrike">
              <a:solidFill>
                <a:schemeClr val="dk1"/>
              </a:solidFill>
              <a:latin typeface="Calibri"/>
              <a:ea typeface="Calibri"/>
              <a:cs typeface="Calibri"/>
              <a:sym typeface="Calibri"/>
            </a:endParaRPr>
          </a:p>
        </p:txBody>
      </p:sp>
      <p:sp>
        <p:nvSpPr>
          <p:cNvPr id="358" name="Google Shape;358;p35"/>
          <p:cNvSpPr/>
          <p:nvPr/>
        </p:nvSpPr>
        <p:spPr>
          <a:xfrm>
            <a:off x="640075" y="1371600"/>
            <a:ext cx="3503400" cy="2286000"/>
          </a:xfrm>
          <a:prstGeom prst="roundRect">
            <a:avLst>
              <a:gd fmla="val 16667" name="adj"/>
            </a:avLst>
          </a:prstGeom>
          <a:solidFill>
            <a:srgbClr val="F8F9FA"/>
          </a:solidFill>
          <a:ln cap="flat" cmpd="sng" w="25400">
            <a:solidFill>
              <a:srgbClr val="667EE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9" name="Google Shape;359;p35"/>
          <p:cNvSpPr/>
          <p:nvPr/>
        </p:nvSpPr>
        <p:spPr>
          <a:xfrm>
            <a:off x="640080" y="1645920"/>
            <a:ext cx="3657600" cy="3657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E2761"/>
              </a:buClr>
              <a:buSzPts val="1600"/>
              <a:buFont typeface="Calibri"/>
              <a:buNone/>
            </a:pPr>
            <a:r>
              <a:rPr b="1" i="0" lang="en" sz="1600" u="none" cap="none" strike="noStrike">
                <a:solidFill>
                  <a:srgbClr val="1E2761"/>
                </a:solidFill>
                <a:latin typeface="Calibri"/>
                <a:ea typeface="Calibri"/>
                <a:cs typeface="Calibri"/>
                <a:sym typeface="Calibri"/>
              </a:rPr>
              <a:t>Model: LLaMA 3.2-3B-Instruct</a:t>
            </a:r>
            <a:endParaRPr b="0" i="0" sz="1600" u="none" cap="none" strike="noStrike">
              <a:solidFill>
                <a:schemeClr val="dk1"/>
              </a:solidFill>
              <a:latin typeface="Calibri"/>
              <a:ea typeface="Calibri"/>
              <a:cs typeface="Calibri"/>
              <a:sym typeface="Calibri"/>
            </a:endParaRPr>
          </a:p>
        </p:txBody>
      </p:sp>
      <p:sp>
        <p:nvSpPr>
          <p:cNvPr id="360" name="Google Shape;360;p35"/>
          <p:cNvSpPr/>
          <p:nvPr/>
        </p:nvSpPr>
        <p:spPr>
          <a:xfrm>
            <a:off x="822960" y="2194560"/>
            <a:ext cx="33834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333333"/>
              </a:buClr>
              <a:buSzPts val="1200"/>
              <a:buFont typeface="Calibri"/>
              <a:buNone/>
            </a:pPr>
            <a:r>
              <a:rPr b="0" i="0" lang="en" sz="1200" u="none" cap="none" strike="noStrike">
                <a:solidFill>
                  <a:srgbClr val="333333"/>
                </a:solidFill>
                <a:latin typeface="Calibri"/>
                <a:ea typeface="Calibri"/>
                <a:cs typeface="Calibri"/>
                <a:sym typeface="Calibri"/>
              </a:rPr>
              <a:t>• 3 billion parameters</a:t>
            </a:r>
            <a:endParaRPr b="0" i="0" sz="1200" u="none" cap="none" strike="noStrike">
              <a:solidFill>
                <a:schemeClr val="dk1"/>
              </a:solidFill>
              <a:latin typeface="Calibri"/>
              <a:ea typeface="Calibri"/>
              <a:cs typeface="Calibri"/>
              <a:sym typeface="Calibri"/>
            </a:endParaRPr>
          </a:p>
        </p:txBody>
      </p:sp>
      <p:sp>
        <p:nvSpPr>
          <p:cNvPr id="361" name="Google Shape;361;p35"/>
          <p:cNvSpPr/>
          <p:nvPr/>
        </p:nvSpPr>
        <p:spPr>
          <a:xfrm>
            <a:off x="822960" y="2560320"/>
            <a:ext cx="33834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333333"/>
              </a:buClr>
              <a:buSzPts val="1200"/>
              <a:buFont typeface="Calibri"/>
              <a:buNone/>
            </a:pPr>
            <a:r>
              <a:rPr b="0" i="0" lang="en" sz="1200" u="none" cap="none" strike="noStrike">
                <a:solidFill>
                  <a:srgbClr val="333333"/>
                </a:solidFill>
                <a:latin typeface="Calibri"/>
                <a:ea typeface="Calibri"/>
                <a:cs typeface="Calibri"/>
                <a:sym typeface="Calibri"/>
              </a:rPr>
              <a:t>• Instruction-tuned</a:t>
            </a:r>
            <a:endParaRPr b="0" i="0" sz="1200" u="none" cap="none" strike="noStrike">
              <a:solidFill>
                <a:schemeClr val="dk1"/>
              </a:solidFill>
              <a:latin typeface="Calibri"/>
              <a:ea typeface="Calibri"/>
              <a:cs typeface="Calibri"/>
              <a:sym typeface="Calibri"/>
            </a:endParaRPr>
          </a:p>
        </p:txBody>
      </p:sp>
      <p:sp>
        <p:nvSpPr>
          <p:cNvPr id="362" name="Google Shape;362;p35"/>
          <p:cNvSpPr/>
          <p:nvPr/>
        </p:nvSpPr>
        <p:spPr>
          <a:xfrm>
            <a:off x="822960" y="2926080"/>
            <a:ext cx="33834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333333"/>
              </a:buClr>
              <a:buSzPts val="1200"/>
              <a:buFont typeface="Calibri"/>
              <a:buNone/>
            </a:pPr>
            <a:r>
              <a:rPr b="0" i="0" lang="en" sz="1200" u="none" cap="none" strike="noStrike">
                <a:solidFill>
                  <a:srgbClr val="333333"/>
                </a:solidFill>
                <a:latin typeface="Calibri"/>
                <a:ea typeface="Calibri"/>
                <a:cs typeface="Calibri"/>
                <a:sym typeface="Calibri"/>
              </a:rPr>
              <a:t>• Open source (Meta)</a:t>
            </a:r>
            <a:endParaRPr b="0" i="0" sz="1200" u="none" cap="none" strike="noStrike">
              <a:solidFill>
                <a:schemeClr val="dk1"/>
              </a:solidFill>
              <a:latin typeface="Calibri"/>
              <a:ea typeface="Calibri"/>
              <a:cs typeface="Calibri"/>
              <a:sym typeface="Calibri"/>
            </a:endParaRPr>
          </a:p>
        </p:txBody>
      </p:sp>
      <p:sp>
        <p:nvSpPr>
          <p:cNvPr id="363" name="Google Shape;363;p35"/>
          <p:cNvSpPr/>
          <p:nvPr/>
        </p:nvSpPr>
        <p:spPr>
          <a:xfrm>
            <a:off x="822960" y="3291840"/>
            <a:ext cx="33834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333333"/>
              </a:buClr>
              <a:buSzPts val="1200"/>
              <a:buFont typeface="Calibri"/>
              <a:buNone/>
            </a:pPr>
            <a:r>
              <a:rPr b="0" i="0" lang="en" sz="1200" u="none" cap="none" strike="noStrike">
                <a:solidFill>
                  <a:srgbClr val="333333"/>
                </a:solidFill>
                <a:latin typeface="Calibri"/>
                <a:ea typeface="Calibri"/>
                <a:cs typeface="Calibri"/>
                <a:sym typeface="Calibri"/>
              </a:rPr>
              <a:t>• Runs on L4 GPU</a:t>
            </a:r>
            <a:endParaRPr b="0" i="0" sz="1200" u="none" cap="none" strike="noStrike">
              <a:solidFill>
                <a:schemeClr val="dk1"/>
              </a:solidFill>
              <a:latin typeface="Calibri"/>
              <a:ea typeface="Calibri"/>
              <a:cs typeface="Calibri"/>
              <a:sym typeface="Calibri"/>
            </a:endParaRPr>
          </a:p>
        </p:txBody>
      </p:sp>
      <p:sp>
        <p:nvSpPr>
          <p:cNvPr id="364" name="Google Shape;364;p35"/>
          <p:cNvSpPr/>
          <p:nvPr/>
        </p:nvSpPr>
        <p:spPr>
          <a:xfrm>
            <a:off x="5029200" y="1600175"/>
            <a:ext cx="2878800" cy="4572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667EEA"/>
              </a:buClr>
              <a:buSzPts val="1800"/>
              <a:buFont typeface="Calibri"/>
              <a:buNone/>
            </a:pPr>
            <a:r>
              <a:rPr b="1" i="0" lang="en" sz="1800" u="none" cap="none" strike="noStrike">
                <a:solidFill>
                  <a:srgbClr val="667EEA"/>
                </a:solidFill>
                <a:latin typeface="Calibri"/>
                <a:ea typeface="Calibri"/>
                <a:cs typeface="Calibri"/>
                <a:sym typeface="Calibri"/>
              </a:rPr>
              <a:t>Two Decoding Strategies</a:t>
            </a:r>
            <a:endParaRPr b="0" i="0" sz="1800" u="none" cap="none" strike="noStrike">
              <a:solidFill>
                <a:schemeClr val="dk1"/>
              </a:solidFill>
              <a:latin typeface="Calibri"/>
              <a:ea typeface="Calibri"/>
              <a:cs typeface="Calibri"/>
              <a:sym typeface="Calibri"/>
            </a:endParaRPr>
          </a:p>
        </p:txBody>
      </p:sp>
      <p:sp>
        <p:nvSpPr>
          <p:cNvPr id="365" name="Google Shape;365;p35"/>
          <p:cNvSpPr/>
          <p:nvPr/>
        </p:nvSpPr>
        <p:spPr>
          <a:xfrm>
            <a:off x="6563169" y="2194550"/>
            <a:ext cx="1704000" cy="1188600"/>
          </a:xfrm>
          <a:prstGeom prst="roundRect">
            <a:avLst>
              <a:gd fmla="val 16667" name="adj"/>
            </a:avLst>
          </a:prstGeom>
          <a:solidFill>
            <a:srgbClr val="CADCF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6" name="Google Shape;366;p35"/>
          <p:cNvSpPr/>
          <p:nvPr/>
        </p:nvSpPr>
        <p:spPr>
          <a:xfrm>
            <a:off x="6268175" y="2377434"/>
            <a:ext cx="2229600" cy="2742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1E2761"/>
              </a:buClr>
              <a:buSzPts val="1400"/>
              <a:buFont typeface="Calibri"/>
              <a:buNone/>
            </a:pPr>
            <a:r>
              <a:rPr b="1" i="0" lang="en" sz="1400" u="none" cap="none" strike="noStrike">
                <a:solidFill>
                  <a:srgbClr val="1E2761"/>
                </a:solidFill>
                <a:latin typeface="Calibri"/>
                <a:ea typeface="Calibri"/>
                <a:cs typeface="Calibri"/>
                <a:sym typeface="Calibri"/>
              </a:rPr>
              <a:t>Controlled</a:t>
            </a:r>
            <a:endParaRPr b="0" i="0" sz="1400" u="none" cap="none" strike="noStrike">
              <a:solidFill>
                <a:schemeClr val="dk1"/>
              </a:solidFill>
              <a:latin typeface="Calibri"/>
              <a:ea typeface="Calibri"/>
              <a:cs typeface="Calibri"/>
              <a:sym typeface="Calibri"/>
            </a:endParaRPr>
          </a:p>
        </p:txBody>
      </p:sp>
      <p:sp>
        <p:nvSpPr>
          <p:cNvPr id="367" name="Google Shape;367;p35"/>
          <p:cNvSpPr/>
          <p:nvPr/>
        </p:nvSpPr>
        <p:spPr>
          <a:xfrm>
            <a:off x="6268175" y="2743192"/>
            <a:ext cx="2229600" cy="2742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667EEA"/>
              </a:buClr>
              <a:buSzPts val="1200"/>
              <a:buFont typeface="Calibri"/>
              <a:buNone/>
            </a:pPr>
            <a:r>
              <a:rPr b="1" i="0" lang="en" sz="1200" u="none" cap="none" strike="noStrike">
                <a:solidFill>
                  <a:srgbClr val="667EEA"/>
                </a:solidFill>
                <a:latin typeface="Calibri"/>
                <a:ea typeface="Calibri"/>
                <a:cs typeface="Calibri"/>
                <a:sym typeface="Calibri"/>
              </a:rPr>
              <a:t>temp = 0.15</a:t>
            </a:r>
            <a:endParaRPr b="0" i="0" sz="1200" u="none" cap="none" strike="noStrike">
              <a:solidFill>
                <a:schemeClr val="dk1"/>
              </a:solidFill>
              <a:latin typeface="Calibri"/>
              <a:ea typeface="Calibri"/>
              <a:cs typeface="Calibri"/>
              <a:sym typeface="Calibri"/>
            </a:endParaRPr>
          </a:p>
        </p:txBody>
      </p:sp>
      <p:sp>
        <p:nvSpPr>
          <p:cNvPr id="368" name="Google Shape;368;p35"/>
          <p:cNvSpPr/>
          <p:nvPr/>
        </p:nvSpPr>
        <p:spPr>
          <a:xfrm>
            <a:off x="6268175" y="3108950"/>
            <a:ext cx="2229600" cy="2742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555555"/>
              </a:buClr>
              <a:buSzPts val="1000"/>
              <a:buFont typeface="Calibri"/>
              <a:buNone/>
            </a:pPr>
            <a:r>
              <a:rPr b="0" i="1" lang="en" sz="1000" u="none" cap="none" strike="noStrike">
                <a:solidFill>
                  <a:srgbClr val="555555"/>
                </a:solidFill>
                <a:latin typeface="Calibri"/>
                <a:ea typeface="Calibri"/>
                <a:cs typeface="Calibri"/>
                <a:sym typeface="Calibri"/>
              </a:rPr>
              <a:t>Stable, grounded, predictable</a:t>
            </a:r>
            <a:endParaRPr b="0" i="0" sz="1000" u="none" cap="none" strike="noStrike">
              <a:solidFill>
                <a:schemeClr val="dk1"/>
              </a:solidFill>
              <a:latin typeface="Calibri"/>
              <a:ea typeface="Calibri"/>
              <a:cs typeface="Calibri"/>
              <a:sym typeface="Calibri"/>
            </a:endParaRPr>
          </a:p>
        </p:txBody>
      </p:sp>
      <p:sp>
        <p:nvSpPr>
          <p:cNvPr id="369" name="Google Shape;369;p35"/>
          <p:cNvSpPr/>
          <p:nvPr/>
        </p:nvSpPr>
        <p:spPr>
          <a:xfrm>
            <a:off x="4765375" y="2194550"/>
            <a:ext cx="1679100" cy="1188600"/>
          </a:xfrm>
          <a:prstGeom prst="roundRect">
            <a:avLst>
              <a:gd fmla="val 16667" name="adj"/>
            </a:avLst>
          </a:prstGeom>
          <a:solidFill>
            <a:srgbClr val="CADCF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0" name="Google Shape;370;p35"/>
          <p:cNvSpPr/>
          <p:nvPr/>
        </p:nvSpPr>
        <p:spPr>
          <a:xfrm>
            <a:off x="4404605" y="2377435"/>
            <a:ext cx="2377500" cy="2742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1E2761"/>
              </a:buClr>
              <a:buSzPts val="1400"/>
              <a:buFont typeface="Calibri"/>
              <a:buNone/>
            </a:pPr>
            <a:r>
              <a:rPr b="1" i="0" lang="en" sz="1400" u="none" cap="none" strike="noStrike">
                <a:solidFill>
                  <a:srgbClr val="1E2761"/>
                </a:solidFill>
                <a:latin typeface="Calibri"/>
                <a:ea typeface="Calibri"/>
                <a:cs typeface="Calibri"/>
                <a:sym typeface="Calibri"/>
              </a:rPr>
              <a:t>Creative</a:t>
            </a:r>
            <a:endParaRPr b="0" i="0" sz="1400" u="none" cap="none" strike="noStrike">
              <a:solidFill>
                <a:schemeClr val="dk1"/>
              </a:solidFill>
              <a:latin typeface="Calibri"/>
              <a:ea typeface="Calibri"/>
              <a:cs typeface="Calibri"/>
              <a:sym typeface="Calibri"/>
            </a:endParaRPr>
          </a:p>
        </p:txBody>
      </p:sp>
      <p:sp>
        <p:nvSpPr>
          <p:cNvPr id="371" name="Google Shape;371;p35"/>
          <p:cNvSpPr/>
          <p:nvPr/>
        </p:nvSpPr>
        <p:spPr>
          <a:xfrm>
            <a:off x="4404605" y="2743195"/>
            <a:ext cx="2377500" cy="2742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667EEA"/>
              </a:buClr>
              <a:buSzPts val="1200"/>
              <a:buFont typeface="Calibri"/>
              <a:buNone/>
            </a:pPr>
            <a:r>
              <a:rPr b="1" i="0" lang="en" sz="1200" u="none" cap="none" strike="noStrike">
                <a:solidFill>
                  <a:srgbClr val="667EEA"/>
                </a:solidFill>
                <a:latin typeface="Calibri"/>
                <a:ea typeface="Calibri"/>
                <a:cs typeface="Calibri"/>
                <a:sym typeface="Calibri"/>
              </a:rPr>
              <a:t>temp = 0.35</a:t>
            </a:r>
            <a:endParaRPr b="0" i="0" sz="1200" u="none" cap="none" strike="noStrike">
              <a:solidFill>
                <a:schemeClr val="dk1"/>
              </a:solidFill>
              <a:latin typeface="Calibri"/>
              <a:ea typeface="Calibri"/>
              <a:cs typeface="Calibri"/>
              <a:sym typeface="Calibri"/>
            </a:endParaRPr>
          </a:p>
        </p:txBody>
      </p:sp>
      <p:sp>
        <p:nvSpPr>
          <p:cNvPr id="372" name="Google Shape;372;p35"/>
          <p:cNvSpPr/>
          <p:nvPr/>
        </p:nvSpPr>
        <p:spPr>
          <a:xfrm>
            <a:off x="4404605" y="3108955"/>
            <a:ext cx="2377500" cy="2742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555555"/>
              </a:buClr>
              <a:buSzPts val="1000"/>
              <a:buFont typeface="Calibri"/>
              <a:buNone/>
            </a:pPr>
            <a:r>
              <a:rPr b="0" i="1" lang="en" sz="1000" u="none" cap="none" strike="noStrike">
                <a:solidFill>
                  <a:srgbClr val="555555"/>
                </a:solidFill>
                <a:latin typeface="Calibri"/>
                <a:ea typeface="Calibri"/>
                <a:cs typeface="Calibri"/>
                <a:sym typeface="Calibri"/>
              </a:rPr>
              <a:t>Natural, engaging, varied</a:t>
            </a:r>
            <a:endParaRPr b="0" i="0" sz="1000" u="none" cap="none" strike="noStrike">
              <a:solidFill>
                <a:schemeClr val="dk1"/>
              </a:solidFill>
              <a:latin typeface="Calibri"/>
              <a:ea typeface="Calibri"/>
              <a:cs typeface="Calibri"/>
              <a:sym typeface="Calibri"/>
            </a:endParaRPr>
          </a:p>
        </p:txBody>
      </p:sp>
      <p:sp>
        <p:nvSpPr>
          <p:cNvPr id="373" name="Google Shape;373;p35"/>
          <p:cNvSpPr/>
          <p:nvPr/>
        </p:nvSpPr>
        <p:spPr>
          <a:xfrm>
            <a:off x="640078" y="4114725"/>
            <a:ext cx="7140300" cy="278100"/>
          </a:xfrm>
          <a:prstGeom prst="rect">
            <a:avLst/>
          </a:prstGeom>
          <a:noFill/>
          <a:ln>
            <a:noFill/>
          </a:ln>
        </p:spPr>
        <p:txBody>
          <a:bodyPr anchorCtr="0" anchor="ctr" bIns="39650" lIns="79325" spcFirstLastPara="1" rIns="79325" wrap="square" tIns="39650">
            <a:noAutofit/>
          </a:bodyPr>
          <a:lstStyle/>
          <a:p>
            <a:pPr indent="0" lvl="0" marL="0" marR="0" rtl="0" algn="l">
              <a:spcBef>
                <a:spcPts val="0"/>
              </a:spcBef>
              <a:spcAft>
                <a:spcPts val="0"/>
              </a:spcAft>
              <a:buClr>
                <a:srgbClr val="667EEA"/>
              </a:buClr>
              <a:buSzPts val="1562"/>
              <a:buFont typeface="Calibri"/>
              <a:buNone/>
            </a:pPr>
            <a:r>
              <a:rPr b="1" i="0" lang="en" sz="1561" u="none" cap="none" strike="noStrike">
                <a:solidFill>
                  <a:srgbClr val="667EEA"/>
                </a:solidFill>
                <a:latin typeface="Calibri"/>
                <a:ea typeface="Calibri"/>
                <a:cs typeface="Calibri"/>
                <a:sym typeface="Calibri"/>
              </a:rPr>
              <a:t>Key Insight</a:t>
            </a:r>
            <a:endParaRPr b="0" i="0" sz="1561" u="none" cap="none" strike="noStrike">
              <a:solidFill>
                <a:schemeClr val="dk1"/>
              </a:solidFill>
              <a:latin typeface="Calibri"/>
              <a:ea typeface="Calibri"/>
              <a:cs typeface="Calibri"/>
              <a:sym typeface="Calibri"/>
            </a:endParaRPr>
          </a:p>
        </p:txBody>
      </p:sp>
      <p:sp>
        <p:nvSpPr>
          <p:cNvPr id="374" name="Google Shape;374;p35"/>
          <p:cNvSpPr/>
          <p:nvPr/>
        </p:nvSpPr>
        <p:spPr>
          <a:xfrm>
            <a:off x="1036665" y="4418827"/>
            <a:ext cx="6347100" cy="278100"/>
          </a:xfrm>
          <a:prstGeom prst="rect">
            <a:avLst/>
          </a:prstGeom>
          <a:noFill/>
          <a:ln>
            <a:noFill/>
          </a:ln>
        </p:spPr>
        <p:txBody>
          <a:bodyPr anchorCtr="0" anchor="ctr" bIns="39650" lIns="79325" spcFirstLastPara="1" rIns="79325" wrap="square" tIns="39650">
            <a:noAutofit/>
          </a:bodyPr>
          <a:lstStyle/>
          <a:p>
            <a:pPr indent="0" lvl="0" marL="0" marR="0" rtl="0" algn="l">
              <a:spcBef>
                <a:spcPts val="0"/>
              </a:spcBef>
              <a:spcAft>
                <a:spcPts val="0"/>
              </a:spcAft>
              <a:buClr>
                <a:srgbClr val="4CAF50"/>
              </a:buClr>
              <a:buSzPts val="1128"/>
              <a:buFont typeface="Calibri"/>
              <a:buNone/>
            </a:pPr>
            <a:r>
              <a:rPr b="1" i="0" lang="en" sz="1127" u="none" cap="none" strike="noStrike">
                <a:solidFill>
                  <a:srgbClr val="4CAF50"/>
                </a:solidFill>
                <a:latin typeface="Calibri"/>
                <a:ea typeface="Calibri"/>
                <a:cs typeface="Calibri"/>
                <a:sym typeface="Calibri"/>
              </a:rPr>
              <a:t>✓ </a:t>
            </a:r>
            <a:r>
              <a:rPr lang="en" sz="1100">
                <a:solidFill>
                  <a:schemeClr val="accent6"/>
                </a:solidFill>
              </a:rPr>
              <a:t>Success depends more on prompt engineering than model size</a:t>
            </a:r>
            <a:endParaRPr b="0" i="0" sz="1127" u="none" cap="none" strike="noStrike">
              <a:solidFill>
                <a:schemeClr val="accent6"/>
              </a:solidFill>
              <a:latin typeface="Calibri"/>
              <a:ea typeface="Calibri"/>
              <a:cs typeface="Calibri"/>
              <a:sym typeface="Calibri"/>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79" name="Shape 379"/>
        <p:cNvGrpSpPr/>
        <p:nvPr/>
      </p:nvGrpSpPr>
      <p:grpSpPr>
        <a:xfrm>
          <a:off x="0" y="0"/>
          <a:ext cx="0" cy="0"/>
          <a:chOff x="0" y="0"/>
          <a:chExt cx="0" cy="0"/>
        </a:xfrm>
      </p:grpSpPr>
      <p:sp>
        <p:nvSpPr>
          <p:cNvPr id="380" name="Google Shape;380;p36"/>
          <p:cNvSpPr/>
          <p:nvPr/>
        </p:nvSpPr>
        <p:spPr>
          <a:xfrm>
            <a:off x="457200" y="457200"/>
            <a:ext cx="8229600" cy="5487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E2761"/>
              </a:buClr>
              <a:buSzPts val="3600"/>
              <a:buFont typeface="Calibri"/>
              <a:buNone/>
            </a:pPr>
            <a:r>
              <a:rPr b="1" i="0" lang="en" sz="3600" u="none" cap="none" strike="noStrike">
                <a:solidFill>
                  <a:srgbClr val="1E2761"/>
                </a:solidFill>
                <a:latin typeface="Calibri"/>
                <a:ea typeface="Calibri"/>
                <a:cs typeface="Calibri"/>
                <a:sym typeface="Calibri"/>
              </a:rPr>
              <a:t>Generation: Evaluation Metrics</a:t>
            </a:r>
            <a:endParaRPr b="0" i="0" sz="3600" u="none" cap="none" strike="noStrike">
              <a:solidFill>
                <a:schemeClr val="dk1"/>
              </a:solidFill>
              <a:latin typeface="Calibri"/>
              <a:ea typeface="Calibri"/>
              <a:cs typeface="Calibri"/>
              <a:sym typeface="Calibri"/>
            </a:endParaRPr>
          </a:p>
        </p:txBody>
      </p:sp>
      <p:sp>
        <p:nvSpPr>
          <p:cNvPr id="381" name="Google Shape;381;p36"/>
          <p:cNvSpPr/>
          <p:nvPr/>
        </p:nvSpPr>
        <p:spPr>
          <a:xfrm>
            <a:off x="1050288" y="1005900"/>
            <a:ext cx="3336300" cy="1482600"/>
          </a:xfrm>
          <a:prstGeom prst="roundRect">
            <a:avLst>
              <a:gd fmla="val 16667" name="adj"/>
            </a:avLst>
          </a:prstGeom>
          <a:solidFill>
            <a:srgbClr val="E3F2FD"/>
          </a:solidFill>
          <a:ln cap="flat" cmpd="sng" w="20600">
            <a:solidFill>
              <a:srgbClr val="667EEA"/>
            </a:solidFill>
            <a:prstDash val="solid"/>
            <a:round/>
            <a:headEnd len="sm" w="sm" type="none"/>
            <a:tailEnd len="sm" w="sm" type="none"/>
          </a:ln>
        </p:spPr>
        <p:txBody>
          <a:bodyPr anchorCtr="0" anchor="ctr" bIns="74125" lIns="74125" spcFirstLastPara="1" rIns="74125" wrap="square" tIns="74125">
            <a:noAutofit/>
          </a:bodyPr>
          <a:lstStyle/>
          <a:p>
            <a:pPr indent="0" lvl="0" marL="0" rtl="0" algn="l">
              <a:spcBef>
                <a:spcPts val="0"/>
              </a:spcBef>
              <a:spcAft>
                <a:spcPts val="0"/>
              </a:spcAft>
              <a:buNone/>
            </a:pPr>
            <a:r>
              <a:t/>
            </a:r>
            <a:endParaRPr/>
          </a:p>
        </p:txBody>
      </p:sp>
      <p:sp>
        <p:nvSpPr>
          <p:cNvPr id="382" name="Google Shape;382;p36"/>
          <p:cNvSpPr/>
          <p:nvPr/>
        </p:nvSpPr>
        <p:spPr>
          <a:xfrm>
            <a:off x="1198573" y="1154185"/>
            <a:ext cx="1482600" cy="296700"/>
          </a:xfrm>
          <a:prstGeom prst="rect">
            <a:avLst/>
          </a:prstGeom>
          <a:noFill/>
          <a:ln>
            <a:noFill/>
          </a:ln>
        </p:spPr>
        <p:txBody>
          <a:bodyPr anchorCtr="0" anchor="ctr" bIns="37050" lIns="74125" spcFirstLastPara="1" rIns="74125" wrap="square" tIns="37050">
            <a:noAutofit/>
          </a:bodyPr>
          <a:lstStyle/>
          <a:p>
            <a:pPr indent="0" lvl="0" marL="0" marR="0" rtl="0" algn="l">
              <a:spcBef>
                <a:spcPts val="0"/>
              </a:spcBef>
              <a:spcAft>
                <a:spcPts val="0"/>
              </a:spcAft>
              <a:buClr>
                <a:srgbClr val="1E2761"/>
              </a:buClr>
              <a:buSzPts val="1135"/>
              <a:buFont typeface="Calibri"/>
              <a:buNone/>
            </a:pPr>
            <a:r>
              <a:rPr b="1" i="0" lang="en" sz="1335" u="none" cap="none" strike="noStrike">
                <a:solidFill>
                  <a:srgbClr val="1E2761"/>
                </a:solidFill>
                <a:latin typeface="Calibri"/>
                <a:ea typeface="Calibri"/>
                <a:cs typeface="Calibri"/>
                <a:sym typeface="Calibri"/>
              </a:rPr>
              <a:t>BERTScore</a:t>
            </a:r>
            <a:endParaRPr b="0" i="0" sz="1335" u="none" cap="none" strike="noStrike">
              <a:solidFill>
                <a:schemeClr val="dk1"/>
              </a:solidFill>
              <a:latin typeface="Calibri"/>
              <a:ea typeface="Calibri"/>
              <a:cs typeface="Calibri"/>
              <a:sym typeface="Calibri"/>
            </a:endParaRPr>
          </a:p>
        </p:txBody>
      </p:sp>
      <p:sp>
        <p:nvSpPr>
          <p:cNvPr id="383" name="Google Shape;383;p36"/>
          <p:cNvSpPr/>
          <p:nvPr/>
        </p:nvSpPr>
        <p:spPr>
          <a:xfrm>
            <a:off x="2903852" y="1117114"/>
            <a:ext cx="1334700" cy="370800"/>
          </a:xfrm>
          <a:prstGeom prst="rect">
            <a:avLst/>
          </a:prstGeom>
          <a:noFill/>
          <a:ln>
            <a:noFill/>
          </a:ln>
        </p:spPr>
        <p:txBody>
          <a:bodyPr anchorCtr="0" anchor="ctr" bIns="37050" lIns="74125" spcFirstLastPara="1" rIns="74125" wrap="square" tIns="37050">
            <a:noAutofit/>
          </a:bodyPr>
          <a:lstStyle/>
          <a:p>
            <a:pPr indent="0" lvl="0" marL="0" marR="0" rtl="0" algn="r">
              <a:spcBef>
                <a:spcPts val="0"/>
              </a:spcBef>
              <a:spcAft>
                <a:spcPts val="0"/>
              </a:spcAft>
              <a:buClr>
                <a:srgbClr val="667EEA"/>
              </a:buClr>
              <a:buSzPts val="2595"/>
              <a:buFont typeface="Calibri"/>
              <a:buNone/>
            </a:pPr>
            <a:r>
              <a:rPr b="1" i="0" lang="en" sz="2594" u="none" cap="none" strike="noStrike">
                <a:solidFill>
                  <a:srgbClr val="667EEA"/>
                </a:solidFill>
                <a:latin typeface="Calibri"/>
                <a:ea typeface="Calibri"/>
                <a:cs typeface="Calibri"/>
                <a:sym typeface="Calibri"/>
              </a:rPr>
              <a:t>0.811</a:t>
            </a:r>
            <a:endParaRPr b="0" i="0" sz="2594" u="none" cap="none" strike="noStrike">
              <a:solidFill>
                <a:schemeClr val="dk1"/>
              </a:solidFill>
              <a:latin typeface="Calibri"/>
              <a:ea typeface="Calibri"/>
              <a:cs typeface="Calibri"/>
              <a:sym typeface="Calibri"/>
            </a:endParaRPr>
          </a:p>
        </p:txBody>
      </p:sp>
      <p:sp>
        <p:nvSpPr>
          <p:cNvPr id="384" name="Google Shape;384;p36"/>
          <p:cNvSpPr/>
          <p:nvPr/>
        </p:nvSpPr>
        <p:spPr>
          <a:xfrm>
            <a:off x="1198573" y="1599040"/>
            <a:ext cx="3039900" cy="222600"/>
          </a:xfrm>
          <a:prstGeom prst="rect">
            <a:avLst/>
          </a:prstGeom>
          <a:noFill/>
          <a:ln>
            <a:noFill/>
          </a:ln>
        </p:spPr>
        <p:txBody>
          <a:bodyPr anchorCtr="0" anchor="ctr" bIns="37050" lIns="74125" spcFirstLastPara="1" rIns="74125" wrap="square" tIns="37050">
            <a:noAutofit/>
          </a:bodyPr>
          <a:lstStyle/>
          <a:p>
            <a:pPr indent="0" lvl="0" marL="0" marR="0" rtl="0" algn="l">
              <a:spcBef>
                <a:spcPts val="0"/>
              </a:spcBef>
              <a:spcAft>
                <a:spcPts val="0"/>
              </a:spcAft>
              <a:buClr>
                <a:srgbClr val="1E2761"/>
              </a:buClr>
              <a:buSzPts val="973"/>
              <a:buFont typeface="Calibri"/>
              <a:buNone/>
            </a:pPr>
            <a:r>
              <a:rPr b="1" i="0" lang="en" sz="1073" u="none" cap="none" strike="noStrike">
                <a:solidFill>
                  <a:srgbClr val="1E2761"/>
                </a:solidFill>
                <a:latin typeface="Calibri"/>
                <a:ea typeface="Calibri"/>
                <a:cs typeface="Calibri"/>
                <a:sym typeface="Calibri"/>
              </a:rPr>
              <a:t>Semantic Alignment</a:t>
            </a:r>
            <a:endParaRPr b="0" i="0" sz="1073" u="none" cap="none" strike="noStrike">
              <a:solidFill>
                <a:schemeClr val="dk1"/>
              </a:solidFill>
              <a:latin typeface="Calibri"/>
              <a:ea typeface="Calibri"/>
              <a:cs typeface="Calibri"/>
              <a:sym typeface="Calibri"/>
            </a:endParaRPr>
          </a:p>
        </p:txBody>
      </p:sp>
      <p:sp>
        <p:nvSpPr>
          <p:cNvPr id="385" name="Google Shape;385;p36"/>
          <p:cNvSpPr/>
          <p:nvPr/>
        </p:nvSpPr>
        <p:spPr>
          <a:xfrm>
            <a:off x="1198573" y="1895610"/>
            <a:ext cx="3039900" cy="444600"/>
          </a:xfrm>
          <a:prstGeom prst="rect">
            <a:avLst/>
          </a:prstGeom>
          <a:noFill/>
          <a:ln>
            <a:noFill/>
          </a:ln>
        </p:spPr>
        <p:txBody>
          <a:bodyPr anchorCtr="0" anchor="ctr" bIns="37050" lIns="74125" spcFirstLastPara="1" rIns="74125" wrap="square" tIns="37050">
            <a:noAutofit/>
          </a:bodyPr>
          <a:lstStyle/>
          <a:p>
            <a:pPr indent="0" lvl="0" marL="0" marR="0" rtl="0" algn="l">
              <a:spcBef>
                <a:spcPts val="0"/>
              </a:spcBef>
              <a:spcAft>
                <a:spcPts val="0"/>
              </a:spcAft>
              <a:buClr>
                <a:srgbClr val="555555"/>
              </a:buClr>
              <a:buSzPts val="892"/>
              <a:buFont typeface="Calibri"/>
              <a:buNone/>
            </a:pPr>
            <a:r>
              <a:rPr b="0" i="0" lang="en" sz="891" u="none" cap="none" strike="noStrike">
                <a:solidFill>
                  <a:srgbClr val="555555"/>
                </a:solidFill>
                <a:latin typeface="Calibri"/>
                <a:ea typeface="Calibri"/>
                <a:cs typeface="Calibri"/>
                <a:sym typeface="Calibri"/>
              </a:rPr>
              <a:t>Generated text captures review meaning</a:t>
            </a:r>
            <a:endParaRPr b="0" i="0" sz="891" u="none" cap="none" strike="noStrike">
              <a:solidFill>
                <a:schemeClr val="dk1"/>
              </a:solidFill>
              <a:latin typeface="Calibri"/>
              <a:ea typeface="Calibri"/>
              <a:cs typeface="Calibri"/>
              <a:sym typeface="Calibri"/>
            </a:endParaRPr>
          </a:p>
        </p:txBody>
      </p:sp>
      <p:sp>
        <p:nvSpPr>
          <p:cNvPr id="386" name="Google Shape;386;p36"/>
          <p:cNvSpPr/>
          <p:nvPr/>
        </p:nvSpPr>
        <p:spPr>
          <a:xfrm>
            <a:off x="4757417" y="1005900"/>
            <a:ext cx="3336300" cy="1482600"/>
          </a:xfrm>
          <a:prstGeom prst="roundRect">
            <a:avLst>
              <a:gd fmla="val 16667" name="adj"/>
            </a:avLst>
          </a:prstGeom>
          <a:solidFill>
            <a:srgbClr val="E8F5E9"/>
          </a:solidFill>
          <a:ln cap="flat" cmpd="sng" w="20600">
            <a:solidFill>
              <a:srgbClr val="667EEA"/>
            </a:solidFill>
            <a:prstDash val="solid"/>
            <a:round/>
            <a:headEnd len="sm" w="sm" type="none"/>
            <a:tailEnd len="sm" w="sm" type="none"/>
          </a:ln>
        </p:spPr>
        <p:txBody>
          <a:bodyPr anchorCtr="0" anchor="ctr" bIns="74125" lIns="74125" spcFirstLastPara="1" rIns="74125" wrap="square" tIns="74125">
            <a:noAutofit/>
          </a:bodyPr>
          <a:lstStyle/>
          <a:p>
            <a:pPr indent="0" lvl="0" marL="0" rtl="0" algn="l">
              <a:spcBef>
                <a:spcPts val="0"/>
              </a:spcBef>
              <a:spcAft>
                <a:spcPts val="0"/>
              </a:spcAft>
              <a:buNone/>
            </a:pPr>
            <a:r>
              <a:t/>
            </a:r>
            <a:endParaRPr/>
          </a:p>
        </p:txBody>
      </p:sp>
      <p:sp>
        <p:nvSpPr>
          <p:cNvPr id="387" name="Google Shape;387;p36"/>
          <p:cNvSpPr/>
          <p:nvPr/>
        </p:nvSpPr>
        <p:spPr>
          <a:xfrm>
            <a:off x="4905703" y="1154185"/>
            <a:ext cx="1482600" cy="296700"/>
          </a:xfrm>
          <a:prstGeom prst="rect">
            <a:avLst/>
          </a:prstGeom>
          <a:noFill/>
          <a:ln>
            <a:noFill/>
          </a:ln>
        </p:spPr>
        <p:txBody>
          <a:bodyPr anchorCtr="0" anchor="ctr" bIns="37050" lIns="74125" spcFirstLastPara="1" rIns="74125" wrap="square" tIns="37050">
            <a:noAutofit/>
          </a:bodyPr>
          <a:lstStyle/>
          <a:p>
            <a:pPr indent="0" lvl="0" marL="0" marR="0" rtl="0" algn="l">
              <a:spcBef>
                <a:spcPts val="0"/>
              </a:spcBef>
              <a:spcAft>
                <a:spcPts val="0"/>
              </a:spcAft>
              <a:buClr>
                <a:srgbClr val="1E2761"/>
              </a:buClr>
              <a:buSzPts val="1135"/>
              <a:buFont typeface="Calibri"/>
              <a:buNone/>
            </a:pPr>
            <a:r>
              <a:rPr b="1" i="0" lang="en" sz="1335" u="none" cap="none" strike="noStrike">
                <a:solidFill>
                  <a:srgbClr val="1E2761"/>
                </a:solidFill>
                <a:latin typeface="Calibri"/>
                <a:ea typeface="Calibri"/>
                <a:cs typeface="Calibri"/>
                <a:sym typeface="Calibri"/>
              </a:rPr>
              <a:t>Grounding</a:t>
            </a:r>
            <a:endParaRPr b="0" i="0" sz="1335" u="none" cap="none" strike="noStrike">
              <a:solidFill>
                <a:schemeClr val="dk1"/>
              </a:solidFill>
              <a:latin typeface="Calibri"/>
              <a:ea typeface="Calibri"/>
              <a:cs typeface="Calibri"/>
              <a:sym typeface="Calibri"/>
            </a:endParaRPr>
          </a:p>
        </p:txBody>
      </p:sp>
      <p:sp>
        <p:nvSpPr>
          <p:cNvPr id="388" name="Google Shape;388;p36"/>
          <p:cNvSpPr/>
          <p:nvPr/>
        </p:nvSpPr>
        <p:spPr>
          <a:xfrm>
            <a:off x="6610982" y="1117114"/>
            <a:ext cx="1334700" cy="370800"/>
          </a:xfrm>
          <a:prstGeom prst="rect">
            <a:avLst/>
          </a:prstGeom>
          <a:noFill/>
          <a:ln>
            <a:noFill/>
          </a:ln>
        </p:spPr>
        <p:txBody>
          <a:bodyPr anchorCtr="0" anchor="ctr" bIns="37050" lIns="74125" spcFirstLastPara="1" rIns="74125" wrap="square" tIns="37050">
            <a:noAutofit/>
          </a:bodyPr>
          <a:lstStyle/>
          <a:p>
            <a:pPr indent="0" lvl="0" marL="0" marR="0" rtl="0" algn="r">
              <a:spcBef>
                <a:spcPts val="0"/>
              </a:spcBef>
              <a:spcAft>
                <a:spcPts val="0"/>
              </a:spcAft>
              <a:buClr>
                <a:srgbClr val="667EEA"/>
              </a:buClr>
              <a:buSzPts val="2595"/>
              <a:buFont typeface="Calibri"/>
              <a:buNone/>
            </a:pPr>
            <a:r>
              <a:rPr b="1" i="0" lang="en" sz="2594" u="none" cap="none" strike="noStrike">
                <a:solidFill>
                  <a:srgbClr val="667EEA"/>
                </a:solidFill>
                <a:latin typeface="Calibri"/>
                <a:ea typeface="Calibri"/>
                <a:cs typeface="Calibri"/>
                <a:sym typeface="Calibri"/>
              </a:rPr>
              <a:t>60%</a:t>
            </a:r>
            <a:endParaRPr b="0" i="0" sz="2594" u="none" cap="none" strike="noStrike">
              <a:solidFill>
                <a:schemeClr val="dk1"/>
              </a:solidFill>
              <a:latin typeface="Calibri"/>
              <a:ea typeface="Calibri"/>
              <a:cs typeface="Calibri"/>
              <a:sym typeface="Calibri"/>
            </a:endParaRPr>
          </a:p>
        </p:txBody>
      </p:sp>
      <p:sp>
        <p:nvSpPr>
          <p:cNvPr id="389" name="Google Shape;389;p36"/>
          <p:cNvSpPr/>
          <p:nvPr/>
        </p:nvSpPr>
        <p:spPr>
          <a:xfrm>
            <a:off x="4905703" y="1599040"/>
            <a:ext cx="3039900" cy="222600"/>
          </a:xfrm>
          <a:prstGeom prst="rect">
            <a:avLst/>
          </a:prstGeom>
          <a:noFill/>
          <a:ln>
            <a:noFill/>
          </a:ln>
        </p:spPr>
        <p:txBody>
          <a:bodyPr anchorCtr="0" anchor="ctr" bIns="37050" lIns="74125" spcFirstLastPara="1" rIns="74125" wrap="square" tIns="37050">
            <a:noAutofit/>
          </a:bodyPr>
          <a:lstStyle/>
          <a:p>
            <a:pPr indent="0" lvl="0" marL="0" marR="0" rtl="0" algn="l">
              <a:spcBef>
                <a:spcPts val="0"/>
              </a:spcBef>
              <a:spcAft>
                <a:spcPts val="0"/>
              </a:spcAft>
              <a:buClr>
                <a:srgbClr val="1E2761"/>
              </a:buClr>
              <a:buSzPts val="973"/>
              <a:buFont typeface="Calibri"/>
              <a:buNone/>
            </a:pPr>
            <a:r>
              <a:rPr b="1" i="0" lang="en" sz="1073" u="none" cap="none" strike="noStrike">
                <a:solidFill>
                  <a:srgbClr val="1E2761"/>
                </a:solidFill>
                <a:latin typeface="Calibri"/>
                <a:ea typeface="Calibri"/>
                <a:cs typeface="Calibri"/>
                <a:sym typeface="Calibri"/>
              </a:rPr>
              <a:t>Vocabulary Overlap</a:t>
            </a:r>
            <a:endParaRPr b="0" i="0" sz="1073" u="none" cap="none" strike="noStrike">
              <a:solidFill>
                <a:schemeClr val="dk1"/>
              </a:solidFill>
              <a:latin typeface="Calibri"/>
              <a:ea typeface="Calibri"/>
              <a:cs typeface="Calibri"/>
              <a:sym typeface="Calibri"/>
            </a:endParaRPr>
          </a:p>
        </p:txBody>
      </p:sp>
      <p:sp>
        <p:nvSpPr>
          <p:cNvPr id="390" name="Google Shape;390;p36"/>
          <p:cNvSpPr/>
          <p:nvPr/>
        </p:nvSpPr>
        <p:spPr>
          <a:xfrm>
            <a:off x="4905703" y="1895610"/>
            <a:ext cx="3039900" cy="444600"/>
          </a:xfrm>
          <a:prstGeom prst="rect">
            <a:avLst/>
          </a:prstGeom>
          <a:noFill/>
          <a:ln>
            <a:noFill/>
          </a:ln>
        </p:spPr>
        <p:txBody>
          <a:bodyPr anchorCtr="0" anchor="ctr" bIns="37050" lIns="74125" spcFirstLastPara="1" rIns="74125" wrap="square" tIns="37050">
            <a:noAutofit/>
          </a:bodyPr>
          <a:lstStyle/>
          <a:p>
            <a:pPr indent="0" lvl="0" marL="0" marR="0" rtl="0" algn="l">
              <a:spcBef>
                <a:spcPts val="0"/>
              </a:spcBef>
              <a:spcAft>
                <a:spcPts val="0"/>
              </a:spcAft>
              <a:buClr>
                <a:srgbClr val="555555"/>
              </a:buClr>
              <a:buSzPts val="892"/>
              <a:buFont typeface="Calibri"/>
              <a:buNone/>
            </a:pPr>
            <a:r>
              <a:rPr b="0" i="0" lang="en" sz="891" u="none" cap="none" strike="noStrike">
                <a:solidFill>
                  <a:srgbClr val="555555"/>
                </a:solidFill>
                <a:latin typeface="Calibri"/>
                <a:ea typeface="Calibri"/>
                <a:cs typeface="Calibri"/>
                <a:sym typeface="Calibri"/>
              </a:rPr>
              <a:t>60% of words from source reviews</a:t>
            </a:r>
            <a:endParaRPr b="0" i="0" sz="891" u="none" cap="none" strike="noStrike">
              <a:solidFill>
                <a:schemeClr val="dk1"/>
              </a:solidFill>
              <a:latin typeface="Calibri"/>
              <a:ea typeface="Calibri"/>
              <a:cs typeface="Calibri"/>
              <a:sym typeface="Calibri"/>
            </a:endParaRPr>
          </a:p>
        </p:txBody>
      </p:sp>
      <p:sp>
        <p:nvSpPr>
          <p:cNvPr id="391" name="Google Shape;391;p36"/>
          <p:cNvSpPr/>
          <p:nvPr/>
        </p:nvSpPr>
        <p:spPr>
          <a:xfrm>
            <a:off x="1050288" y="2785319"/>
            <a:ext cx="3336300" cy="1482600"/>
          </a:xfrm>
          <a:prstGeom prst="roundRect">
            <a:avLst>
              <a:gd fmla="val 16667" name="adj"/>
            </a:avLst>
          </a:prstGeom>
          <a:solidFill>
            <a:srgbClr val="FFF9C4"/>
          </a:solidFill>
          <a:ln cap="flat" cmpd="sng" w="20600">
            <a:solidFill>
              <a:srgbClr val="667EEA"/>
            </a:solidFill>
            <a:prstDash val="solid"/>
            <a:round/>
            <a:headEnd len="sm" w="sm" type="none"/>
            <a:tailEnd len="sm" w="sm" type="none"/>
          </a:ln>
        </p:spPr>
        <p:txBody>
          <a:bodyPr anchorCtr="0" anchor="ctr" bIns="74125" lIns="74125" spcFirstLastPara="1" rIns="74125" wrap="square" tIns="74125">
            <a:noAutofit/>
          </a:bodyPr>
          <a:lstStyle/>
          <a:p>
            <a:pPr indent="0" lvl="0" marL="0" rtl="0" algn="l">
              <a:spcBef>
                <a:spcPts val="0"/>
              </a:spcBef>
              <a:spcAft>
                <a:spcPts val="0"/>
              </a:spcAft>
              <a:buNone/>
            </a:pPr>
            <a:r>
              <a:t/>
            </a:r>
            <a:endParaRPr/>
          </a:p>
        </p:txBody>
      </p:sp>
      <p:sp>
        <p:nvSpPr>
          <p:cNvPr id="392" name="Google Shape;392;p36"/>
          <p:cNvSpPr/>
          <p:nvPr/>
        </p:nvSpPr>
        <p:spPr>
          <a:xfrm>
            <a:off x="1198573" y="2933604"/>
            <a:ext cx="1482600" cy="296700"/>
          </a:xfrm>
          <a:prstGeom prst="rect">
            <a:avLst/>
          </a:prstGeom>
          <a:noFill/>
          <a:ln>
            <a:noFill/>
          </a:ln>
        </p:spPr>
        <p:txBody>
          <a:bodyPr anchorCtr="0" anchor="ctr" bIns="37050" lIns="74125" spcFirstLastPara="1" rIns="74125" wrap="square" tIns="37050">
            <a:noAutofit/>
          </a:bodyPr>
          <a:lstStyle/>
          <a:p>
            <a:pPr indent="0" lvl="0" marL="0" marR="0" rtl="0" algn="l">
              <a:spcBef>
                <a:spcPts val="0"/>
              </a:spcBef>
              <a:spcAft>
                <a:spcPts val="0"/>
              </a:spcAft>
              <a:buClr>
                <a:srgbClr val="1E2761"/>
              </a:buClr>
              <a:buSzPts val="1135"/>
              <a:buFont typeface="Calibri"/>
              <a:buNone/>
            </a:pPr>
            <a:r>
              <a:rPr b="1" i="0" lang="en" sz="1335" u="none" cap="none" strike="noStrike">
                <a:solidFill>
                  <a:srgbClr val="1E2761"/>
                </a:solidFill>
                <a:latin typeface="Calibri"/>
                <a:ea typeface="Calibri"/>
                <a:cs typeface="Calibri"/>
                <a:sym typeface="Calibri"/>
              </a:rPr>
              <a:t>ROUGE-1</a:t>
            </a:r>
            <a:endParaRPr b="0" i="0" sz="1335" u="none" cap="none" strike="noStrike">
              <a:solidFill>
                <a:schemeClr val="dk1"/>
              </a:solidFill>
              <a:latin typeface="Calibri"/>
              <a:ea typeface="Calibri"/>
              <a:cs typeface="Calibri"/>
              <a:sym typeface="Calibri"/>
            </a:endParaRPr>
          </a:p>
        </p:txBody>
      </p:sp>
      <p:sp>
        <p:nvSpPr>
          <p:cNvPr id="393" name="Google Shape;393;p36"/>
          <p:cNvSpPr/>
          <p:nvPr/>
        </p:nvSpPr>
        <p:spPr>
          <a:xfrm>
            <a:off x="2903852" y="2896533"/>
            <a:ext cx="1334700" cy="370800"/>
          </a:xfrm>
          <a:prstGeom prst="rect">
            <a:avLst/>
          </a:prstGeom>
          <a:noFill/>
          <a:ln>
            <a:noFill/>
          </a:ln>
        </p:spPr>
        <p:txBody>
          <a:bodyPr anchorCtr="0" anchor="ctr" bIns="37050" lIns="74125" spcFirstLastPara="1" rIns="74125" wrap="square" tIns="37050">
            <a:noAutofit/>
          </a:bodyPr>
          <a:lstStyle/>
          <a:p>
            <a:pPr indent="0" lvl="0" marL="0" marR="0" rtl="0" algn="r">
              <a:spcBef>
                <a:spcPts val="0"/>
              </a:spcBef>
              <a:spcAft>
                <a:spcPts val="0"/>
              </a:spcAft>
              <a:buClr>
                <a:srgbClr val="667EEA"/>
              </a:buClr>
              <a:buSzPts val="2595"/>
              <a:buFont typeface="Calibri"/>
              <a:buNone/>
            </a:pPr>
            <a:r>
              <a:rPr b="1" i="0" lang="en" sz="2594" u="none" cap="none" strike="noStrike">
                <a:solidFill>
                  <a:srgbClr val="667EEA"/>
                </a:solidFill>
                <a:latin typeface="Calibri"/>
                <a:ea typeface="Calibri"/>
                <a:cs typeface="Calibri"/>
                <a:sym typeface="Calibri"/>
              </a:rPr>
              <a:t>0.306</a:t>
            </a:r>
            <a:endParaRPr b="0" i="0" sz="2594" u="none" cap="none" strike="noStrike">
              <a:solidFill>
                <a:schemeClr val="dk1"/>
              </a:solidFill>
              <a:latin typeface="Calibri"/>
              <a:ea typeface="Calibri"/>
              <a:cs typeface="Calibri"/>
              <a:sym typeface="Calibri"/>
            </a:endParaRPr>
          </a:p>
        </p:txBody>
      </p:sp>
      <p:sp>
        <p:nvSpPr>
          <p:cNvPr id="394" name="Google Shape;394;p36"/>
          <p:cNvSpPr/>
          <p:nvPr/>
        </p:nvSpPr>
        <p:spPr>
          <a:xfrm>
            <a:off x="1198573" y="3378459"/>
            <a:ext cx="3039900" cy="222600"/>
          </a:xfrm>
          <a:prstGeom prst="rect">
            <a:avLst/>
          </a:prstGeom>
          <a:noFill/>
          <a:ln>
            <a:noFill/>
          </a:ln>
        </p:spPr>
        <p:txBody>
          <a:bodyPr anchorCtr="0" anchor="ctr" bIns="37050" lIns="74125" spcFirstLastPara="1" rIns="74125" wrap="square" tIns="37050">
            <a:noAutofit/>
          </a:bodyPr>
          <a:lstStyle/>
          <a:p>
            <a:pPr indent="0" lvl="0" marL="0" marR="0" rtl="0" algn="l">
              <a:spcBef>
                <a:spcPts val="0"/>
              </a:spcBef>
              <a:spcAft>
                <a:spcPts val="0"/>
              </a:spcAft>
              <a:buClr>
                <a:srgbClr val="1E2761"/>
              </a:buClr>
              <a:buSzPts val="973"/>
              <a:buFont typeface="Calibri"/>
              <a:buNone/>
            </a:pPr>
            <a:r>
              <a:rPr b="1" i="0" lang="en" sz="1073" u="none" cap="none" strike="noStrike">
                <a:solidFill>
                  <a:srgbClr val="1E2761"/>
                </a:solidFill>
                <a:latin typeface="Calibri"/>
                <a:ea typeface="Calibri"/>
                <a:cs typeface="Calibri"/>
                <a:sym typeface="Calibri"/>
              </a:rPr>
              <a:t>Lexical Overlap</a:t>
            </a:r>
            <a:endParaRPr b="0" i="0" sz="1073" u="none" cap="none" strike="noStrike">
              <a:solidFill>
                <a:schemeClr val="dk1"/>
              </a:solidFill>
              <a:latin typeface="Calibri"/>
              <a:ea typeface="Calibri"/>
              <a:cs typeface="Calibri"/>
              <a:sym typeface="Calibri"/>
            </a:endParaRPr>
          </a:p>
        </p:txBody>
      </p:sp>
      <p:sp>
        <p:nvSpPr>
          <p:cNvPr id="395" name="Google Shape;395;p36"/>
          <p:cNvSpPr/>
          <p:nvPr/>
        </p:nvSpPr>
        <p:spPr>
          <a:xfrm>
            <a:off x="1198573" y="3675029"/>
            <a:ext cx="3039900" cy="444600"/>
          </a:xfrm>
          <a:prstGeom prst="rect">
            <a:avLst/>
          </a:prstGeom>
          <a:noFill/>
          <a:ln>
            <a:noFill/>
          </a:ln>
        </p:spPr>
        <p:txBody>
          <a:bodyPr anchorCtr="0" anchor="ctr" bIns="37050" lIns="74125" spcFirstLastPara="1" rIns="74125" wrap="square" tIns="37050">
            <a:noAutofit/>
          </a:bodyPr>
          <a:lstStyle/>
          <a:p>
            <a:pPr indent="0" lvl="0" marL="0" marR="0" rtl="0" algn="l">
              <a:spcBef>
                <a:spcPts val="0"/>
              </a:spcBef>
              <a:spcAft>
                <a:spcPts val="0"/>
              </a:spcAft>
              <a:buClr>
                <a:srgbClr val="555555"/>
              </a:buClr>
              <a:buSzPts val="892"/>
              <a:buFont typeface="Calibri"/>
              <a:buNone/>
            </a:pPr>
            <a:r>
              <a:rPr b="0" i="0" lang="en" sz="891" u="none" cap="none" strike="noStrike">
                <a:solidFill>
                  <a:srgbClr val="555555"/>
                </a:solidFill>
                <a:latin typeface="Calibri"/>
                <a:ea typeface="Calibri"/>
                <a:cs typeface="Calibri"/>
                <a:sym typeface="Calibri"/>
              </a:rPr>
              <a:t>Moderate - good for abstractive</a:t>
            </a:r>
            <a:endParaRPr b="0" i="0" sz="891" u="none" cap="none" strike="noStrike">
              <a:solidFill>
                <a:schemeClr val="dk1"/>
              </a:solidFill>
              <a:latin typeface="Calibri"/>
              <a:ea typeface="Calibri"/>
              <a:cs typeface="Calibri"/>
              <a:sym typeface="Calibri"/>
            </a:endParaRPr>
          </a:p>
        </p:txBody>
      </p:sp>
      <p:sp>
        <p:nvSpPr>
          <p:cNvPr id="396" name="Google Shape;396;p36"/>
          <p:cNvSpPr/>
          <p:nvPr/>
        </p:nvSpPr>
        <p:spPr>
          <a:xfrm>
            <a:off x="4757417" y="2785319"/>
            <a:ext cx="3336300" cy="1482600"/>
          </a:xfrm>
          <a:prstGeom prst="roundRect">
            <a:avLst>
              <a:gd fmla="val 16667" name="adj"/>
            </a:avLst>
          </a:prstGeom>
          <a:solidFill>
            <a:srgbClr val="F3E5F5"/>
          </a:solidFill>
          <a:ln cap="flat" cmpd="sng" w="20600">
            <a:solidFill>
              <a:srgbClr val="667EEA"/>
            </a:solidFill>
            <a:prstDash val="solid"/>
            <a:round/>
            <a:headEnd len="sm" w="sm" type="none"/>
            <a:tailEnd len="sm" w="sm" type="none"/>
          </a:ln>
        </p:spPr>
        <p:txBody>
          <a:bodyPr anchorCtr="0" anchor="ctr" bIns="74125" lIns="74125" spcFirstLastPara="1" rIns="74125" wrap="square" tIns="74125">
            <a:noAutofit/>
          </a:bodyPr>
          <a:lstStyle/>
          <a:p>
            <a:pPr indent="0" lvl="0" marL="0" rtl="0" algn="l">
              <a:spcBef>
                <a:spcPts val="0"/>
              </a:spcBef>
              <a:spcAft>
                <a:spcPts val="0"/>
              </a:spcAft>
              <a:buNone/>
            </a:pPr>
            <a:r>
              <a:t/>
            </a:r>
            <a:endParaRPr/>
          </a:p>
        </p:txBody>
      </p:sp>
      <p:sp>
        <p:nvSpPr>
          <p:cNvPr id="397" name="Google Shape;397;p36"/>
          <p:cNvSpPr/>
          <p:nvPr/>
        </p:nvSpPr>
        <p:spPr>
          <a:xfrm>
            <a:off x="4905703" y="2933604"/>
            <a:ext cx="1482600" cy="296700"/>
          </a:xfrm>
          <a:prstGeom prst="rect">
            <a:avLst/>
          </a:prstGeom>
          <a:noFill/>
          <a:ln>
            <a:noFill/>
          </a:ln>
        </p:spPr>
        <p:txBody>
          <a:bodyPr anchorCtr="0" anchor="ctr" bIns="37050" lIns="74125" spcFirstLastPara="1" rIns="74125" wrap="square" tIns="37050">
            <a:noAutofit/>
          </a:bodyPr>
          <a:lstStyle/>
          <a:p>
            <a:pPr indent="0" lvl="0" marL="0" marR="0" rtl="0" algn="l">
              <a:spcBef>
                <a:spcPts val="0"/>
              </a:spcBef>
              <a:spcAft>
                <a:spcPts val="0"/>
              </a:spcAft>
              <a:buClr>
                <a:srgbClr val="1E2761"/>
              </a:buClr>
              <a:buSzPts val="1135"/>
              <a:buFont typeface="Calibri"/>
              <a:buNone/>
            </a:pPr>
            <a:r>
              <a:rPr b="1" i="0" lang="en" sz="1335" u="none" cap="none" strike="noStrike">
                <a:solidFill>
                  <a:srgbClr val="1E2761"/>
                </a:solidFill>
                <a:latin typeface="Calibri"/>
                <a:ea typeface="Calibri"/>
                <a:cs typeface="Calibri"/>
                <a:sym typeface="Calibri"/>
              </a:rPr>
              <a:t>Compression</a:t>
            </a:r>
            <a:endParaRPr b="0" i="0" sz="1335" u="none" cap="none" strike="noStrike">
              <a:solidFill>
                <a:schemeClr val="dk1"/>
              </a:solidFill>
              <a:latin typeface="Calibri"/>
              <a:ea typeface="Calibri"/>
              <a:cs typeface="Calibri"/>
              <a:sym typeface="Calibri"/>
            </a:endParaRPr>
          </a:p>
        </p:txBody>
      </p:sp>
      <p:sp>
        <p:nvSpPr>
          <p:cNvPr id="398" name="Google Shape;398;p36"/>
          <p:cNvSpPr/>
          <p:nvPr/>
        </p:nvSpPr>
        <p:spPr>
          <a:xfrm>
            <a:off x="6610982" y="2896533"/>
            <a:ext cx="1334700" cy="370800"/>
          </a:xfrm>
          <a:prstGeom prst="rect">
            <a:avLst/>
          </a:prstGeom>
          <a:noFill/>
          <a:ln>
            <a:noFill/>
          </a:ln>
        </p:spPr>
        <p:txBody>
          <a:bodyPr anchorCtr="0" anchor="ctr" bIns="37050" lIns="74125" spcFirstLastPara="1" rIns="74125" wrap="square" tIns="37050">
            <a:noAutofit/>
          </a:bodyPr>
          <a:lstStyle/>
          <a:p>
            <a:pPr indent="0" lvl="0" marL="0" marR="0" rtl="0" algn="r">
              <a:spcBef>
                <a:spcPts val="0"/>
              </a:spcBef>
              <a:spcAft>
                <a:spcPts val="0"/>
              </a:spcAft>
              <a:buClr>
                <a:srgbClr val="667EEA"/>
              </a:buClr>
              <a:buSzPts val="2595"/>
              <a:buFont typeface="Calibri"/>
              <a:buNone/>
            </a:pPr>
            <a:r>
              <a:rPr b="1" i="0" lang="en" sz="2594" u="none" cap="none" strike="noStrike">
                <a:solidFill>
                  <a:srgbClr val="667EEA"/>
                </a:solidFill>
                <a:latin typeface="Calibri"/>
                <a:ea typeface="Calibri"/>
                <a:cs typeface="Calibri"/>
                <a:sym typeface="Calibri"/>
              </a:rPr>
              <a:t>0.291</a:t>
            </a:r>
            <a:endParaRPr b="0" i="0" sz="2594" u="none" cap="none" strike="noStrike">
              <a:solidFill>
                <a:schemeClr val="dk1"/>
              </a:solidFill>
              <a:latin typeface="Calibri"/>
              <a:ea typeface="Calibri"/>
              <a:cs typeface="Calibri"/>
              <a:sym typeface="Calibri"/>
            </a:endParaRPr>
          </a:p>
        </p:txBody>
      </p:sp>
      <p:sp>
        <p:nvSpPr>
          <p:cNvPr id="399" name="Google Shape;399;p36"/>
          <p:cNvSpPr/>
          <p:nvPr/>
        </p:nvSpPr>
        <p:spPr>
          <a:xfrm>
            <a:off x="4905703" y="3378459"/>
            <a:ext cx="3039900" cy="222600"/>
          </a:xfrm>
          <a:prstGeom prst="rect">
            <a:avLst/>
          </a:prstGeom>
          <a:noFill/>
          <a:ln>
            <a:noFill/>
          </a:ln>
        </p:spPr>
        <p:txBody>
          <a:bodyPr anchorCtr="0" anchor="ctr" bIns="37050" lIns="74125" spcFirstLastPara="1" rIns="74125" wrap="square" tIns="37050">
            <a:noAutofit/>
          </a:bodyPr>
          <a:lstStyle/>
          <a:p>
            <a:pPr indent="0" lvl="0" marL="0" marR="0" rtl="0" algn="l">
              <a:spcBef>
                <a:spcPts val="0"/>
              </a:spcBef>
              <a:spcAft>
                <a:spcPts val="0"/>
              </a:spcAft>
              <a:buClr>
                <a:srgbClr val="1E2761"/>
              </a:buClr>
              <a:buSzPts val="973"/>
              <a:buFont typeface="Calibri"/>
              <a:buNone/>
            </a:pPr>
            <a:r>
              <a:rPr b="1" i="0" lang="en" sz="1073" u="none" cap="none" strike="noStrike">
                <a:solidFill>
                  <a:srgbClr val="1E2761"/>
                </a:solidFill>
                <a:latin typeface="Calibri"/>
                <a:ea typeface="Calibri"/>
                <a:cs typeface="Calibri"/>
                <a:sym typeface="Calibri"/>
              </a:rPr>
              <a:t>Summary Ratio</a:t>
            </a:r>
            <a:endParaRPr b="0" i="0" sz="1073" u="none" cap="none" strike="noStrike">
              <a:solidFill>
                <a:schemeClr val="dk1"/>
              </a:solidFill>
              <a:latin typeface="Calibri"/>
              <a:ea typeface="Calibri"/>
              <a:cs typeface="Calibri"/>
              <a:sym typeface="Calibri"/>
            </a:endParaRPr>
          </a:p>
        </p:txBody>
      </p:sp>
      <p:sp>
        <p:nvSpPr>
          <p:cNvPr id="400" name="Google Shape;400;p36"/>
          <p:cNvSpPr/>
          <p:nvPr/>
        </p:nvSpPr>
        <p:spPr>
          <a:xfrm>
            <a:off x="4905703" y="3675029"/>
            <a:ext cx="3039900" cy="444600"/>
          </a:xfrm>
          <a:prstGeom prst="rect">
            <a:avLst/>
          </a:prstGeom>
          <a:noFill/>
          <a:ln>
            <a:noFill/>
          </a:ln>
        </p:spPr>
        <p:txBody>
          <a:bodyPr anchorCtr="0" anchor="ctr" bIns="37050" lIns="74125" spcFirstLastPara="1" rIns="74125" wrap="square" tIns="37050">
            <a:noAutofit/>
          </a:bodyPr>
          <a:lstStyle/>
          <a:p>
            <a:pPr indent="0" lvl="0" marL="0" marR="0" rtl="0" algn="l">
              <a:spcBef>
                <a:spcPts val="0"/>
              </a:spcBef>
              <a:spcAft>
                <a:spcPts val="0"/>
              </a:spcAft>
              <a:buClr>
                <a:srgbClr val="555555"/>
              </a:buClr>
              <a:buSzPts val="892"/>
              <a:buFont typeface="Calibri"/>
              <a:buNone/>
            </a:pPr>
            <a:r>
              <a:rPr b="0" i="0" lang="en" sz="891" u="none" cap="none" strike="noStrike">
                <a:solidFill>
                  <a:srgbClr val="555555"/>
                </a:solidFill>
                <a:latin typeface="Calibri"/>
                <a:ea typeface="Calibri"/>
                <a:cs typeface="Calibri"/>
                <a:sym typeface="Calibri"/>
              </a:rPr>
              <a:t>Effective condensation</a:t>
            </a:r>
            <a:endParaRPr b="0" i="0" sz="891" u="none" cap="none" strike="noStrike">
              <a:solidFill>
                <a:schemeClr val="dk1"/>
              </a:solidFill>
              <a:latin typeface="Calibri"/>
              <a:ea typeface="Calibri"/>
              <a:cs typeface="Calibri"/>
              <a:sym typeface="Calibri"/>
            </a:endParaRPr>
          </a:p>
        </p:txBody>
      </p:sp>
      <p:sp>
        <p:nvSpPr>
          <p:cNvPr id="401" name="Google Shape;401;p36"/>
          <p:cNvSpPr/>
          <p:nvPr/>
        </p:nvSpPr>
        <p:spPr>
          <a:xfrm>
            <a:off x="1272688" y="4267918"/>
            <a:ext cx="6672900" cy="222600"/>
          </a:xfrm>
          <a:prstGeom prst="rect">
            <a:avLst/>
          </a:prstGeom>
          <a:noFill/>
          <a:ln>
            <a:noFill/>
          </a:ln>
        </p:spPr>
        <p:txBody>
          <a:bodyPr anchorCtr="0" anchor="ctr" bIns="37050" lIns="74125" spcFirstLastPara="1" rIns="74125" wrap="square" tIns="37050">
            <a:noAutofit/>
          </a:bodyPr>
          <a:lstStyle/>
          <a:p>
            <a:pPr indent="0" lvl="0" marL="0" marR="0" rtl="0" algn="l">
              <a:spcBef>
                <a:spcPts val="0"/>
              </a:spcBef>
              <a:spcAft>
                <a:spcPts val="0"/>
              </a:spcAft>
              <a:buClr>
                <a:srgbClr val="667EEA"/>
              </a:buClr>
              <a:buSzPts val="1135"/>
              <a:buFont typeface="Calibri"/>
              <a:buNone/>
            </a:pPr>
            <a:r>
              <a:rPr b="1" i="0" lang="en" sz="1135" u="none" cap="none" strike="noStrike">
                <a:solidFill>
                  <a:srgbClr val="667EEA"/>
                </a:solidFill>
                <a:latin typeface="Calibri"/>
                <a:ea typeface="Calibri"/>
                <a:cs typeface="Calibri"/>
                <a:sym typeface="Calibri"/>
              </a:rPr>
              <a:t>Why Multiple Metrics?</a:t>
            </a:r>
            <a:endParaRPr b="0" i="0" sz="1135" u="none" cap="none" strike="noStrike">
              <a:solidFill>
                <a:schemeClr val="dk1"/>
              </a:solidFill>
              <a:latin typeface="Calibri"/>
              <a:ea typeface="Calibri"/>
              <a:cs typeface="Calibri"/>
              <a:sym typeface="Calibri"/>
            </a:endParaRPr>
          </a:p>
        </p:txBody>
      </p:sp>
      <p:sp>
        <p:nvSpPr>
          <p:cNvPr id="402" name="Google Shape;402;p36"/>
          <p:cNvSpPr/>
          <p:nvPr/>
        </p:nvSpPr>
        <p:spPr>
          <a:xfrm>
            <a:off x="1383898" y="4490988"/>
            <a:ext cx="6376200" cy="444600"/>
          </a:xfrm>
          <a:prstGeom prst="rect">
            <a:avLst/>
          </a:prstGeom>
          <a:noFill/>
          <a:ln>
            <a:noFill/>
          </a:ln>
        </p:spPr>
        <p:txBody>
          <a:bodyPr anchorCtr="0" anchor="ctr" bIns="37050" lIns="74125" spcFirstLastPara="1" rIns="74125" wrap="square" tIns="37050">
            <a:noAutofit/>
          </a:bodyPr>
          <a:lstStyle/>
          <a:p>
            <a:pPr indent="0" lvl="0" marL="0" marR="0" rtl="0" algn="l">
              <a:spcBef>
                <a:spcPts val="0"/>
              </a:spcBef>
              <a:spcAft>
                <a:spcPts val="0"/>
              </a:spcAft>
              <a:buClr>
                <a:srgbClr val="333333"/>
              </a:buClr>
              <a:buSzPts val="892"/>
              <a:buFont typeface="Calibri"/>
              <a:buNone/>
            </a:pPr>
            <a:r>
              <a:rPr b="0" i="0" lang="en" sz="891" u="none" cap="none" strike="noStrike">
                <a:solidFill>
                  <a:srgbClr val="333333"/>
                </a:solidFill>
                <a:latin typeface="Calibri"/>
                <a:ea typeface="Calibri"/>
                <a:cs typeface="Calibri"/>
                <a:sym typeface="Calibri"/>
              </a:rPr>
              <a:t>No single metric captures all quality dimensions. BERTScore measures semantic meaning, ROUGE measures lexical similarity, grounding detects hallucination, compression ensures conciseness.</a:t>
            </a:r>
            <a:endParaRPr b="0" i="0" sz="891" u="none" cap="none" strike="noStrike">
              <a:solidFill>
                <a:schemeClr val="dk1"/>
              </a:solidFill>
              <a:latin typeface="Calibri"/>
              <a:ea typeface="Calibri"/>
              <a:cs typeface="Calibri"/>
              <a:sym typeface="Calibri"/>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07" name="Shape 407"/>
        <p:cNvGrpSpPr/>
        <p:nvPr/>
      </p:nvGrpSpPr>
      <p:grpSpPr>
        <a:xfrm>
          <a:off x="0" y="0"/>
          <a:ext cx="0" cy="0"/>
          <a:chOff x="0" y="0"/>
          <a:chExt cx="0" cy="0"/>
        </a:xfrm>
      </p:grpSpPr>
      <p:sp>
        <p:nvSpPr>
          <p:cNvPr id="408" name="Google Shape;408;p37"/>
          <p:cNvSpPr/>
          <p:nvPr/>
        </p:nvSpPr>
        <p:spPr>
          <a:xfrm>
            <a:off x="457200" y="457200"/>
            <a:ext cx="8229600" cy="5486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E2761"/>
              </a:buClr>
              <a:buSzPts val="3600"/>
              <a:buFont typeface="Calibri"/>
              <a:buNone/>
            </a:pPr>
            <a:r>
              <a:rPr b="1" lang="en" sz="3600">
                <a:solidFill>
                  <a:srgbClr val="1E2761"/>
                </a:solidFill>
                <a:latin typeface="Calibri"/>
                <a:ea typeface="Calibri"/>
                <a:cs typeface="Calibri"/>
                <a:sym typeface="Calibri"/>
              </a:rPr>
              <a:t>Results &amp; Evaluation</a:t>
            </a:r>
            <a:endParaRPr sz="3600">
              <a:solidFill>
                <a:schemeClr val="dk1"/>
              </a:solidFill>
              <a:latin typeface="Calibri"/>
              <a:ea typeface="Calibri"/>
              <a:cs typeface="Calibri"/>
              <a:sym typeface="Calibri"/>
            </a:endParaRPr>
          </a:p>
        </p:txBody>
      </p:sp>
      <p:sp>
        <p:nvSpPr>
          <p:cNvPr id="409" name="Google Shape;409;p37"/>
          <p:cNvSpPr/>
          <p:nvPr/>
        </p:nvSpPr>
        <p:spPr>
          <a:xfrm>
            <a:off x="457200" y="1108710"/>
            <a:ext cx="2651760" cy="2926080"/>
          </a:xfrm>
          <a:prstGeom prst="roundRect">
            <a:avLst>
              <a:gd fmla="val 16667" name="adj"/>
            </a:avLst>
          </a:prstGeom>
          <a:solidFill>
            <a:srgbClr val="F8F9FA"/>
          </a:solidFill>
          <a:ln cap="flat" cmpd="sng" w="25400">
            <a:solidFill>
              <a:srgbClr val="667EE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0" name="Google Shape;410;p37"/>
          <p:cNvSpPr/>
          <p:nvPr/>
        </p:nvSpPr>
        <p:spPr>
          <a:xfrm>
            <a:off x="457200" y="1554480"/>
            <a:ext cx="2651760" cy="36576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000000"/>
              </a:buClr>
              <a:buSzPts val="3200"/>
              <a:buFont typeface="Calibri"/>
              <a:buNone/>
            </a:pPr>
            <a:r>
              <a:rPr lang="en" sz="3200">
                <a:solidFill>
                  <a:srgbClr val="000000"/>
                </a:solidFill>
                <a:latin typeface="Calibri"/>
                <a:ea typeface="Calibri"/>
                <a:cs typeface="Calibri"/>
                <a:sym typeface="Calibri"/>
              </a:rPr>
              <a:t>📊</a:t>
            </a:r>
            <a:endParaRPr sz="3200">
              <a:solidFill>
                <a:schemeClr val="dk1"/>
              </a:solidFill>
              <a:latin typeface="Calibri"/>
              <a:ea typeface="Calibri"/>
              <a:cs typeface="Calibri"/>
              <a:sym typeface="Calibri"/>
            </a:endParaRPr>
          </a:p>
        </p:txBody>
      </p:sp>
      <p:sp>
        <p:nvSpPr>
          <p:cNvPr id="411" name="Google Shape;411;p37"/>
          <p:cNvSpPr/>
          <p:nvPr/>
        </p:nvSpPr>
        <p:spPr>
          <a:xfrm>
            <a:off x="640080" y="2011680"/>
            <a:ext cx="2286000" cy="36576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1E2761"/>
              </a:buClr>
              <a:buSzPts val="1500"/>
              <a:buFont typeface="Calibri"/>
              <a:buNone/>
            </a:pPr>
            <a:r>
              <a:rPr b="1" lang="en" sz="1500">
                <a:solidFill>
                  <a:srgbClr val="1E2761"/>
                </a:solidFill>
                <a:latin typeface="Calibri"/>
                <a:ea typeface="Calibri"/>
                <a:cs typeface="Calibri"/>
                <a:sym typeface="Calibri"/>
              </a:rPr>
              <a:t>Sentiment Analysis</a:t>
            </a:r>
            <a:endParaRPr sz="1500">
              <a:solidFill>
                <a:schemeClr val="dk1"/>
              </a:solidFill>
              <a:latin typeface="Calibri"/>
              <a:ea typeface="Calibri"/>
              <a:cs typeface="Calibri"/>
              <a:sym typeface="Calibri"/>
            </a:endParaRPr>
          </a:p>
        </p:txBody>
      </p:sp>
      <p:sp>
        <p:nvSpPr>
          <p:cNvPr id="412" name="Google Shape;412;p37"/>
          <p:cNvSpPr/>
          <p:nvPr/>
        </p:nvSpPr>
        <p:spPr>
          <a:xfrm>
            <a:off x="731520" y="2560320"/>
            <a:ext cx="914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E2761"/>
              </a:buClr>
              <a:buSzPts val="1100"/>
              <a:buFont typeface="Calibri"/>
              <a:buNone/>
            </a:pPr>
            <a:r>
              <a:rPr lang="en" sz="1100">
                <a:solidFill>
                  <a:srgbClr val="1E2761"/>
                </a:solidFill>
                <a:latin typeface="Calibri"/>
                <a:ea typeface="Calibri"/>
                <a:cs typeface="Calibri"/>
                <a:sym typeface="Calibri"/>
              </a:rPr>
              <a:t>Best Model:</a:t>
            </a:r>
            <a:endParaRPr sz="1100">
              <a:solidFill>
                <a:schemeClr val="dk1"/>
              </a:solidFill>
              <a:latin typeface="Calibri"/>
              <a:ea typeface="Calibri"/>
              <a:cs typeface="Calibri"/>
              <a:sym typeface="Calibri"/>
            </a:endParaRPr>
          </a:p>
        </p:txBody>
      </p:sp>
      <p:sp>
        <p:nvSpPr>
          <p:cNvPr id="413" name="Google Shape;413;p37"/>
          <p:cNvSpPr/>
          <p:nvPr/>
        </p:nvSpPr>
        <p:spPr>
          <a:xfrm>
            <a:off x="1737360" y="2560320"/>
            <a:ext cx="109728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667EEA"/>
              </a:buClr>
              <a:buSzPts val="1100"/>
              <a:buFont typeface="Calibri"/>
              <a:buNone/>
            </a:pPr>
            <a:r>
              <a:rPr b="1" lang="en" sz="1100">
                <a:solidFill>
                  <a:srgbClr val="667EEA"/>
                </a:solidFill>
                <a:latin typeface="Calibri"/>
                <a:ea typeface="Calibri"/>
                <a:cs typeface="Calibri"/>
                <a:sym typeface="Calibri"/>
              </a:rPr>
              <a:t>RoBERTa Fine-Tuned</a:t>
            </a:r>
            <a:endParaRPr sz="1100">
              <a:solidFill>
                <a:schemeClr val="dk1"/>
              </a:solidFill>
              <a:latin typeface="Calibri"/>
              <a:ea typeface="Calibri"/>
              <a:cs typeface="Calibri"/>
              <a:sym typeface="Calibri"/>
            </a:endParaRPr>
          </a:p>
        </p:txBody>
      </p:sp>
      <p:sp>
        <p:nvSpPr>
          <p:cNvPr id="414" name="Google Shape;414;p37"/>
          <p:cNvSpPr/>
          <p:nvPr/>
        </p:nvSpPr>
        <p:spPr>
          <a:xfrm>
            <a:off x="731520" y="2971800"/>
            <a:ext cx="914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E2761"/>
              </a:buClr>
              <a:buSzPts val="1100"/>
              <a:buFont typeface="Calibri"/>
              <a:buNone/>
            </a:pPr>
            <a:r>
              <a:rPr lang="en" sz="1100">
                <a:solidFill>
                  <a:srgbClr val="1E2761"/>
                </a:solidFill>
                <a:latin typeface="Calibri"/>
                <a:ea typeface="Calibri"/>
                <a:cs typeface="Calibri"/>
                <a:sym typeface="Calibri"/>
              </a:rPr>
              <a:t>Accuracy:</a:t>
            </a:r>
            <a:endParaRPr sz="1100">
              <a:solidFill>
                <a:schemeClr val="dk1"/>
              </a:solidFill>
              <a:latin typeface="Calibri"/>
              <a:ea typeface="Calibri"/>
              <a:cs typeface="Calibri"/>
              <a:sym typeface="Calibri"/>
            </a:endParaRPr>
          </a:p>
        </p:txBody>
      </p:sp>
      <p:sp>
        <p:nvSpPr>
          <p:cNvPr id="415" name="Google Shape;415;p37"/>
          <p:cNvSpPr/>
          <p:nvPr/>
        </p:nvSpPr>
        <p:spPr>
          <a:xfrm>
            <a:off x="1737360" y="2971800"/>
            <a:ext cx="109728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667EEA"/>
              </a:buClr>
              <a:buSzPts val="1100"/>
              <a:buFont typeface="Calibri"/>
              <a:buNone/>
            </a:pPr>
            <a:r>
              <a:rPr b="1" lang="en" sz="1100">
                <a:solidFill>
                  <a:srgbClr val="667EEA"/>
                </a:solidFill>
                <a:latin typeface="Calibri"/>
                <a:ea typeface="Calibri"/>
                <a:cs typeface="Calibri"/>
                <a:sym typeface="Calibri"/>
              </a:rPr>
              <a:t>73.5%</a:t>
            </a:r>
            <a:endParaRPr sz="1100">
              <a:solidFill>
                <a:schemeClr val="dk1"/>
              </a:solidFill>
              <a:latin typeface="Calibri"/>
              <a:ea typeface="Calibri"/>
              <a:cs typeface="Calibri"/>
              <a:sym typeface="Calibri"/>
            </a:endParaRPr>
          </a:p>
        </p:txBody>
      </p:sp>
      <p:sp>
        <p:nvSpPr>
          <p:cNvPr id="416" name="Google Shape;416;p37"/>
          <p:cNvSpPr/>
          <p:nvPr/>
        </p:nvSpPr>
        <p:spPr>
          <a:xfrm>
            <a:off x="731520" y="3383280"/>
            <a:ext cx="914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E2761"/>
              </a:buClr>
              <a:buSzPts val="1100"/>
              <a:buFont typeface="Calibri"/>
              <a:buNone/>
            </a:pPr>
            <a:r>
              <a:rPr lang="en" sz="1100">
                <a:solidFill>
                  <a:srgbClr val="1E2761"/>
                </a:solidFill>
                <a:latin typeface="Calibri"/>
                <a:ea typeface="Calibri"/>
                <a:cs typeface="Calibri"/>
                <a:sym typeface="Calibri"/>
              </a:rPr>
              <a:t>F1 Macro:</a:t>
            </a:r>
            <a:endParaRPr sz="1100">
              <a:solidFill>
                <a:schemeClr val="dk1"/>
              </a:solidFill>
              <a:latin typeface="Calibri"/>
              <a:ea typeface="Calibri"/>
              <a:cs typeface="Calibri"/>
              <a:sym typeface="Calibri"/>
            </a:endParaRPr>
          </a:p>
        </p:txBody>
      </p:sp>
      <p:sp>
        <p:nvSpPr>
          <p:cNvPr id="417" name="Google Shape;417;p37"/>
          <p:cNvSpPr/>
          <p:nvPr/>
        </p:nvSpPr>
        <p:spPr>
          <a:xfrm>
            <a:off x="1737360" y="3383280"/>
            <a:ext cx="109728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667EEA"/>
              </a:buClr>
              <a:buSzPts val="1100"/>
              <a:buFont typeface="Calibri"/>
              <a:buNone/>
            </a:pPr>
            <a:r>
              <a:rPr b="1" lang="en" sz="1100">
                <a:solidFill>
                  <a:srgbClr val="667EEA"/>
                </a:solidFill>
                <a:latin typeface="Calibri"/>
                <a:ea typeface="Calibri"/>
                <a:cs typeface="Calibri"/>
                <a:sym typeface="Calibri"/>
              </a:rPr>
              <a:t>0.724</a:t>
            </a:r>
            <a:endParaRPr sz="1100">
              <a:solidFill>
                <a:schemeClr val="dk1"/>
              </a:solidFill>
              <a:latin typeface="Calibri"/>
              <a:ea typeface="Calibri"/>
              <a:cs typeface="Calibri"/>
              <a:sym typeface="Calibri"/>
            </a:endParaRPr>
          </a:p>
        </p:txBody>
      </p:sp>
      <p:sp>
        <p:nvSpPr>
          <p:cNvPr id="418" name="Google Shape;418;p37"/>
          <p:cNvSpPr/>
          <p:nvPr/>
        </p:nvSpPr>
        <p:spPr>
          <a:xfrm>
            <a:off x="594360" y="3749040"/>
            <a:ext cx="2377440" cy="457200"/>
          </a:xfrm>
          <a:prstGeom prst="roundRect">
            <a:avLst>
              <a:gd fmla="val 20771" name="adj"/>
            </a:avLst>
          </a:prstGeom>
          <a:solidFill>
            <a:srgbClr val="CADCF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9" name="Google Shape;419;p37"/>
          <p:cNvSpPr/>
          <p:nvPr/>
        </p:nvSpPr>
        <p:spPr>
          <a:xfrm>
            <a:off x="685800" y="3794760"/>
            <a:ext cx="2194560" cy="3657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E2761"/>
              </a:buClr>
              <a:buSzPts val="900"/>
              <a:buFont typeface="Calibri"/>
              <a:buNone/>
            </a:pPr>
            <a:r>
              <a:rPr i="1" lang="en" sz="900">
                <a:solidFill>
                  <a:srgbClr val="1E2761"/>
                </a:solidFill>
                <a:latin typeface="Calibri"/>
                <a:ea typeface="Calibri"/>
                <a:cs typeface="Calibri"/>
                <a:sym typeface="Calibri"/>
              </a:rPr>
              <a:t>Fine-tuning improved neutral class F1 from 0.29 → 0.57</a:t>
            </a:r>
            <a:endParaRPr sz="900">
              <a:solidFill>
                <a:schemeClr val="dk1"/>
              </a:solidFill>
              <a:latin typeface="Calibri"/>
              <a:ea typeface="Calibri"/>
              <a:cs typeface="Calibri"/>
              <a:sym typeface="Calibri"/>
            </a:endParaRPr>
          </a:p>
        </p:txBody>
      </p:sp>
      <p:sp>
        <p:nvSpPr>
          <p:cNvPr id="420" name="Google Shape;420;p37"/>
          <p:cNvSpPr/>
          <p:nvPr/>
        </p:nvSpPr>
        <p:spPr>
          <a:xfrm>
            <a:off x="3383280" y="1108710"/>
            <a:ext cx="2651760" cy="2926080"/>
          </a:xfrm>
          <a:prstGeom prst="roundRect">
            <a:avLst>
              <a:gd fmla="val 16667" name="adj"/>
            </a:avLst>
          </a:prstGeom>
          <a:solidFill>
            <a:srgbClr val="F8F9FA"/>
          </a:solidFill>
          <a:ln cap="flat" cmpd="sng" w="25400">
            <a:solidFill>
              <a:srgbClr val="667EE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1" name="Google Shape;421;p37"/>
          <p:cNvSpPr/>
          <p:nvPr/>
        </p:nvSpPr>
        <p:spPr>
          <a:xfrm>
            <a:off x="3383280" y="1554480"/>
            <a:ext cx="2651760" cy="36576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000000"/>
              </a:buClr>
              <a:buSzPts val="3200"/>
              <a:buFont typeface="Calibri"/>
              <a:buNone/>
            </a:pPr>
            <a:r>
              <a:rPr lang="en" sz="3200">
                <a:solidFill>
                  <a:srgbClr val="000000"/>
                </a:solidFill>
                <a:latin typeface="Calibri"/>
                <a:ea typeface="Calibri"/>
                <a:cs typeface="Calibri"/>
                <a:sym typeface="Calibri"/>
              </a:rPr>
              <a:t>🎯</a:t>
            </a:r>
            <a:endParaRPr sz="3200">
              <a:solidFill>
                <a:schemeClr val="dk1"/>
              </a:solidFill>
              <a:latin typeface="Calibri"/>
              <a:ea typeface="Calibri"/>
              <a:cs typeface="Calibri"/>
              <a:sym typeface="Calibri"/>
            </a:endParaRPr>
          </a:p>
        </p:txBody>
      </p:sp>
      <p:sp>
        <p:nvSpPr>
          <p:cNvPr id="422" name="Google Shape;422;p37"/>
          <p:cNvSpPr/>
          <p:nvPr/>
        </p:nvSpPr>
        <p:spPr>
          <a:xfrm>
            <a:off x="3566160" y="2011680"/>
            <a:ext cx="2286000" cy="36576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1E2761"/>
              </a:buClr>
              <a:buSzPts val="1500"/>
              <a:buFont typeface="Calibri"/>
              <a:buNone/>
            </a:pPr>
            <a:r>
              <a:rPr b="1" lang="en" sz="1500">
                <a:solidFill>
                  <a:srgbClr val="1E2761"/>
                </a:solidFill>
                <a:latin typeface="Calibri"/>
                <a:ea typeface="Calibri"/>
                <a:cs typeface="Calibri"/>
                <a:sym typeface="Calibri"/>
              </a:rPr>
              <a:t>Product Clustering</a:t>
            </a:r>
            <a:endParaRPr sz="1500">
              <a:solidFill>
                <a:schemeClr val="dk1"/>
              </a:solidFill>
              <a:latin typeface="Calibri"/>
              <a:ea typeface="Calibri"/>
              <a:cs typeface="Calibri"/>
              <a:sym typeface="Calibri"/>
            </a:endParaRPr>
          </a:p>
        </p:txBody>
      </p:sp>
      <p:sp>
        <p:nvSpPr>
          <p:cNvPr id="423" name="Google Shape;423;p37"/>
          <p:cNvSpPr/>
          <p:nvPr/>
        </p:nvSpPr>
        <p:spPr>
          <a:xfrm>
            <a:off x="3657600" y="2560320"/>
            <a:ext cx="914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E2761"/>
              </a:buClr>
              <a:buSzPts val="1100"/>
              <a:buFont typeface="Calibri"/>
              <a:buNone/>
            </a:pPr>
            <a:r>
              <a:rPr lang="en" sz="1100">
                <a:solidFill>
                  <a:srgbClr val="1E2761"/>
                </a:solidFill>
                <a:latin typeface="Calibri"/>
                <a:ea typeface="Calibri"/>
                <a:cs typeface="Calibri"/>
                <a:sym typeface="Calibri"/>
              </a:rPr>
              <a:t>Algorithm:</a:t>
            </a:r>
            <a:endParaRPr sz="1100">
              <a:solidFill>
                <a:schemeClr val="dk1"/>
              </a:solidFill>
              <a:latin typeface="Calibri"/>
              <a:ea typeface="Calibri"/>
              <a:cs typeface="Calibri"/>
              <a:sym typeface="Calibri"/>
            </a:endParaRPr>
          </a:p>
        </p:txBody>
      </p:sp>
      <p:sp>
        <p:nvSpPr>
          <p:cNvPr id="424" name="Google Shape;424;p37"/>
          <p:cNvSpPr/>
          <p:nvPr/>
        </p:nvSpPr>
        <p:spPr>
          <a:xfrm>
            <a:off x="4663440" y="2560320"/>
            <a:ext cx="109728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667EEA"/>
              </a:buClr>
              <a:buSzPts val="1100"/>
              <a:buFont typeface="Calibri"/>
              <a:buNone/>
            </a:pPr>
            <a:r>
              <a:rPr b="1" lang="en" sz="1100">
                <a:solidFill>
                  <a:srgbClr val="667EEA"/>
                </a:solidFill>
                <a:latin typeface="Calibri"/>
                <a:ea typeface="Calibri"/>
                <a:cs typeface="Calibri"/>
                <a:sym typeface="Calibri"/>
              </a:rPr>
              <a:t>K-Means (k=5)</a:t>
            </a:r>
            <a:endParaRPr sz="1100">
              <a:solidFill>
                <a:schemeClr val="dk1"/>
              </a:solidFill>
              <a:latin typeface="Calibri"/>
              <a:ea typeface="Calibri"/>
              <a:cs typeface="Calibri"/>
              <a:sym typeface="Calibri"/>
            </a:endParaRPr>
          </a:p>
        </p:txBody>
      </p:sp>
      <p:sp>
        <p:nvSpPr>
          <p:cNvPr id="425" name="Google Shape;425;p37"/>
          <p:cNvSpPr/>
          <p:nvPr/>
        </p:nvSpPr>
        <p:spPr>
          <a:xfrm>
            <a:off x="3657600" y="2971800"/>
            <a:ext cx="914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E2761"/>
              </a:buClr>
              <a:buSzPts val="1100"/>
              <a:buFont typeface="Calibri"/>
              <a:buNone/>
            </a:pPr>
            <a:r>
              <a:rPr lang="en" sz="1100">
                <a:solidFill>
                  <a:srgbClr val="1E2761"/>
                </a:solidFill>
                <a:latin typeface="Calibri"/>
                <a:ea typeface="Calibri"/>
                <a:cs typeface="Calibri"/>
                <a:sym typeface="Calibri"/>
              </a:rPr>
              <a:t>ARI:</a:t>
            </a:r>
            <a:endParaRPr sz="1100">
              <a:solidFill>
                <a:schemeClr val="dk1"/>
              </a:solidFill>
              <a:latin typeface="Calibri"/>
              <a:ea typeface="Calibri"/>
              <a:cs typeface="Calibri"/>
              <a:sym typeface="Calibri"/>
            </a:endParaRPr>
          </a:p>
        </p:txBody>
      </p:sp>
      <p:sp>
        <p:nvSpPr>
          <p:cNvPr id="426" name="Google Shape;426;p37"/>
          <p:cNvSpPr/>
          <p:nvPr/>
        </p:nvSpPr>
        <p:spPr>
          <a:xfrm>
            <a:off x="4663440" y="2971800"/>
            <a:ext cx="109728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667EEA"/>
              </a:buClr>
              <a:buSzPts val="1100"/>
              <a:buFont typeface="Calibri"/>
              <a:buNone/>
            </a:pPr>
            <a:r>
              <a:rPr b="1" lang="en" sz="1100">
                <a:solidFill>
                  <a:srgbClr val="667EEA"/>
                </a:solidFill>
                <a:latin typeface="Calibri"/>
                <a:ea typeface="Calibri"/>
                <a:cs typeface="Calibri"/>
                <a:sym typeface="Calibri"/>
              </a:rPr>
              <a:t>0.42</a:t>
            </a:r>
            <a:endParaRPr sz="1100">
              <a:solidFill>
                <a:schemeClr val="dk1"/>
              </a:solidFill>
              <a:latin typeface="Calibri"/>
              <a:ea typeface="Calibri"/>
              <a:cs typeface="Calibri"/>
              <a:sym typeface="Calibri"/>
            </a:endParaRPr>
          </a:p>
        </p:txBody>
      </p:sp>
      <p:sp>
        <p:nvSpPr>
          <p:cNvPr id="427" name="Google Shape;427;p37"/>
          <p:cNvSpPr/>
          <p:nvPr/>
        </p:nvSpPr>
        <p:spPr>
          <a:xfrm>
            <a:off x="3657600" y="3383280"/>
            <a:ext cx="914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E2761"/>
              </a:buClr>
              <a:buSzPts val="1100"/>
              <a:buFont typeface="Calibri"/>
              <a:buNone/>
            </a:pPr>
            <a:r>
              <a:rPr lang="en" sz="1100">
                <a:solidFill>
                  <a:srgbClr val="1E2761"/>
                </a:solidFill>
                <a:latin typeface="Calibri"/>
                <a:ea typeface="Calibri"/>
                <a:cs typeface="Calibri"/>
                <a:sym typeface="Calibri"/>
              </a:rPr>
              <a:t>Embeddings:</a:t>
            </a:r>
            <a:endParaRPr sz="1100">
              <a:solidFill>
                <a:schemeClr val="dk1"/>
              </a:solidFill>
              <a:latin typeface="Calibri"/>
              <a:ea typeface="Calibri"/>
              <a:cs typeface="Calibri"/>
              <a:sym typeface="Calibri"/>
            </a:endParaRPr>
          </a:p>
        </p:txBody>
      </p:sp>
      <p:sp>
        <p:nvSpPr>
          <p:cNvPr id="428" name="Google Shape;428;p37"/>
          <p:cNvSpPr/>
          <p:nvPr/>
        </p:nvSpPr>
        <p:spPr>
          <a:xfrm>
            <a:off x="4663440" y="3383280"/>
            <a:ext cx="109728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667EEA"/>
              </a:buClr>
              <a:buSzPts val="1100"/>
              <a:buFont typeface="Calibri"/>
              <a:buNone/>
            </a:pPr>
            <a:r>
              <a:rPr b="1" lang="en" sz="1100">
                <a:solidFill>
                  <a:srgbClr val="667EEA"/>
                </a:solidFill>
                <a:latin typeface="Calibri"/>
                <a:ea typeface="Calibri"/>
                <a:cs typeface="Calibri"/>
                <a:sym typeface="Calibri"/>
              </a:rPr>
              <a:t>384-dim</a:t>
            </a:r>
            <a:endParaRPr sz="1100">
              <a:solidFill>
                <a:schemeClr val="dk1"/>
              </a:solidFill>
              <a:latin typeface="Calibri"/>
              <a:ea typeface="Calibri"/>
              <a:cs typeface="Calibri"/>
              <a:sym typeface="Calibri"/>
            </a:endParaRPr>
          </a:p>
        </p:txBody>
      </p:sp>
      <p:sp>
        <p:nvSpPr>
          <p:cNvPr id="429" name="Google Shape;429;p37"/>
          <p:cNvSpPr/>
          <p:nvPr/>
        </p:nvSpPr>
        <p:spPr>
          <a:xfrm>
            <a:off x="3520440" y="3749040"/>
            <a:ext cx="2377440" cy="457200"/>
          </a:xfrm>
          <a:prstGeom prst="roundRect">
            <a:avLst>
              <a:gd fmla="val 25789" name="adj"/>
            </a:avLst>
          </a:prstGeom>
          <a:solidFill>
            <a:srgbClr val="CADCF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0" name="Google Shape;430;p37"/>
          <p:cNvSpPr/>
          <p:nvPr/>
        </p:nvSpPr>
        <p:spPr>
          <a:xfrm>
            <a:off x="3611880" y="3794760"/>
            <a:ext cx="2194560" cy="3657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E2761"/>
              </a:buClr>
              <a:buSzPts val="900"/>
              <a:buFont typeface="Calibri"/>
              <a:buNone/>
            </a:pPr>
            <a:r>
              <a:rPr i="1" lang="en" sz="900">
                <a:solidFill>
                  <a:srgbClr val="1E2761"/>
                </a:solidFill>
                <a:latin typeface="Calibri"/>
                <a:ea typeface="Calibri"/>
                <a:cs typeface="Calibri"/>
                <a:sym typeface="Calibri"/>
              </a:rPr>
              <a:t>Semantic embeddings captured product similarities well</a:t>
            </a:r>
            <a:endParaRPr sz="900">
              <a:solidFill>
                <a:schemeClr val="dk1"/>
              </a:solidFill>
              <a:latin typeface="Calibri"/>
              <a:ea typeface="Calibri"/>
              <a:cs typeface="Calibri"/>
              <a:sym typeface="Calibri"/>
            </a:endParaRPr>
          </a:p>
        </p:txBody>
      </p:sp>
      <p:sp>
        <p:nvSpPr>
          <p:cNvPr id="431" name="Google Shape;431;p37"/>
          <p:cNvSpPr/>
          <p:nvPr/>
        </p:nvSpPr>
        <p:spPr>
          <a:xfrm>
            <a:off x="6309360" y="1108710"/>
            <a:ext cx="2651760" cy="2926080"/>
          </a:xfrm>
          <a:prstGeom prst="roundRect">
            <a:avLst>
              <a:gd fmla="val 16667" name="adj"/>
            </a:avLst>
          </a:prstGeom>
          <a:solidFill>
            <a:srgbClr val="F8F9FA"/>
          </a:solidFill>
          <a:ln cap="flat" cmpd="sng" w="25400">
            <a:solidFill>
              <a:srgbClr val="667EE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2" name="Google Shape;432;p37"/>
          <p:cNvSpPr/>
          <p:nvPr/>
        </p:nvSpPr>
        <p:spPr>
          <a:xfrm>
            <a:off x="6309360" y="1554480"/>
            <a:ext cx="2651760" cy="36576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000000"/>
              </a:buClr>
              <a:buSzPts val="3200"/>
              <a:buFont typeface="Calibri"/>
              <a:buNone/>
            </a:pPr>
            <a:r>
              <a:rPr lang="en" sz="3200">
                <a:solidFill>
                  <a:srgbClr val="000000"/>
                </a:solidFill>
                <a:latin typeface="Calibri"/>
                <a:ea typeface="Calibri"/>
                <a:cs typeface="Calibri"/>
                <a:sym typeface="Calibri"/>
              </a:rPr>
              <a:t>✍️</a:t>
            </a:r>
            <a:endParaRPr sz="3200">
              <a:solidFill>
                <a:schemeClr val="dk1"/>
              </a:solidFill>
              <a:latin typeface="Calibri"/>
              <a:ea typeface="Calibri"/>
              <a:cs typeface="Calibri"/>
              <a:sym typeface="Calibri"/>
            </a:endParaRPr>
          </a:p>
        </p:txBody>
      </p:sp>
      <p:sp>
        <p:nvSpPr>
          <p:cNvPr id="433" name="Google Shape;433;p37"/>
          <p:cNvSpPr/>
          <p:nvPr/>
        </p:nvSpPr>
        <p:spPr>
          <a:xfrm>
            <a:off x="6492240" y="2011680"/>
            <a:ext cx="2286000" cy="36576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1E2761"/>
              </a:buClr>
              <a:buSzPts val="1500"/>
              <a:buFont typeface="Calibri"/>
              <a:buNone/>
            </a:pPr>
            <a:r>
              <a:rPr b="1" lang="en" sz="1500">
                <a:solidFill>
                  <a:srgbClr val="1E2761"/>
                </a:solidFill>
                <a:latin typeface="Calibri"/>
                <a:ea typeface="Calibri"/>
                <a:cs typeface="Calibri"/>
                <a:sym typeface="Calibri"/>
              </a:rPr>
              <a:t>Text Generation</a:t>
            </a:r>
            <a:endParaRPr sz="1500">
              <a:solidFill>
                <a:schemeClr val="dk1"/>
              </a:solidFill>
              <a:latin typeface="Calibri"/>
              <a:ea typeface="Calibri"/>
              <a:cs typeface="Calibri"/>
              <a:sym typeface="Calibri"/>
            </a:endParaRPr>
          </a:p>
        </p:txBody>
      </p:sp>
      <p:sp>
        <p:nvSpPr>
          <p:cNvPr id="434" name="Google Shape;434;p37"/>
          <p:cNvSpPr/>
          <p:nvPr/>
        </p:nvSpPr>
        <p:spPr>
          <a:xfrm>
            <a:off x="6583680" y="2560320"/>
            <a:ext cx="914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E2761"/>
              </a:buClr>
              <a:buSzPts val="1100"/>
              <a:buFont typeface="Calibri"/>
              <a:buNone/>
            </a:pPr>
            <a:r>
              <a:rPr lang="en" sz="1100">
                <a:solidFill>
                  <a:srgbClr val="1E2761"/>
                </a:solidFill>
                <a:latin typeface="Calibri"/>
                <a:ea typeface="Calibri"/>
                <a:cs typeface="Calibri"/>
                <a:sym typeface="Calibri"/>
              </a:rPr>
              <a:t>Model:</a:t>
            </a:r>
            <a:endParaRPr sz="1100">
              <a:solidFill>
                <a:schemeClr val="dk1"/>
              </a:solidFill>
              <a:latin typeface="Calibri"/>
              <a:ea typeface="Calibri"/>
              <a:cs typeface="Calibri"/>
              <a:sym typeface="Calibri"/>
            </a:endParaRPr>
          </a:p>
        </p:txBody>
      </p:sp>
      <p:sp>
        <p:nvSpPr>
          <p:cNvPr id="435" name="Google Shape;435;p37"/>
          <p:cNvSpPr/>
          <p:nvPr/>
        </p:nvSpPr>
        <p:spPr>
          <a:xfrm>
            <a:off x="7589520" y="2560320"/>
            <a:ext cx="109728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667EEA"/>
              </a:buClr>
              <a:buSzPts val="1100"/>
              <a:buFont typeface="Calibri"/>
              <a:buNone/>
            </a:pPr>
            <a:r>
              <a:rPr b="1" lang="en" sz="1100">
                <a:solidFill>
                  <a:srgbClr val="667EEA"/>
                </a:solidFill>
                <a:latin typeface="Calibri"/>
                <a:ea typeface="Calibri"/>
                <a:cs typeface="Calibri"/>
                <a:sym typeface="Calibri"/>
              </a:rPr>
              <a:t>LLaMA 3.2-3B</a:t>
            </a:r>
            <a:endParaRPr sz="1100">
              <a:solidFill>
                <a:schemeClr val="dk1"/>
              </a:solidFill>
              <a:latin typeface="Calibri"/>
              <a:ea typeface="Calibri"/>
              <a:cs typeface="Calibri"/>
              <a:sym typeface="Calibri"/>
            </a:endParaRPr>
          </a:p>
        </p:txBody>
      </p:sp>
      <p:sp>
        <p:nvSpPr>
          <p:cNvPr id="436" name="Google Shape;436;p37"/>
          <p:cNvSpPr/>
          <p:nvPr/>
        </p:nvSpPr>
        <p:spPr>
          <a:xfrm>
            <a:off x="6583680" y="2971800"/>
            <a:ext cx="914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E2761"/>
              </a:buClr>
              <a:buSzPts val="1100"/>
              <a:buFont typeface="Calibri"/>
              <a:buNone/>
            </a:pPr>
            <a:r>
              <a:rPr lang="en" sz="1100">
                <a:solidFill>
                  <a:srgbClr val="1E2761"/>
                </a:solidFill>
                <a:latin typeface="Calibri"/>
                <a:ea typeface="Calibri"/>
                <a:cs typeface="Calibri"/>
                <a:sym typeface="Calibri"/>
              </a:rPr>
              <a:t>BERTScore:</a:t>
            </a:r>
            <a:endParaRPr sz="1100">
              <a:solidFill>
                <a:schemeClr val="dk1"/>
              </a:solidFill>
              <a:latin typeface="Calibri"/>
              <a:ea typeface="Calibri"/>
              <a:cs typeface="Calibri"/>
              <a:sym typeface="Calibri"/>
            </a:endParaRPr>
          </a:p>
        </p:txBody>
      </p:sp>
      <p:sp>
        <p:nvSpPr>
          <p:cNvPr id="437" name="Google Shape;437;p37"/>
          <p:cNvSpPr/>
          <p:nvPr/>
        </p:nvSpPr>
        <p:spPr>
          <a:xfrm>
            <a:off x="7589520" y="2971800"/>
            <a:ext cx="109728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667EEA"/>
              </a:buClr>
              <a:buSzPts val="1100"/>
              <a:buFont typeface="Calibri"/>
              <a:buNone/>
            </a:pPr>
            <a:r>
              <a:rPr b="1" lang="en" sz="1100">
                <a:solidFill>
                  <a:srgbClr val="667EEA"/>
                </a:solidFill>
                <a:latin typeface="Calibri"/>
                <a:ea typeface="Calibri"/>
                <a:cs typeface="Calibri"/>
                <a:sym typeface="Calibri"/>
              </a:rPr>
              <a:t>0.811</a:t>
            </a:r>
            <a:endParaRPr sz="1100">
              <a:solidFill>
                <a:schemeClr val="dk1"/>
              </a:solidFill>
              <a:latin typeface="Calibri"/>
              <a:ea typeface="Calibri"/>
              <a:cs typeface="Calibri"/>
              <a:sym typeface="Calibri"/>
            </a:endParaRPr>
          </a:p>
        </p:txBody>
      </p:sp>
      <p:sp>
        <p:nvSpPr>
          <p:cNvPr id="438" name="Google Shape;438;p37"/>
          <p:cNvSpPr/>
          <p:nvPr/>
        </p:nvSpPr>
        <p:spPr>
          <a:xfrm>
            <a:off x="6583680" y="3383280"/>
            <a:ext cx="914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E2761"/>
              </a:buClr>
              <a:buSzPts val="1100"/>
              <a:buFont typeface="Calibri"/>
              <a:buNone/>
            </a:pPr>
            <a:r>
              <a:rPr lang="en" sz="1100">
                <a:solidFill>
                  <a:srgbClr val="1E2761"/>
                </a:solidFill>
                <a:latin typeface="Calibri"/>
                <a:ea typeface="Calibri"/>
                <a:cs typeface="Calibri"/>
                <a:sym typeface="Calibri"/>
              </a:rPr>
              <a:t>Grounding:</a:t>
            </a:r>
            <a:endParaRPr sz="1100">
              <a:solidFill>
                <a:schemeClr val="dk1"/>
              </a:solidFill>
              <a:latin typeface="Calibri"/>
              <a:ea typeface="Calibri"/>
              <a:cs typeface="Calibri"/>
              <a:sym typeface="Calibri"/>
            </a:endParaRPr>
          </a:p>
        </p:txBody>
      </p:sp>
      <p:sp>
        <p:nvSpPr>
          <p:cNvPr id="439" name="Google Shape;439;p37"/>
          <p:cNvSpPr/>
          <p:nvPr/>
        </p:nvSpPr>
        <p:spPr>
          <a:xfrm>
            <a:off x="7589520" y="3383280"/>
            <a:ext cx="109728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667EEA"/>
              </a:buClr>
              <a:buSzPts val="1100"/>
              <a:buFont typeface="Calibri"/>
              <a:buNone/>
            </a:pPr>
            <a:r>
              <a:rPr b="1" lang="en" sz="1100">
                <a:solidFill>
                  <a:srgbClr val="667EEA"/>
                </a:solidFill>
                <a:latin typeface="Calibri"/>
                <a:ea typeface="Calibri"/>
                <a:cs typeface="Calibri"/>
                <a:sym typeface="Calibri"/>
              </a:rPr>
              <a:t>60%</a:t>
            </a:r>
            <a:endParaRPr sz="1100">
              <a:solidFill>
                <a:schemeClr val="dk1"/>
              </a:solidFill>
              <a:latin typeface="Calibri"/>
              <a:ea typeface="Calibri"/>
              <a:cs typeface="Calibri"/>
              <a:sym typeface="Calibri"/>
            </a:endParaRPr>
          </a:p>
        </p:txBody>
      </p:sp>
      <p:sp>
        <p:nvSpPr>
          <p:cNvPr id="440" name="Google Shape;440;p37"/>
          <p:cNvSpPr/>
          <p:nvPr/>
        </p:nvSpPr>
        <p:spPr>
          <a:xfrm>
            <a:off x="6446520" y="3749040"/>
            <a:ext cx="2377440" cy="457200"/>
          </a:xfrm>
          <a:prstGeom prst="roundRect">
            <a:avLst>
              <a:gd fmla="val 28773" name="adj"/>
            </a:avLst>
          </a:prstGeom>
          <a:solidFill>
            <a:srgbClr val="CADCF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1" name="Google Shape;441;p37"/>
          <p:cNvSpPr/>
          <p:nvPr/>
        </p:nvSpPr>
        <p:spPr>
          <a:xfrm>
            <a:off x="6537960" y="3794760"/>
            <a:ext cx="2194560" cy="3657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E2761"/>
              </a:buClr>
              <a:buSzPts val="900"/>
              <a:buFont typeface="Calibri"/>
              <a:buNone/>
            </a:pPr>
            <a:r>
              <a:rPr i="1" lang="en" sz="900">
                <a:solidFill>
                  <a:srgbClr val="1E2761"/>
                </a:solidFill>
                <a:latin typeface="Calibri"/>
                <a:ea typeface="Calibri"/>
                <a:cs typeface="Calibri"/>
                <a:sym typeface="Calibri"/>
              </a:rPr>
              <a:t>V3 improved grounding by 12.7% through prompt engineering</a:t>
            </a:r>
            <a:endParaRPr sz="900">
              <a:solidFill>
                <a:schemeClr val="dk1"/>
              </a:solidFill>
              <a:latin typeface="Calibri"/>
              <a:ea typeface="Calibri"/>
              <a:cs typeface="Calibri"/>
              <a:sym typeface="Calibri"/>
            </a:endParaRPr>
          </a:p>
        </p:txBody>
      </p:sp>
      <p:sp>
        <p:nvSpPr>
          <p:cNvPr id="442" name="Google Shape;442;p37"/>
          <p:cNvSpPr/>
          <p:nvPr/>
        </p:nvSpPr>
        <p:spPr>
          <a:xfrm>
            <a:off x="457200" y="4273247"/>
            <a:ext cx="8229600" cy="36576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667EEA"/>
              </a:buClr>
              <a:buSzPts val="1600"/>
              <a:buFont typeface="Calibri"/>
              <a:buNone/>
            </a:pPr>
            <a:r>
              <a:rPr b="1" lang="en" sz="1600">
                <a:solidFill>
                  <a:srgbClr val="667EEA"/>
                </a:solidFill>
                <a:latin typeface="Calibri"/>
                <a:ea typeface="Calibri"/>
                <a:cs typeface="Calibri"/>
                <a:sym typeface="Calibri"/>
              </a:rPr>
              <a:t>Impact of Iterative Improvement</a:t>
            </a:r>
            <a:endParaRPr sz="1600">
              <a:solidFill>
                <a:schemeClr val="dk1"/>
              </a:solidFill>
              <a:latin typeface="Calibri"/>
              <a:ea typeface="Calibri"/>
              <a:cs typeface="Calibri"/>
              <a:sym typeface="Calibri"/>
            </a:endParaRPr>
          </a:p>
        </p:txBody>
      </p:sp>
      <p:sp>
        <p:nvSpPr>
          <p:cNvPr id="443" name="Google Shape;443;p37"/>
          <p:cNvSpPr/>
          <p:nvPr/>
        </p:nvSpPr>
        <p:spPr>
          <a:xfrm>
            <a:off x="502920" y="4543425"/>
            <a:ext cx="8229600" cy="36576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333333"/>
              </a:buClr>
              <a:buSzPts val="1300"/>
              <a:buFont typeface="Calibri"/>
              <a:buNone/>
            </a:pPr>
            <a:r>
              <a:rPr lang="en" sz="1300">
                <a:solidFill>
                  <a:srgbClr val="333333"/>
                </a:solidFill>
                <a:latin typeface="Calibri"/>
                <a:ea typeface="Calibri"/>
                <a:cs typeface="Calibri"/>
                <a:sym typeface="Calibri"/>
              </a:rPr>
              <a:t>V1: Prompt bug (cross-category confusion)  →  V2: Fixed template  →  V3: Enhanced prompts</a:t>
            </a:r>
            <a:endParaRPr sz="1300">
              <a:solidFill>
                <a:schemeClr val="dk1"/>
              </a:solidFill>
              <a:latin typeface="Calibri"/>
              <a:ea typeface="Calibri"/>
              <a:cs typeface="Calibri"/>
              <a:sym typeface="Calibri"/>
            </a:endParaRPr>
          </a:p>
        </p:txBody>
      </p:sp>
      <p:sp>
        <p:nvSpPr>
          <p:cNvPr id="444" name="Google Shape;444;p37"/>
          <p:cNvSpPr/>
          <p:nvPr/>
        </p:nvSpPr>
        <p:spPr>
          <a:xfrm>
            <a:off x="502920" y="4793312"/>
            <a:ext cx="8229600" cy="36576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667EEA"/>
              </a:buClr>
              <a:buSzPts val="1300"/>
              <a:buFont typeface="Calibri"/>
              <a:buNone/>
            </a:pPr>
            <a:r>
              <a:rPr b="1" lang="en" sz="1300">
                <a:solidFill>
                  <a:srgbClr val="667EEA"/>
                </a:solidFill>
                <a:latin typeface="Calibri"/>
                <a:ea typeface="Calibri"/>
                <a:cs typeface="Calibri"/>
                <a:sym typeface="Calibri"/>
              </a:rPr>
              <a:t>Grounding: 0.53 → 0.53 → 0.60  (+12.7% improvement)</a:t>
            </a:r>
            <a:endParaRPr sz="1300">
              <a:solidFill>
                <a:schemeClr val="dk1"/>
              </a:solidFill>
              <a:latin typeface="Calibri"/>
              <a:ea typeface="Calibri"/>
              <a:cs typeface="Calibri"/>
              <a:sym typeface="Calibri"/>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E2761"/>
        </a:solidFill>
      </p:bgPr>
    </p:bg>
    <p:spTree>
      <p:nvGrpSpPr>
        <p:cNvPr id="449" name="Shape 449"/>
        <p:cNvGrpSpPr/>
        <p:nvPr/>
      </p:nvGrpSpPr>
      <p:grpSpPr>
        <a:xfrm>
          <a:off x="0" y="0"/>
          <a:ext cx="0" cy="0"/>
          <a:chOff x="0" y="0"/>
          <a:chExt cx="0" cy="0"/>
        </a:xfrm>
      </p:grpSpPr>
      <p:sp>
        <p:nvSpPr>
          <p:cNvPr id="450" name="Google Shape;450;p38"/>
          <p:cNvSpPr/>
          <p:nvPr/>
        </p:nvSpPr>
        <p:spPr>
          <a:xfrm>
            <a:off x="457200" y="640080"/>
            <a:ext cx="8229600" cy="54864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4000"/>
              <a:buFont typeface="Calibri"/>
              <a:buNone/>
            </a:pPr>
            <a:r>
              <a:rPr b="1" lang="en" sz="4000">
                <a:solidFill>
                  <a:srgbClr val="FFFFFF"/>
                </a:solidFill>
                <a:latin typeface="Calibri"/>
                <a:ea typeface="Calibri"/>
                <a:cs typeface="Calibri"/>
                <a:sym typeface="Calibri"/>
              </a:rPr>
              <a:t>Key Takeaways</a:t>
            </a:r>
            <a:endParaRPr sz="4000">
              <a:solidFill>
                <a:schemeClr val="dk1"/>
              </a:solidFill>
              <a:latin typeface="Calibri"/>
              <a:ea typeface="Calibri"/>
              <a:cs typeface="Calibri"/>
              <a:sym typeface="Calibri"/>
            </a:endParaRPr>
          </a:p>
        </p:txBody>
      </p:sp>
      <p:sp>
        <p:nvSpPr>
          <p:cNvPr id="451" name="Google Shape;451;p38"/>
          <p:cNvSpPr/>
          <p:nvPr/>
        </p:nvSpPr>
        <p:spPr>
          <a:xfrm>
            <a:off x="1224848" y="1490686"/>
            <a:ext cx="3142484" cy="1073830"/>
          </a:xfrm>
          <a:prstGeom prst="roundRect">
            <a:avLst>
              <a:gd fmla="val 16667" name="adj"/>
            </a:avLst>
          </a:prstGeom>
          <a:solidFill>
            <a:srgbClr val="CADCFC"/>
          </a:solidFill>
          <a:ln cap="flat" cmpd="sng" w="23775">
            <a:solidFill>
              <a:srgbClr val="FFFFFF"/>
            </a:solidFill>
            <a:prstDash val="solid"/>
            <a:round/>
            <a:headEnd len="sm" w="sm" type="none"/>
            <a:tailEnd len="sm" w="sm" type="none"/>
          </a:ln>
        </p:spPr>
        <p:txBody>
          <a:bodyPr anchorCtr="0" anchor="ctr" bIns="85550" lIns="85550" spcFirstLastPara="1" rIns="85550" wrap="square" tIns="85550">
            <a:noAutofit/>
          </a:bodyPr>
          <a:lstStyle/>
          <a:p>
            <a:pPr indent="0" lvl="0" marL="0" rtl="0" algn="l">
              <a:spcBef>
                <a:spcPts val="0"/>
              </a:spcBef>
              <a:spcAft>
                <a:spcPts val="0"/>
              </a:spcAft>
              <a:buNone/>
            </a:pPr>
            <a:r>
              <a:t/>
            </a:r>
            <a:endParaRPr/>
          </a:p>
        </p:txBody>
      </p:sp>
      <p:sp>
        <p:nvSpPr>
          <p:cNvPr id="452" name="Google Shape;452;p38"/>
          <p:cNvSpPr/>
          <p:nvPr/>
        </p:nvSpPr>
        <p:spPr>
          <a:xfrm>
            <a:off x="1985482" y="1631339"/>
            <a:ext cx="2662096" cy="427848"/>
          </a:xfrm>
          <a:prstGeom prst="rect">
            <a:avLst/>
          </a:prstGeom>
          <a:noFill/>
          <a:ln>
            <a:noFill/>
          </a:ln>
        </p:spPr>
        <p:txBody>
          <a:bodyPr anchorCtr="0" anchor="ctr" bIns="42775" lIns="85550" spcFirstLastPara="1" rIns="85550" wrap="square" tIns="42775">
            <a:noAutofit/>
          </a:bodyPr>
          <a:lstStyle/>
          <a:p>
            <a:pPr indent="0" lvl="0" marL="0" marR="0" rtl="0" algn="l">
              <a:spcBef>
                <a:spcPts val="0"/>
              </a:spcBef>
              <a:spcAft>
                <a:spcPts val="0"/>
              </a:spcAft>
              <a:buClr>
                <a:srgbClr val="1E2761"/>
              </a:buClr>
              <a:buSzPts val="1310"/>
              <a:buFont typeface="Calibri"/>
              <a:buNone/>
            </a:pPr>
            <a:r>
              <a:rPr b="1" lang="en" sz="1310">
                <a:solidFill>
                  <a:srgbClr val="1E2761"/>
                </a:solidFill>
                <a:latin typeface="Calibri"/>
                <a:ea typeface="Calibri"/>
                <a:cs typeface="Calibri"/>
                <a:sym typeface="Calibri"/>
              </a:rPr>
              <a:t>Data Quality &gt; Model Size</a:t>
            </a:r>
            <a:endParaRPr sz="1310">
              <a:solidFill>
                <a:schemeClr val="dk1"/>
              </a:solidFill>
              <a:latin typeface="Calibri"/>
              <a:ea typeface="Calibri"/>
              <a:cs typeface="Calibri"/>
              <a:sym typeface="Calibri"/>
            </a:endParaRPr>
          </a:p>
        </p:txBody>
      </p:sp>
      <p:sp>
        <p:nvSpPr>
          <p:cNvPr id="453" name="Google Shape;453;p38"/>
          <p:cNvSpPr/>
          <p:nvPr/>
        </p:nvSpPr>
        <p:spPr>
          <a:xfrm>
            <a:off x="1985482" y="2051218"/>
            <a:ext cx="2216334" cy="342222"/>
          </a:xfrm>
          <a:prstGeom prst="rect">
            <a:avLst/>
          </a:prstGeom>
          <a:noFill/>
          <a:ln>
            <a:noFill/>
          </a:ln>
        </p:spPr>
        <p:txBody>
          <a:bodyPr anchorCtr="0" anchor="ctr" bIns="42775" lIns="85550" spcFirstLastPara="1" rIns="85550" wrap="square" tIns="42775">
            <a:noAutofit/>
          </a:bodyPr>
          <a:lstStyle/>
          <a:p>
            <a:pPr indent="0" lvl="0" marL="0" marR="0" rtl="0" algn="l">
              <a:spcBef>
                <a:spcPts val="0"/>
              </a:spcBef>
              <a:spcAft>
                <a:spcPts val="0"/>
              </a:spcAft>
              <a:buClr>
                <a:srgbClr val="333333"/>
              </a:buClr>
              <a:buSzPts val="1029"/>
              <a:buFont typeface="Calibri"/>
              <a:buNone/>
            </a:pPr>
            <a:r>
              <a:rPr lang="en" sz="1029">
                <a:solidFill>
                  <a:srgbClr val="333333"/>
                </a:solidFill>
                <a:latin typeface="Calibri"/>
                <a:ea typeface="Calibri"/>
                <a:cs typeface="Calibri"/>
                <a:sym typeface="Calibri"/>
              </a:rPr>
              <a:t>Cleaning data had more impact than switching to larger models</a:t>
            </a:r>
            <a:endParaRPr sz="1029">
              <a:solidFill>
                <a:schemeClr val="dk1"/>
              </a:solidFill>
              <a:latin typeface="Calibri"/>
              <a:ea typeface="Calibri"/>
              <a:cs typeface="Calibri"/>
              <a:sym typeface="Calibri"/>
            </a:endParaRPr>
          </a:p>
        </p:txBody>
      </p:sp>
      <p:sp>
        <p:nvSpPr>
          <p:cNvPr id="454" name="Google Shape;454;p38"/>
          <p:cNvSpPr/>
          <p:nvPr/>
        </p:nvSpPr>
        <p:spPr>
          <a:xfrm>
            <a:off x="1367474" y="1770856"/>
            <a:ext cx="513600" cy="513600"/>
          </a:xfrm>
          <a:prstGeom prst="ellipse">
            <a:avLst/>
          </a:prstGeom>
          <a:solidFill>
            <a:srgbClr val="667EEA"/>
          </a:solidFill>
          <a:ln>
            <a:noFill/>
          </a:ln>
        </p:spPr>
        <p:txBody>
          <a:bodyPr anchorCtr="0" anchor="ctr" bIns="85550" lIns="85550" spcFirstLastPara="1" rIns="85550" wrap="square" tIns="85550">
            <a:noAutofit/>
          </a:bodyPr>
          <a:lstStyle/>
          <a:p>
            <a:pPr indent="0" lvl="0" marL="0" rtl="0" algn="l">
              <a:spcBef>
                <a:spcPts val="0"/>
              </a:spcBef>
              <a:spcAft>
                <a:spcPts val="0"/>
              </a:spcAft>
              <a:buNone/>
            </a:pPr>
            <a:r>
              <a:t/>
            </a:r>
            <a:endParaRPr/>
          </a:p>
        </p:txBody>
      </p:sp>
      <p:sp>
        <p:nvSpPr>
          <p:cNvPr id="455" name="Google Shape;455;p38"/>
          <p:cNvSpPr/>
          <p:nvPr/>
        </p:nvSpPr>
        <p:spPr>
          <a:xfrm>
            <a:off x="4989784" y="1490650"/>
            <a:ext cx="3422700" cy="1074000"/>
          </a:xfrm>
          <a:prstGeom prst="roundRect">
            <a:avLst>
              <a:gd fmla="val 16667" name="adj"/>
            </a:avLst>
          </a:prstGeom>
          <a:solidFill>
            <a:srgbClr val="CADCFC"/>
          </a:solidFill>
          <a:ln cap="flat" cmpd="sng" w="23775">
            <a:solidFill>
              <a:srgbClr val="FFFFFF"/>
            </a:solidFill>
            <a:prstDash val="solid"/>
            <a:round/>
            <a:headEnd len="sm" w="sm" type="none"/>
            <a:tailEnd len="sm" w="sm" type="none"/>
          </a:ln>
        </p:spPr>
        <p:txBody>
          <a:bodyPr anchorCtr="0" anchor="ctr" bIns="85550" lIns="85550" spcFirstLastPara="1" rIns="85550" wrap="square" tIns="85550">
            <a:noAutofit/>
          </a:bodyPr>
          <a:lstStyle/>
          <a:p>
            <a:pPr indent="0" lvl="0" marL="0" rtl="0" algn="l">
              <a:spcBef>
                <a:spcPts val="0"/>
              </a:spcBef>
              <a:spcAft>
                <a:spcPts val="0"/>
              </a:spcAft>
              <a:buNone/>
            </a:pPr>
            <a:r>
              <a:t/>
            </a:r>
            <a:endParaRPr/>
          </a:p>
        </p:txBody>
      </p:sp>
      <p:sp>
        <p:nvSpPr>
          <p:cNvPr id="456" name="Google Shape;456;p38"/>
          <p:cNvSpPr/>
          <p:nvPr/>
        </p:nvSpPr>
        <p:spPr>
          <a:xfrm>
            <a:off x="5160925" y="1762924"/>
            <a:ext cx="513600" cy="513600"/>
          </a:xfrm>
          <a:prstGeom prst="ellipse">
            <a:avLst/>
          </a:prstGeom>
          <a:solidFill>
            <a:srgbClr val="667EEA"/>
          </a:solidFill>
          <a:ln>
            <a:noFill/>
          </a:ln>
        </p:spPr>
        <p:txBody>
          <a:bodyPr anchorCtr="0" anchor="ctr" bIns="85550" lIns="85550" spcFirstLastPara="1" rIns="85550" wrap="square" tIns="85550">
            <a:noAutofit/>
          </a:bodyPr>
          <a:lstStyle/>
          <a:p>
            <a:pPr indent="0" lvl="0" marL="0" rtl="0" algn="l">
              <a:spcBef>
                <a:spcPts val="0"/>
              </a:spcBef>
              <a:spcAft>
                <a:spcPts val="0"/>
              </a:spcAft>
              <a:buNone/>
            </a:pPr>
            <a:r>
              <a:t/>
            </a:r>
            <a:endParaRPr/>
          </a:p>
        </p:txBody>
      </p:sp>
      <p:sp>
        <p:nvSpPr>
          <p:cNvPr id="457" name="Google Shape;457;p38"/>
          <p:cNvSpPr/>
          <p:nvPr/>
        </p:nvSpPr>
        <p:spPr>
          <a:xfrm>
            <a:off x="5160919" y="1762929"/>
            <a:ext cx="513600" cy="513600"/>
          </a:xfrm>
          <a:prstGeom prst="rect">
            <a:avLst/>
          </a:prstGeom>
          <a:noFill/>
          <a:ln>
            <a:noFill/>
          </a:ln>
        </p:spPr>
        <p:txBody>
          <a:bodyPr anchorCtr="0" anchor="ctr" bIns="42775" lIns="85550" spcFirstLastPara="1" rIns="85550" wrap="square" tIns="42775">
            <a:noAutofit/>
          </a:bodyPr>
          <a:lstStyle/>
          <a:p>
            <a:pPr indent="0" lvl="0" marL="0" marR="0" rtl="0" algn="ctr">
              <a:spcBef>
                <a:spcPts val="0"/>
              </a:spcBef>
              <a:spcAft>
                <a:spcPts val="0"/>
              </a:spcAft>
              <a:buClr>
                <a:srgbClr val="FFFFFF"/>
              </a:buClr>
              <a:buSzPts val="2246"/>
              <a:buFont typeface="Calibri"/>
              <a:buNone/>
            </a:pPr>
            <a:r>
              <a:rPr b="1" lang="en" sz="2245">
                <a:solidFill>
                  <a:srgbClr val="FFFFFF"/>
                </a:solidFill>
                <a:latin typeface="Calibri"/>
                <a:ea typeface="Calibri"/>
                <a:cs typeface="Calibri"/>
                <a:sym typeface="Calibri"/>
              </a:rPr>
              <a:t>2</a:t>
            </a:r>
            <a:endParaRPr sz="2245">
              <a:solidFill>
                <a:schemeClr val="dk1"/>
              </a:solidFill>
              <a:latin typeface="Calibri"/>
              <a:ea typeface="Calibri"/>
              <a:cs typeface="Calibri"/>
              <a:sym typeface="Calibri"/>
            </a:endParaRPr>
          </a:p>
        </p:txBody>
      </p:sp>
      <p:sp>
        <p:nvSpPr>
          <p:cNvPr id="458" name="Google Shape;458;p38"/>
          <p:cNvSpPr/>
          <p:nvPr/>
        </p:nvSpPr>
        <p:spPr>
          <a:xfrm>
            <a:off x="5845459" y="1622465"/>
            <a:ext cx="2395800" cy="427800"/>
          </a:xfrm>
          <a:prstGeom prst="rect">
            <a:avLst/>
          </a:prstGeom>
          <a:noFill/>
          <a:ln>
            <a:noFill/>
          </a:ln>
        </p:spPr>
        <p:txBody>
          <a:bodyPr anchorCtr="0" anchor="ctr" bIns="42775" lIns="85550" spcFirstLastPara="1" rIns="85550" wrap="square" tIns="42775">
            <a:noAutofit/>
          </a:bodyPr>
          <a:lstStyle/>
          <a:p>
            <a:pPr indent="0" lvl="0" marL="0" marR="0" rtl="0" algn="l">
              <a:spcBef>
                <a:spcPts val="0"/>
              </a:spcBef>
              <a:spcAft>
                <a:spcPts val="0"/>
              </a:spcAft>
              <a:buClr>
                <a:srgbClr val="1E2761"/>
              </a:buClr>
              <a:buSzPts val="1310"/>
              <a:buFont typeface="Calibri"/>
              <a:buNone/>
            </a:pPr>
            <a:r>
              <a:rPr b="1" lang="en" sz="1310">
                <a:solidFill>
                  <a:srgbClr val="1E2761"/>
                </a:solidFill>
                <a:latin typeface="Calibri"/>
                <a:ea typeface="Calibri"/>
                <a:cs typeface="Calibri"/>
                <a:sym typeface="Calibri"/>
              </a:rPr>
              <a:t>Prompt Engineering Matters</a:t>
            </a:r>
            <a:endParaRPr sz="1310">
              <a:solidFill>
                <a:schemeClr val="dk1"/>
              </a:solidFill>
              <a:latin typeface="Calibri"/>
              <a:ea typeface="Calibri"/>
              <a:cs typeface="Calibri"/>
              <a:sym typeface="Calibri"/>
            </a:endParaRPr>
          </a:p>
        </p:txBody>
      </p:sp>
      <p:sp>
        <p:nvSpPr>
          <p:cNvPr id="459" name="Google Shape;459;p38"/>
          <p:cNvSpPr/>
          <p:nvPr/>
        </p:nvSpPr>
        <p:spPr>
          <a:xfrm>
            <a:off x="5826445" y="2055237"/>
            <a:ext cx="2395800" cy="342300"/>
          </a:xfrm>
          <a:prstGeom prst="rect">
            <a:avLst/>
          </a:prstGeom>
          <a:noFill/>
          <a:ln>
            <a:noFill/>
          </a:ln>
        </p:spPr>
        <p:txBody>
          <a:bodyPr anchorCtr="0" anchor="ctr" bIns="42775" lIns="85550" spcFirstLastPara="1" rIns="85550" wrap="square" tIns="42775">
            <a:noAutofit/>
          </a:bodyPr>
          <a:lstStyle/>
          <a:p>
            <a:pPr indent="0" lvl="0" marL="0" marR="0" rtl="0" algn="l">
              <a:spcBef>
                <a:spcPts val="0"/>
              </a:spcBef>
              <a:spcAft>
                <a:spcPts val="0"/>
              </a:spcAft>
              <a:buClr>
                <a:srgbClr val="333333"/>
              </a:buClr>
              <a:buSzPts val="1029"/>
              <a:buFont typeface="Calibri"/>
              <a:buNone/>
            </a:pPr>
            <a:r>
              <a:rPr lang="en" sz="1029">
                <a:solidFill>
                  <a:srgbClr val="333333"/>
                </a:solidFill>
                <a:latin typeface="Calibri"/>
                <a:ea typeface="Calibri"/>
                <a:cs typeface="Calibri"/>
                <a:sym typeface="Calibri"/>
              </a:rPr>
              <a:t>Iterative refinement (V1→V2→V3) crucial for LLM quality</a:t>
            </a:r>
            <a:endParaRPr sz="1029">
              <a:solidFill>
                <a:schemeClr val="dk1"/>
              </a:solidFill>
              <a:latin typeface="Calibri"/>
              <a:ea typeface="Calibri"/>
              <a:cs typeface="Calibri"/>
              <a:sym typeface="Calibri"/>
            </a:endParaRPr>
          </a:p>
        </p:txBody>
      </p:sp>
      <p:sp>
        <p:nvSpPr>
          <p:cNvPr id="460" name="Google Shape;460;p38"/>
          <p:cNvSpPr/>
          <p:nvPr/>
        </p:nvSpPr>
        <p:spPr>
          <a:xfrm>
            <a:off x="1224813" y="2885707"/>
            <a:ext cx="3142500" cy="1073400"/>
          </a:xfrm>
          <a:prstGeom prst="roundRect">
            <a:avLst>
              <a:gd fmla="val 16667" name="adj"/>
            </a:avLst>
          </a:prstGeom>
          <a:solidFill>
            <a:srgbClr val="CADCFC"/>
          </a:solidFill>
          <a:ln cap="flat" cmpd="sng" w="23775">
            <a:solidFill>
              <a:srgbClr val="FFFFFF"/>
            </a:solidFill>
            <a:prstDash val="solid"/>
            <a:round/>
            <a:headEnd len="sm" w="sm" type="none"/>
            <a:tailEnd len="sm" w="sm" type="none"/>
          </a:ln>
        </p:spPr>
        <p:txBody>
          <a:bodyPr anchorCtr="0" anchor="ctr" bIns="85550" lIns="85550" spcFirstLastPara="1" rIns="85550" wrap="square" tIns="85550">
            <a:noAutofit/>
          </a:bodyPr>
          <a:lstStyle/>
          <a:p>
            <a:pPr indent="0" lvl="0" marL="0" rtl="0" algn="l">
              <a:spcBef>
                <a:spcPts val="0"/>
              </a:spcBef>
              <a:spcAft>
                <a:spcPts val="0"/>
              </a:spcAft>
              <a:buNone/>
            </a:pPr>
            <a:r>
              <a:t/>
            </a:r>
            <a:endParaRPr/>
          </a:p>
        </p:txBody>
      </p:sp>
      <p:sp>
        <p:nvSpPr>
          <p:cNvPr id="461" name="Google Shape;461;p38"/>
          <p:cNvSpPr/>
          <p:nvPr/>
        </p:nvSpPr>
        <p:spPr>
          <a:xfrm>
            <a:off x="1395949" y="3079531"/>
            <a:ext cx="513600" cy="513600"/>
          </a:xfrm>
          <a:prstGeom prst="ellipse">
            <a:avLst/>
          </a:prstGeom>
          <a:solidFill>
            <a:srgbClr val="667EEA"/>
          </a:solidFill>
          <a:ln>
            <a:noFill/>
          </a:ln>
        </p:spPr>
        <p:txBody>
          <a:bodyPr anchorCtr="0" anchor="ctr" bIns="85550" lIns="85550" spcFirstLastPara="1" rIns="85550" wrap="square" tIns="85550">
            <a:noAutofit/>
          </a:bodyPr>
          <a:lstStyle/>
          <a:p>
            <a:pPr indent="0" lvl="0" marL="0" rtl="0" algn="l">
              <a:spcBef>
                <a:spcPts val="0"/>
              </a:spcBef>
              <a:spcAft>
                <a:spcPts val="0"/>
              </a:spcAft>
              <a:buNone/>
            </a:pPr>
            <a:r>
              <a:t/>
            </a:r>
            <a:endParaRPr/>
          </a:p>
        </p:txBody>
      </p:sp>
      <p:sp>
        <p:nvSpPr>
          <p:cNvPr id="462" name="Google Shape;462;p38"/>
          <p:cNvSpPr/>
          <p:nvPr/>
        </p:nvSpPr>
        <p:spPr>
          <a:xfrm>
            <a:off x="1395949" y="3077987"/>
            <a:ext cx="513600" cy="513600"/>
          </a:xfrm>
          <a:prstGeom prst="rect">
            <a:avLst/>
          </a:prstGeom>
          <a:noFill/>
          <a:ln>
            <a:noFill/>
          </a:ln>
        </p:spPr>
        <p:txBody>
          <a:bodyPr anchorCtr="0" anchor="ctr" bIns="42775" lIns="85550" spcFirstLastPara="1" rIns="85550" wrap="square" tIns="42775">
            <a:noAutofit/>
          </a:bodyPr>
          <a:lstStyle/>
          <a:p>
            <a:pPr indent="0" lvl="0" marL="0" marR="0" rtl="0" algn="ctr">
              <a:spcBef>
                <a:spcPts val="0"/>
              </a:spcBef>
              <a:spcAft>
                <a:spcPts val="0"/>
              </a:spcAft>
              <a:buClr>
                <a:srgbClr val="FFFFFF"/>
              </a:buClr>
              <a:buSzPts val="2246"/>
              <a:buFont typeface="Calibri"/>
              <a:buNone/>
            </a:pPr>
            <a:r>
              <a:rPr b="1" lang="en" sz="2245">
                <a:solidFill>
                  <a:srgbClr val="FFFFFF"/>
                </a:solidFill>
                <a:latin typeface="Calibri"/>
                <a:ea typeface="Calibri"/>
                <a:cs typeface="Calibri"/>
                <a:sym typeface="Calibri"/>
              </a:rPr>
              <a:t>3</a:t>
            </a:r>
            <a:endParaRPr sz="2245">
              <a:solidFill>
                <a:schemeClr val="dk1"/>
              </a:solidFill>
              <a:latin typeface="Calibri"/>
              <a:ea typeface="Calibri"/>
              <a:cs typeface="Calibri"/>
              <a:sym typeface="Calibri"/>
            </a:endParaRPr>
          </a:p>
        </p:txBody>
      </p:sp>
      <p:sp>
        <p:nvSpPr>
          <p:cNvPr id="463" name="Google Shape;463;p38"/>
          <p:cNvSpPr/>
          <p:nvPr/>
        </p:nvSpPr>
        <p:spPr>
          <a:xfrm>
            <a:off x="1985413" y="3035189"/>
            <a:ext cx="2395800" cy="427800"/>
          </a:xfrm>
          <a:prstGeom prst="rect">
            <a:avLst/>
          </a:prstGeom>
          <a:noFill/>
          <a:ln>
            <a:noFill/>
          </a:ln>
        </p:spPr>
        <p:txBody>
          <a:bodyPr anchorCtr="0" anchor="ctr" bIns="42775" lIns="85550" spcFirstLastPara="1" rIns="85550" wrap="square" tIns="42775">
            <a:noAutofit/>
          </a:bodyPr>
          <a:lstStyle/>
          <a:p>
            <a:pPr indent="0" lvl="0" marL="0" marR="0" rtl="0" algn="l">
              <a:spcBef>
                <a:spcPts val="0"/>
              </a:spcBef>
              <a:spcAft>
                <a:spcPts val="0"/>
              </a:spcAft>
              <a:buClr>
                <a:srgbClr val="1E2761"/>
              </a:buClr>
              <a:buSzPts val="1310"/>
              <a:buFont typeface="Calibri"/>
              <a:buNone/>
            </a:pPr>
            <a:r>
              <a:rPr b="1" lang="en" sz="1310">
                <a:solidFill>
                  <a:srgbClr val="1E2761"/>
                </a:solidFill>
                <a:latin typeface="Calibri"/>
                <a:ea typeface="Calibri"/>
                <a:cs typeface="Calibri"/>
                <a:sym typeface="Calibri"/>
              </a:rPr>
              <a:t>Domain Adaptation Required</a:t>
            </a:r>
            <a:endParaRPr sz="1310">
              <a:solidFill>
                <a:schemeClr val="dk1"/>
              </a:solidFill>
              <a:latin typeface="Calibri"/>
              <a:ea typeface="Calibri"/>
              <a:cs typeface="Calibri"/>
              <a:sym typeface="Calibri"/>
            </a:endParaRPr>
          </a:p>
        </p:txBody>
      </p:sp>
      <p:sp>
        <p:nvSpPr>
          <p:cNvPr id="464" name="Google Shape;464;p38"/>
          <p:cNvSpPr/>
          <p:nvPr/>
        </p:nvSpPr>
        <p:spPr>
          <a:xfrm>
            <a:off x="1985413" y="3452978"/>
            <a:ext cx="2395800" cy="342300"/>
          </a:xfrm>
          <a:prstGeom prst="rect">
            <a:avLst/>
          </a:prstGeom>
          <a:noFill/>
          <a:ln>
            <a:noFill/>
          </a:ln>
        </p:spPr>
        <p:txBody>
          <a:bodyPr anchorCtr="0" anchor="ctr" bIns="42775" lIns="85550" spcFirstLastPara="1" rIns="85550" wrap="square" tIns="42775">
            <a:noAutofit/>
          </a:bodyPr>
          <a:lstStyle/>
          <a:p>
            <a:pPr indent="0" lvl="0" marL="0" marR="0" rtl="0" algn="l">
              <a:spcBef>
                <a:spcPts val="0"/>
              </a:spcBef>
              <a:spcAft>
                <a:spcPts val="0"/>
              </a:spcAft>
              <a:buClr>
                <a:srgbClr val="333333"/>
              </a:buClr>
              <a:buSzPts val="1029"/>
              <a:buFont typeface="Calibri"/>
              <a:buNone/>
            </a:pPr>
            <a:r>
              <a:rPr lang="en" sz="1029">
                <a:solidFill>
                  <a:srgbClr val="333333"/>
                </a:solidFill>
                <a:latin typeface="Calibri"/>
                <a:ea typeface="Calibri"/>
                <a:cs typeface="Calibri"/>
                <a:sym typeface="Calibri"/>
              </a:rPr>
              <a:t>Zero-shot underperformed; fine-tuning essential</a:t>
            </a:r>
            <a:endParaRPr sz="1029">
              <a:solidFill>
                <a:schemeClr val="dk1"/>
              </a:solidFill>
              <a:latin typeface="Calibri"/>
              <a:ea typeface="Calibri"/>
              <a:cs typeface="Calibri"/>
              <a:sym typeface="Calibri"/>
            </a:endParaRPr>
          </a:p>
        </p:txBody>
      </p:sp>
      <p:sp>
        <p:nvSpPr>
          <p:cNvPr id="465" name="Google Shape;465;p38"/>
          <p:cNvSpPr/>
          <p:nvPr/>
        </p:nvSpPr>
        <p:spPr>
          <a:xfrm>
            <a:off x="4989784" y="2885706"/>
            <a:ext cx="3422700" cy="1073400"/>
          </a:xfrm>
          <a:prstGeom prst="roundRect">
            <a:avLst>
              <a:gd fmla="val 16667" name="adj"/>
            </a:avLst>
          </a:prstGeom>
          <a:solidFill>
            <a:srgbClr val="CADCFC"/>
          </a:solidFill>
          <a:ln cap="flat" cmpd="sng" w="23775">
            <a:solidFill>
              <a:srgbClr val="FFFFFF"/>
            </a:solidFill>
            <a:prstDash val="solid"/>
            <a:round/>
            <a:headEnd len="sm" w="sm" type="none"/>
            <a:tailEnd len="sm" w="sm" type="none"/>
          </a:ln>
        </p:spPr>
        <p:txBody>
          <a:bodyPr anchorCtr="0" anchor="ctr" bIns="85550" lIns="85550" spcFirstLastPara="1" rIns="85550" wrap="square" tIns="85550">
            <a:noAutofit/>
          </a:bodyPr>
          <a:lstStyle/>
          <a:p>
            <a:pPr indent="0" lvl="0" marL="0" rtl="0" algn="l">
              <a:spcBef>
                <a:spcPts val="0"/>
              </a:spcBef>
              <a:spcAft>
                <a:spcPts val="0"/>
              </a:spcAft>
              <a:buNone/>
            </a:pPr>
            <a:r>
              <a:t/>
            </a:r>
            <a:endParaRPr sz="1310"/>
          </a:p>
        </p:txBody>
      </p:sp>
      <p:sp>
        <p:nvSpPr>
          <p:cNvPr id="466" name="Google Shape;466;p38"/>
          <p:cNvSpPr/>
          <p:nvPr/>
        </p:nvSpPr>
        <p:spPr>
          <a:xfrm>
            <a:off x="5160919" y="3077972"/>
            <a:ext cx="513600" cy="513600"/>
          </a:xfrm>
          <a:prstGeom prst="ellipse">
            <a:avLst/>
          </a:prstGeom>
          <a:solidFill>
            <a:srgbClr val="667EEA"/>
          </a:solidFill>
          <a:ln>
            <a:noFill/>
          </a:ln>
        </p:spPr>
        <p:txBody>
          <a:bodyPr anchorCtr="0" anchor="ctr" bIns="85550" lIns="85550" spcFirstLastPara="1" rIns="85550" wrap="square" tIns="85550">
            <a:noAutofit/>
          </a:bodyPr>
          <a:lstStyle/>
          <a:p>
            <a:pPr indent="0" lvl="0" marL="0" rtl="0" algn="l">
              <a:spcBef>
                <a:spcPts val="0"/>
              </a:spcBef>
              <a:spcAft>
                <a:spcPts val="0"/>
              </a:spcAft>
              <a:buNone/>
            </a:pPr>
            <a:r>
              <a:t/>
            </a:r>
            <a:endParaRPr/>
          </a:p>
        </p:txBody>
      </p:sp>
      <p:sp>
        <p:nvSpPr>
          <p:cNvPr id="467" name="Google Shape;467;p38"/>
          <p:cNvSpPr/>
          <p:nvPr/>
        </p:nvSpPr>
        <p:spPr>
          <a:xfrm>
            <a:off x="5160919" y="3077972"/>
            <a:ext cx="513600" cy="513600"/>
          </a:xfrm>
          <a:prstGeom prst="rect">
            <a:avLst/>
          </a:prstGeom>
          <a:noFill/>
          <a:ln>
            <a:noFill/>
          </a:ln>
        </p:spPr>
        <p:txBody>
          <a:bodyPr anchorCtr="0" anchor="ctr" bIns="42775" lIns="85550" spcFirstLastPara="1" rIns="85550" wrap="square" tIns="42775">
            <a:noAutofit/>
          </a:bodyPr>
          <a:lstStyle/>
          <a:p>
            <a:pPr indent="0" lvl="0" marL="0" marR="0" rtl="0" algn="ctr">
              <a:spcBef>
                <a:spcPts val="0"/>
              </a:spcBef>
              <a:spcAft>
                <a:spcPts val="0"/>
              </a:spcAft>
              <a:buClr>
                <a:srgbClr val="FFFFFF"/>
              </a:buClr>
              <a:buSzPts val="2246"/>
              <a:buFont typeface="Calibri"/>
              <a:buNone/>
            </a:pPr>
            <a:r>
              <a:rPr b="1" lang="en" sz="2245">
                <a:solidFill>
                  <a:srgbClr val="FFFFFF"/>
                </a:solidFill>
                <a:latin typeface="Calibri"/>
                <a:ea typeface="Calibri"/>
                <a:cs typeface="Calibri"/>
                <a:sym typeface="Calibri"/>
              </a:rPr>
              <a:t>4</a:t>
            </a:r>
            <a:endParaRPr sz="2245">
              <a:solidFill>
                <a:schemeClr val="dk1"/>
              </a:solidFill>
              <a:latin typeface="Calibri"/>
              <a:ea typeface="Calibri"/>
              <a:cs typeface="Calibri"/>
              <a:sym typeface="Calibri"/>
            </a:endParaRPr>
          </a:p>
        </p:txBody>
      </p:sp>
      <p:sp>
        <p:nvSpPr>
          <p:cNvPr id="468" name="Google Shape;468;p38"/>
          <p:cNvSpPr/>
          <p:nvPr/>
        </p:nvSpPr>
        <p:spPr>
          <a:xfrm>
            <a:off x="5845459" y="3035535"/>
            <a:ext cx="2395800" cy="427800"/>
          </a:xfrm>
          <a:prstGeom prst="rect">
            <a:avLst/>
          </a:prstGeom>
          <a:noFill/>
          <a:ln>
            <a:noFill/>
          </a:ln>
        </p:spPr>
        <p:txBody>
          <a:bodyPr anchorCtr="0" anchor="ctr" bIns="42775" lIns="85550" spcFirstLastPara="1" rIns="85550" wrap="square" tIns="42775">
            <a:noAutofit/>
          </a:bodyPr>
          <a:lstStyle/>
          <a:p>
            <a:pPr indent="0" lvl="0" marL="0" marR="0" rtl="0" algn="l">
              <a:spcBef>
                <a:spcPts val="0"/>
              </a:spcBef>
              <a:spcAft>
                <a:spcPts val="0"/>
              </a:spcAft>
              <a:buClr>
                <a:srgbClr val="1E2761"/>
              </a:buClr>
              <a:buSzPts val="1310"/>
              <a:buFont typeface="Calibri"/>
              <a:buNone/>
            </a:pPr>
            <a:r>
              <a:rPr b="1" lang="en" sz="1310">
                <a:solidFill>
                  <a:srgbClr val="1E2761"/>
                </a:solidFill>
                <a:latin typeface="Calibri"/>
                <a:ea typeface="Calibri"/>
                <a:cs typeface="Calibri"/>
                <a:sym typeface="Calibri"/>
              </a:rPr>
              <a:t>Systematic Iteration Works</a:t>
            </a:r>
            <a:endParaRPr sz="1310">
              <a:solidFill>
                <a:schemeClr val="dk1"/>
              </a:solidFill>
              <a:latin typeface="Calibri"/>
              <a:ea typeface="Calibri"/>
              <a:cs typeface="Calibri"/>
              <a:sym typeface="Calibri"/>
            </a:endParaRPr>
          </a:p>
        </p:txBody>
      </p:sp>
      <p:sp>
        <p:nvSpPr>
          <p:cNvPr id="469" name="Google Shape;469;p38"/>
          <p:cNvSpPr/>
          <p:nvPr/>
        </p:nvSpPr>
        <p:spPr>
          <a:xfrm>
            <a:off x="5845459" y="3463024"/>
            <a:ext cx="2395800" cy="342300"/>
          </a:xfrm>
          <a:prstGeom prst="rect">
            <a:avLst/>
          </a:prstGeom>
          <a:noFill/>
          <a:ln>
            <a:noFill/>
          </a:ln>
        </p:spPr>
        <p:txBody>
          <a:bodyPr anchorCtr="0" anchor="ctr" bIns="42775" lIns="85550" spcFirstLastPara="1" rIns="85550" wrap="square" tIns="42775">
            <a:noAutofit/>
          </a:bodyPr>
          <a:lstStyle/>
          <a:p>
            <a:pPr indent="0" lvl="0" marL="0" marR="0" rtl="0" algn="l">
              <a:spcBef>
                <a:spcPts val="0"/>
              </a:spcBef>
              <a:spcAft>
                <a:spcPts val="0"/>
              </a:spcAft>
              <a:buClr>
                <a:srgbClr val="333333"/>
              </a:buClr>
              <a:buSzPts val="1029"/>
              <a:buFont typeface="Calibri"/>
              <a:buNone/>
            </a:pPr>
            <a:r>
              <a:rPr lang="en" sz="1029">
                <a:solidFill>
                  <a:srgbClr val="333333"/>
                </a:solidFill>
                <a:latin typeface="Calibri"/>
                <a:ea typeface="Calibri"/>
                <a:cs typeface="Calibri"/>
                <a:sym typeface="Calibri"/>
              </a:rPr>
              <a:t>Each version addressed specific issues identified through evaluation</a:t>
            </a:r>
            <a:endParaRPr sz="1029">
              <a:solidFill>
                <a:schemeClr val="dk1"/>
              </a:solidFill>
              <a:latin typeface="Calibri"/>
              <a:ea typeface="Calibri"/>
              <a:cs typeface="Calibri"/>
              <a:sym typeface="Calibri"/>
            </a:endParaRPr>
          </a:p>
        </p:txBody>
      </p:sp>
      <p:sp>
        <p:nvSpPr>
          <p:cNvPr id="470" name="Google Shape;470;p38"/>
          <p:cNvSpPr/>
          <p:nvPr/>
        </p:nvSpPr>
        <p:spPr>
          <a:xfrm>
            <a:off x="2860323" y="4104902"/>
            <a:ext cx="3423300" cy="895800"/>
          </a:xfrm>
          <a:prstGeom prst="roundRect">
            <a:avLst>
              <a:gd fmla="val 16667" name="adj"/>
            </a:avLst>
          </a:prstGeom>
          <a:solidFill>
            <a:srgbClr val="CADCFC"/>
          </a:solidFill>
          <a:ln cap="flat" cmpd="sng" w="2540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1" name="Google Shape;471;p38"/>
          <p:cNvSpPr/>
          <p:nvPr/>
        </p:nvSpPr>
        <p:spPr>
          <a:xfrm>
            <a:off x="2992403" y="4241876"/>
            <a:ext cx="548700" cy="548700"/>
          </a:xfrm>
          <a:prstGeom prst="ellipse">
            <a:avLst/>
          </a:prstGeom>
          <a:solidFill>
            <a:srgbClr val="667EE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2" name="Google Shape;472;p38"/>
          <p:cNvSpPr/>
          <p:nvPr/>
        </p:nvSpPr>
        <p:spPr>
          <a:xfrm>
            <a:off x="2992403" y="4241876"/>
            <a:ext cx="548700" cy="5487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2400"/>
              <a:buFont typeface="Calibri"/>
              <a:buNone/>
            </a:pPr>
            <a:r>
              <a:rPr b="1" lang="en" sz="2400">
                <a:solidFill>
                  <a:srgbClr val="FFFFFF"/>
                </a:solidFill>
                <a:latin typeface="Calibri"/>
                <a:ea typeface="Calibri"/>
                <a:cs typeface="Calibri"/>
                <a:sym typeface="Calibri"/>
              </a:rPr>
              <a:t>5</a:t>
            </a:r>
            <a:endParaRPr sz="2400">
              <a:solidFill>
                <a:schemeClr val="dk1"/>
              </a:solidFill>
              <a:latin typeface="Calibri"/>
              <a:ea typeface="Calibri"/>
              <a:cs typeface="Calibri"/>
              <a:sym typeface="Calibri"/>
            </a:endParaRPr>
          </a:p>
        </p:txBody>
      </p:sp>
      <p:sp>
        <p:nvSpPr>
          <p:cNvPr id="473" name="Google Shape;473;p38"/>
          <p:cNvSpPr/>
          <p:nvPr/>
        </p:nvSpPr>
        <p:spPr>
          <a:xfrm>
            <a:off x="3591845" y="4145254"/>
            <a:ext cx="2560200" cy="457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E2761"/>
              </a:buClr>
              <a:buSzPts val="1400"/>
              <a:buFont typeface="Calibri"/>
              <a:buNone/>
            </a:pPr>
            <a:r>
              <a:rPr b="1" lang="en" sz="1400">
                <a:solidFill>
                  <a:srgbClr val="1E2761"/>
                </a:solidFill>
                <a:latin typeface="Calibri"/>
                <a:ea typeface="Calibri"/>
                <a:cs typeface="Calibri"/>
                <a:sym typeface="Calibri"/>
              </a:rPr>
              <a:t>Custom Metrics Help</a:t>
            </a:r>
            <a:endParaRPr sz="1400">
              <a:solidFill>
                <a:schemeClr val="dk1"/>
              </a:solidFill>
              <a:latin typeface="Calibri"/>
              <a:ea typeface="Calibri"/>
              <a:cs typeface="Calibri"/>
              <a:sym typeface="Calibri"/>
            </a:endParaRPr>
          </a:p>
        </p:txBody>
      </p:sp>
      <p:sp>
        <p:nvSpPr>
          <p:cNvPr id="474" name="Google Shape;474;p38"/>
          <p:cNvSpPr/>
          <p:nvPr/>
        </p:nvSpPr>
        <p:spPr>
          <a:xfrm>
            <a:off x="3591845" y="4543036"/>
            <a:ext cx="2560200" cy="3657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333333"/>
              </a:buClr>
              <a:buSzPts val="1100"/>
              <a:buFont typeface="Calibri"/>
              <a:buNone/>
            </a:pPr>
            <a:r>
              <a:rPr lang="en" sz="1100">
                <a:solidFill>
                  <a:srgbClr val="333333"/>
                </a:solidFill>
                <a:latin typeface="Calibri"/>
                <a:ea typeface="Calibri"/>
                <a:cs typeface="Calibri"/>
                <a:sym typeface="Calibri"/>
              </a:rPr>
              <a:t>Grounding ratio provided signal for hallucination detection</a:t>
            </a:r>
            <a:endParaRPr sz="1100">
              <a:solidFill>
                <a:schemeClr val="dk1"/>
              </a:solidFill>
              <a:latin typeface="Calibri"/>
              <a:ea typeface="Calibri"/>
              <a:cs typeface="Calibri"/>
              <a:sym typeface="Calibri"/>
            </a:endParaRPr>
          </a:p>
        </p:txBody>
      </p:sp>
      <p:sp>
        <p:nvSpPr>
          <p:cNvPr id="475" name="Google Shape;475;p38"/>
          <p:cNvSpPr/>
          <p:nvPr/>
        </p:nvSpPr>
        <p:spPr>
          <a:xfrm>
            <a:off x="457200" y="5760720"/>
            <a:ext cx="8229600" cy="36576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CADCFC"/>
              </a:buClr>
              <a:buSzPts val="1400"/>
              <a:buFont typeface="Calibri"/>
              <a:buNone/>
            </a:pPr>
            <a:r>
              <a:rPr i="1" lang="en" sz="1400">
                <a:solidFill>
                  <a:srgbClr val="CADCFC"/>
                </a:solidFill>
                <a:latin typeface="Calibri"/>
                <a:ea typeface="Calibri"/>
                <a:cs typeface="Calibri"/>
                <a:sym typeface="Calibri"/>
              </a:rPr>
              <a:t>Demo available: roboreviews-demo.html</a:t>
            </a:r>
            <a:endParaRPr sz="1400">
              <a:solidFill>
                <a:schemeClr val="dk1"/>
              </a:solidFill>
              <a:latin typeface="Calibri"/>
              <a:ea typeface="Calibri"/>
              <a:cs typeface="Calibri"/>
              <a:sym typeface="Calibri"/>
            </a:endParaRPr>
          </a:p>
        </p:txBody>
      </p:sp>
      <p:sp>
        <p:nvSpPr>
          <p:cNvPr id="476" name="Google Shape;476;p38"/>
          <p:cNvSpPr/>
          <p:nvPr/>
        </p:nvSpPr>
        <p:spPr>
          <a:xfrm>
            <a:off x="1339012" y="1762925"/>
            <a:ext cx="570538" cy="548566"/>
          </a:xfrm>
          <a:prstGeom prst="rect">
            <a:avLst/>
          </a:prstGeom>
          <a:noFill/>
          <a:ln>
            <a:noFill/>
          </a:ln>
        </p:spPr>
        <p:txBody>
          <a:bodyPr anchorCtr="0" anchor="ctr" bIns="42775" lIns="85550" spcFirstLastPara="1" rIns="85550" wrap="square" tIns="42775">
            <a:noAutofit/>
          </a:bodyPr>
          <a:lstStyle/>
          <a:p>
            <a:pPr indent="0" lvl="0" marL="0" marR="0" rtl="0" algn="ctr">
              <a:spcBef>
                <a:spcPts val="0"/>
              </a:spcBef>
              <a:spcAft>
                <a:spcPts val="0"/>
              </a:spcAft>
              <a:buClr>
                <a:srgbClr val="FFFFFF"/>
              </a:buClr>
              <a:buSzPts val="2246"/>
              <a:buFont typeface="Calibri"/>
              <a:buNone/>
            </a:pPr>
            <a:r>
              <a:rPr b="1" lang="en" sz="2245">
                <a:solidFill>
                  <a:srgbClr val="FFFFFF"/>
                </a:solidFill>
                <a:latin typeface="Calibri"/>
                <a:ea typeface="Calibri"/>
                <a:cs typeface="Calibri"/>
                <a:sym typeface="Calibri"/>
              </a:rPr>
              <a:t>1</a:t>
            </a:r>
            <a:endParaRPr sz="2245">
              <a:solidFill>
                <a:schemeClr val="dk1"/>
              </a:solidFill>
              <a:latin typeface="Calibri"/>
              <a:ea typeface="Calibri"/>
              <a:cs typeface="Calibri"/>
              <a:sym typeface="Calibri"/>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E2761"/>
        </a:solidFill>
      </p:bgPr>
    </p:bg>
    <p:spTree>
      <p:nvGrpSpPr>
        <p:cNvPr id="481" name="Shape 481"/>
        <p:cNvGrpSpPr/>
        <p:nvPr/>
      </p:nvGrpSpPr>
      <p:grpSpPr>
        <a:xfrm>
          <a:off x="0" y="0"/>
          <a:ext cx="0" cy="0"/>
          <a:chOff x="0" y="0"/>
          <a:chExt cx="0" cy="0"/>
        </a:xfrm>
      </p:grpSpPr>
      <p:sp>
        <p:nvSpPr>
          <p:cNvPr id="482" name="Google Shape;482;p39"/>
          <p:cNvSpPr/>
          <p:nvPr/>
        </p:nvSpPr>
        <p:spPr>
          <a:xfrm>
            <a:off x="457200" y="1828800"/>
            <a:ext cx="8229600" cy="9144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4800"/>
              <a:buFont typeface="Calibri"/>
              <a:buNone/>
            </a:pPr>
            <a:r>
              <a:rPr b="1" i="0" lang="en" sz="4800" u="none" cap="none" strike="noStrike">
                <a:solidFill>
                  <a:srgbClr val="FFFFFF"/>
                </a:solidFill>
                <a:latin typeface="Calibri"/>
                <a:ea typeface="Calibri"/>
                <a:cs typeface="Calibri"/>
                <a:sym typeface="Calibri"/>
              </a:rPr>
              <a:t>Thank You</a:t>
            </a:r>
            <a:endParaRPr b="0" i="0" sz="4800" u="none" cap="none" strike="noStrike">
              <a:solidFill>
                <a:schemeClr val="dk1"/>
              </a:solidFill>
              <a:latin typeface="Calibri"/>
              <a:ea typeface="Calibri"/>
              <a:cs typeface="Calibri"/>
              <a:sym typeface="Calibri"/>
            </a:endParaRPr>
          </a:p>
        </p:txBody>
      </p:sp>
      <p:sp>
        <p:nvSpPr>
          <p:cNvPr id="483" name="Google Shape;483;p39"/>
          <p:cNvSpPr/>
          <p:nvPr/>
        </p:nvSpPr>
        <p:spPr>
          <a:xfrm>
            <a:off x="457200" y="2926080"/>
            <a:ext cx="8229600" cy="4572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CADCFC"/>
              </a:buClr>
              <a:buSzPts val="2000"/>
              <a:buFont typeface="Calibri"/>
              <a:buNone/>
            </a:pPr>
            <a:r>
              <a:rPr lang="en" sz="2000">
                <a:solidFill>
                  <a:srgbClr val="CADCFC"/>
                </a:solidFill>
                <a:latin typeface="Calibri"/>
                <a:ea typeface="Calibri"/>
                <a:cs typeface="Calibri"/>
                <a:sym typeface="Calibri"/>
              </a:rPr>
              <a:t>Automated Customer Reviews</a:t>
            </a:r>
            <a:endParaRPr b="0" i="0" sz="2000" u="none" cap="none" strike="noStrike">
              <a:solidFill>
                <a:schemeClr val="dk1"/>
              </a:solidFill>
              <a:latin typeface="Calibri"/>
              <a:ea typeface="Calibri"/>
              <a:cs typeface="Calibri"/>
              <a:sym typeface="Calibri"/>
            </a:endParaRPr>
          </a:p>
        </p:txBody>
      </p:sp>
      <p:sp>
        <p:nvSpPr>
          <p:cNvPr id="484" name="Google Shape;484;p39"/>
          <p:cNvSpPr/>
          <p:nvPr/>
        </p:nvSpPr>
        <p:spPr>
          <a:xfrm>
            <a:off x="526200" y="4071450"/>
            <a:ext cx="8229600" cy="3657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CADCFC"/>
              </a:buClr>
              <a:buSzPts val="1800"/>
              <a:buFont typeface="Calibri"/>
              <a:buNone/>
            </a:pPr>
            <a:r>
              <a:rPr b="1" i="0" lang="en" sz="1800" u="none" cap="none" strike="noStrike">
                <a:solidFill>
                  <a:srgbClr val="CADCFC"/>
                </a:solidFill>
                <a:latin typeface="Calibri"/>
                <a:ea typeface="Calibri"/>
                <a:cs typeface="Calibri"/>
                <a:sym typeface="Calibri"/>
              </a:rPr>
              <a:t>Questions?</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Focus">
  <a:themeElements>
    <a:clrScheme name="Focus">
      <a:dk1>
        <a:srgbClr val="1B212C"/>
      </a:dk1>
      <a:lt1>
        <a:srgbClr val="FFFFFF"/>
      </a:lt1>
      <a:dk2>
        <a:srgbClr val="D9D9D9"/>
      </a:dk2>
      <a:lt2>
        <a:srgbClr val="82C7A5"/>
      </a:lt2>
      <a:accent1>
        <a:srgbClr val="0145AC"/>
      </a:accent1>
      <a:accent2>
        <a:srgbClr val="EECE1A"/>
      </a:accent2>
      <a:accent3>
        <a:srgbClr val="4E5567"/>
      </a:accent3>
      <a:accent4>
        <a:srgbClr val="F4D6AD"/>
      </a:accent4>
      <a:accent5>
        <a:srgbClr val="7890CD"/>
      </a:accent5>
      <a:accent6>
        <a:srgbClr val="F15E22"/>
      </a:accent6>
      <a:hlink>
        <a:srgbClr val="7890CD"/>
      </a:hlink>
      <a:folHlink>
        <a:srgbClr val="7890C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4.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